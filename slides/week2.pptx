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1.xml" ContentType="application/vnd.openxmlformats-officedocument.drawingml.chart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embeddedFontLst>
    <p:embeddedFont>
      <p:font typeface="FZShuSong-Z01" panose="03000509000000000000" pitchFamily="66" charset="-122"/>
      <p:regular r:id="rId23"/>
    </p:embeddedFont>
    <p:embeddedFont>
      <p:font typeface="FZYaYiHei GB18030L2 R" panose="02000500000000000000" pitchFamily="2" charset="-122"/>
      <p:regular r:id="rId24"/>
    </p:embeddedFont>
    <p:embeddedFont>
      <p:font typeface="Source Han Serif CN" panose="02020400000000000000" pitchFamily="18" charset="-128"/>
      <p:regular r:id="rId25"/>
    </p:embeddedFont>
    <p:embeddedFont>
      <p:font typeface="Inter" panose="02000503000000020004" pitchFamily="2" charset="0"/>
      <p:regular r:id="rId26"/>
      <p:bold r:id="rId27"/>
      <p:italic r:id="rId28"/>
      <p:boldItalic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 autoAdjust="0"/>
    <p:restoredTop sz="94606" autoAdjust="0"/>
  </p:normalViewPr>
  <p:slideViewPr>
    <p:cSldViewPr>
      <p:cViewPr varScale="1">
        <p:scale>
          <a:sx n="114" d="100"/>
          <a:sy n="114" d="100"/>
        </p:scale>
        <p:origin x="920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平均等待时间</c:v>
                </c:pt>
              </c:strCache>
            </c:strRef>
          </c:tx>
          <c:spPr>
            <a:ln w="38100" cap="rnd" cmpd="sng" algn="ctr">
              <a:solidFill>
                <a:srgbClr val="2C5F8A">
                  <a:alpha val="100000"/>
                </a:srgbClr>
              </a:solidFill>
              <a:prstDash val="solid"/>
              <a:round/>
            </a:ln>
          </c:spPr>
          <c:marker>
            <c:symbol val="circle"/>
            <c:size val="8"/>
            <c:spPr>
              <a:solidFill>
                <a:srgbClr val="2C5F8A">
                  <a:alpha val="100000"/>
                </a:srgbClr>
              </a:solidFill>
              <a:ln w="9525" cap="flat" cmpd="sng" algn="ctr">
                <a:solidFill>
                  <a:srgbClr val="2C5F8A">
                    <a:alpha val="100000"/>
                  </a:srgbClr>
                </a:solidFill>
                <a:prstDash val="solid"/>
                <a:round/>
              </a:ln>
            </c:spPr>
          </c:marker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none" lIns="0" tIns="0" rIns="0" bIns="0" anchor="t" anchorCtr="0"/>
              <a:lstStyle/>
              <a:p>
                <a:pPr algn="l">
                  <a:defRPr lang="zh-CN" sz="900" b="0" i="0" u="none" strike="noStrike" kern="1200" baseline="0">
                    <a:solidFill>
                      <a:srgbClr val="2C5F8A">
                        <a:alpha val="100000"/>
                      </a:srgbClr>
                    </a:solidFill>
                    <a:latin typeface="Inter, sans-serif"/>
                    <a:ea typeface="Inter, sans-serif"/>
                    <a:cs typeface="Inter, sans-serif"/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k=4</c:v>
                </c:pt>
                <c:pt idx="1">
                  <c:v>k=5</c:v>
                </c:pt>
                <c:pt idx="2">
                  <c:v>k=6</c:v>
                </c:pt>
                <c:pt idx="3">
                  <c:v>k=7</c:v>
                </c:pt>
                <c:pt idx="4">
                  <c:v>k=8</c:v>
                </c:pt>
                <c:pt idx="5">
                  <c:v>k=9</c:v>
                </c:pt>
                <c:pt idx="6">
                  <c:v>k=10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28.5</c:v>
                </c:pt>
                <c:pt idx="1">
                  <c:v>15.2</c:v>
                </c:pt>
                <c:pt idx="2">
                  <c:v>8.6999999999999993</c:v>
                </c:pt>
                <c:pt idx="3">
                  <c:v>6.3</c:v>
                </c:pt>
                <c:pt idx="4">
                  <c:v>4.8</c:v>
                </c:pt>
                <c:pt idx="5">
                  <c:v>3.9</c:v>
                </c:pt>
                <c:pt idx="6">
                  <c:v>3.3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DE1-A746-A6E7-D0EB3E83B62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"/>
        <c:axId val="1001"/>
      </c:line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12700" cap="flat" cmpd="sng" algn="ctr">
            <a:solidFill>
              <a:srgbClr val="A6A6A6">
                <a:alpha val="100000"/>
              </a:srgbClr>
            </a:solidFill>
            <a:prstDash val="solid"/>
            <a:round/>
          </a:ln>
        </c:spPr>
        <c:txPr>
          <a:bodyPr rot="0" spcFirstLastPara="0" vertOverflow="ellipsis" vert="horz" wrap="none" lIns="0" tIns="0" rIns="0" bIns="0" anchor="t" anchorCtr="0"/>
          <a:lstStyle/>
          <a:p>
            <a:pPr algn="l">
              <a:defRPr lang="zh-CN" sz="900" b="0" i="0" u="none" strike="noStrike" kern="1200" baseline="0">
                <a:solidFill>
                  <a:srgbClr val="1A1A1E">
                    <a:alpha val="100000"/>
                  </a:srgbClr>
                </a:solidFill>
                <a:latin typeface="Inter, sans-serif"/>
                <a:ea typeface="Inter, sans-serif"/>
                <a:cs typeface="Inter, sans-serif"/>
              </a:defRPr>
            </a:pPr>
            <a:endParaRPr lang="zh-CN"/>
          </a:p>
        </c:txPr>
        <c:crossAx val="1001"/>
        <c:crosses val="autoZero"/>
        <c:auto val="1"/>
        <c:lblAlgn val="ctr"/>
        <c:lblOffset val="100"/>
        <c:noMultiLvlLbl val="0"/>
      </c:catAx>
      <c:valAx>
        <c:axId val="1001"/>
        <c:scaling>
          <c:orientation val="minMax"/>
          <c:max val="30"/>
          <c:min val="0"/>
        </c:scaling>
        <c:delete val="0"/>
        <c:axPos val="l"/>
        <c:majorGridlines>
          <c:spPr>
            <a:ln w="12700" cap="flat" cmpd="sng" algn="ctr">
              <a:solidFill>
                <a:srgbClr val="E8E3DA">
                  <a:alpha val="100000"/>
                </a:srgbClr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 cap="flat" cmpd="sng" algn="ctr">
            <a:noFill/>
            <a:prstDash val="solid"/>
            <a:round/>
          </a:ln>
        </c:spPr>
        <c:txPr>
          <a:bodyPr rot="0" spcFirstLastPara="0" vertOverflow="ellipsis" vert="horz" wrap="none" lIns="0" tIns="0" rIns="0" bIns="0" anchor="t" anchorCtr="0"/>
          <a:lstStyle/>
          <a:p>
            <a:pPr algn="l">
              <a:defRPr lang="zh-CN" sz="900" b="0" i="0" u="none" strike="noStrike" kern="1200" baseline="0">
                <a:solidFill>
                  <a:srgbClr val="1A1A1E">
                    <a:alpha val="100000"/>
                  </a:srgbClr>
                </a:solidFill>
                <a:latin typeface="Inter, sans-serif"/>
                <a:ea typeface="Inter, sans-serif"/>
                <a:cs typeface="Inter, sans-serif"/>
              </a:defRPr>
            </a:pPr>
            <a:endParaRPr lang="zh-CN"/>
          </a:p>
        </c:txPr>
        <c:crossAx val="1"/>
        <c:crosses val="autoZero"/>
        <c:crossBetween val="between"/>
        <c:majorUnit val="10"/>
      </c:valAx>
    </c:plotArea>
    <c:plotVisOnly val="1"/>
    <c:dispBlanksAs val="gap"/>
    <c:showDLblsOverMax val="0"/>
    <c:extLst>
      <c:ext uri="{0b15fc19-7d7d-44ad-8c2d-2c3a37ce22c3}">
        <chartProps xmlns="https://web.wps.cn/et/2018/main" chartId="{cde27988-a541-4396-b232-cab5988e5c15}"/>
      </c:ext>
    </c:extLst>
  </c:chart>
  <c:txPr>
    <a:bodyPr/>
    <a:lstStyle/>
    <a:p>
      <a:pPr>
        <a:defRPr lang="zh-CN"/>
      </a:pPr>
      <a:endParaRPr lang="zh-CN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13.10.2026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13.10.2026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各位同学大家好！欢迎来到今天的数学建模入门课。我是主讲人。今天的主题听起来有点严肃——'从校园问题到数学模型'——但相信我，这堂课结束后，你会发现数学建模其实就在你身边，食堂排队、教室灯光、跑步路线，这些你每天都在经历的事情，都可以用数学来解释和优化。我们开始吧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1</a:t>
            </a:fld>
            <a:endParaRPr lang="cs-CZ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13.10.2026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今天的课分为四个部分。第一部分，我们聊聊怎么'看懂'一道建模题——不是读背景故事，而是找到真正要你交付的东西。第二部分，我们一起把校园里的日常问题翻译成数学语言。第三部分，当数学公式'算不出来'的时候怎么办，我会介绍几个非常实用的数值分析思想。第四部分，我们聊聊怎么检验模型、怎么写出一篇评委看得懂的竞赛论文。好，我们直接进入第一部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2</a:t>
            </a:fld>
            <a:endParaRPr lang="cs-CZ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13.10.2026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好，我们进入第一部分——理解问题。很多同学拿到建模竞赛题，第一反应是从头到尾把两页背景读完，然后开始'想方案'。但这其实是最低效的做法。接下来我要告诉你，拿到题目后第一眼应该看什么。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3</a:t>
            </a:fld>
            <a:endParaRPr lang="cs-CZ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13.10.2026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拿到一道竞赛题，不要急着读背景。你要先找四样东西，我把它叫做'交付清单'。第一，Background——这个现实世界到底发生了什么？这只是提供情境，不决定你的建模方向。第二，Requirements或Tasks——题目到底让我交什么？这才是核心驱动力。第三，Deliverables——除了论文还要交什么？代码？数据表？这会影响你的技术路线。第四，Constraints——你的模型能自由到什么程度？预算上限、时间窗口这些边界条件，直接决定了你的决策空间。记住核心原则：读题读的是'交付清单'，不是'背景故事'。举个例子，题目说'学校每天早晨有大量学生进入教学楼，请设计一个方案减少拥堵'——真正的问题不是'为什么拥堵'，而是要不要增加入口、开几个、怎么分流、等待时间多少、人数增加20%还成不成立。这才是建模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4</a:t>
            </a:fld>
            <a:endParaRPr lang="cs-CZ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13.10.2026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接下来是一个非常有用的技巧——圈出题目里的动词。动词直接决定了你最终答案的'形状'。比如 calculate 要的是一个精确数值；compare 要你建立多方案评价体系；optimize 需要你构建目标函数和约束条件来找最优解；predict 涉及时间序列外推，必须包含不确定性分析。还有三个特别的：discuss 不是随便说说，而是要比较不同可能性并说明取舍；recommend 必须落到'我们推荐X，因为A、B、C'；validate 不是重算一遍，而是拿模型和真实数据对照。同一个模型可以输出一个数、一条曲线、一个排名、一个最优方案、一个预测区间，甚至一张决策图。所以关键原则是：先判断题目要什么形状的答案，再决定用什么数学工具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5</a:t>
            </a:fld>
            <a:endParaRPr lang="cs-CZ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13.10.2026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好，现在我们知道了题目要什么，接下来进入第二部分——怎么把校园生活'数学化'。这是整堂课我最希望大家建立的一种思维方式：你每天经历的校园生活，其实处处都是建模题。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6</a:t>
            </a:fld>
            <a:endParaRPr lang="cs-CZ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13.10.2026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我给大家看五个你们每天都在经历的场景。第一个，食堂排队——中午12点到12点半，为什么越来越堵？你可以研究到达率、服务率、排队长度、平均等待时间，甚至算算多开一个窗口值不值。这对应的数学是排队论加概率加优化。第二个，教室灯光——什么时候开灯最合理？要平衡自然光强、人工照明、能耗和学习舒适度，用函数拟合和优化就能搞定。第三个，校园跑步路线——怎么设计一条1600米的路线，有趣、不堵、爬坡少？这是图论加最短路加多目标优化。第四个，校车通勤——500名学生同时出发，怎么安排班次？离散模型加排队模型加仿真。第五个，运动训练——为什么同样的100米训练，不同方式提升幅度不同？回归加动力学模型。你会发现，数学建模其实离你非常近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7</a:t>
            </a:fld>
            <a:endParaRPr lang="cs-CZ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13.10.2026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现在我们知道了问题在哪，接下来要问：模型到底由什么组成？我把它叫做'模型的语法'。模型里有四种不同类型的'数字'，它们扮演的角色完全不同。第一种，决策变量——我们可以选择什么？比如食堂开几个窗口k，这是你能控制的。第二种，状态变量——系统现在是什么状态？比如排队人数N(t)，它随时间变化，受你的决策影响。第三种，参数——外界提供的或需要你估计的量，比如学生到达率λ，你控制不了但得想办法测出来。第四种，常数——固定不变的量，比如一天24小时。同学们要记住一个关键点：不是所有出现在公式里的数字都属于同一种东西，分清它们是建模的基本功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8</a:t>
            </a:fld>
            <a:endParaRPr lang="cs-CZ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13.10.2026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有了变量分类之后，一个模型至少需要回答三个问题。第一个：What can I change？我能控制什么？这是在界定你的决策空间——明确你能调节的手段和约束边界。第二个：What can I measure？我能观察到什么？这是在确定数据来源——识别哪些状态变量和参数是可以被测量或估计的。第三个：What am I trying to optimize or predict？我最终想得到什么？这是在定义目标函数——量化你的优化方向和评价标准。这三个问题回答出来，你的模型通常已经完成了一半。回到食堂的例子：我能控制窗口数k，我能测量到达率和排队长度，我想最小化等待时间。看，模型的骨架就出来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9</a:t>
            </a:fld>
            <a:endParaRPr lang="cs-CZ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13.10.2026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进入第三部分。前面我们学会了把问题数学化，但现实中有一个残酷的事实：很多数学模型是'算不出来'的——没有漂亮的公式可以直接给你答案。怎么办？这就是数值分析要解决的问题。接下来我要介绍三个非常核心的思想，不需要你们记住复杂的证明，只需要理解思路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10</a:t>
            </a:fld>
            <a:endParaRPr lang="cs-CZ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13.10.2026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第一个思想：插值。假设你测了教室的温度，早上8点是20度，上午10点是24度。那9点是多少？最简单的办法——假设温度是线性变化的，那9点就是22度。这就是线性插值，公式非常简单。但问题来了：如果现实数据不是直线呢？比如温度变化可能是曲线，中午有个峰值。这时候你就需要更高级的方法：多项式拟合、样条插值、回归分析。但今天我不展开讲算法，你们只需要记住核心思想：两次测量之间发生了什么，我们可以用数学来'猜'，猜的方法越精细，结果越准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11</a:t>
            </a:fld>
            <a:endParaRPr lang="cs-CZ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13.10.2026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第二个思想：迭代。假设你面对一个方程 f(x)=0，但没有漂亮的解析解，怎么办？答案是：从一个猜测开始，然后不断修正。这就是牛顿法的核心思想。比如你从 x₀ 开始猜测，然后用公式 x 下 n+1 等于 x 下 n 减去 f(x) 除以 f 的导数，每次更新都让你更接近真实答案。核心不是让你们记公式，而是理解这个思想：复杂问题可以通过反复修正一个近似答案，逐渐得到足够准确的结果。把它翻译回校园生活：你不知道最优学习时间是多少，但你可以先试3小时，发现效率不够；调到4小时，发现后半小时注意力下降；于是尝试3.5小时加一次休息——这就是迭代。不断尝试、评估、调整，直到找到一个足够好的方案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12</a:t>
            </a:fld>
            <a:endParaRPr lang="cs-CZ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13.10.2026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第三个思想：离散化。教室的温度变化是连续的——每一秒都有一个温度值。但计算机不能处理'无限多个点'，怎么办？答案是：把连续问题切成很多个离散的小块。比如把一天的温度变化离散为每小时一个数据点，然后用有限差分来近似导数。dT/dt 约等于 [T(t+h) − T(t)] / h，h 就是你的时间步长。这样一来，连续的微分方程就变成了计算机可以求解的代数方程组。整个流程是：现实系统→数学模型→离散化→计算→结果。这就是数值分析最核心的思想之一，而且它和建模竞赛完全兼容——当你的模型太复杂解不出来的时候，离散化就是你最好的朋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13</a:t>
            </a:fld>
            <a:endParaRPr lang="cs-CZ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13.10.2026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最后一部分——模型建完了，公式也算出来了，是不是就结束了？远远没有。一个模型至少要经过三次检查才能算'靠谱'，而且你还需要把你的工作写成一篇评委看得懂的论文。这部分我们聊模型验证、敏感性分析和论文写作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14</a:t>
            </a:fld>
            <a:endParaRPr lang="cs-CZ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13.10.2026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一个模型至少需要经过三次检查。Check 1：量纲对不对？比如你算速度 v=d/t，单位应该是米每秒。如果你最后算出来平方米，那模型肯定有问题。这是最基本但最容易被忽略的检查。Check 2：极端情况对不对？如果学生数量变成0会怎样？等待时间应该也是0。如果窗口数无限增加呢？等待时间应该趋近于单个服务时间。如果结果不符合直觉，模型就有缺陷。这个方法叫sanity check或者limiting case，是非常好的数学直觉训练。Check 3：真实数据对不对？你的模型预测平均等待6.2分钟，实际测量6.5分钟，误差约4.8%——够不够好？这就从'会算'进入了真正的数学建模。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15</a:t>
            </a:fld>
            <a:endParaRPr lang="cs-CZ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13.10.2026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接下来是敏感性分析——你的答案到底有多脆弱？假设你算出来食堂最优窗口数是7。但如果学生数量增加10%呢？每个人服务时间增加5%呢？午餐高峰提前5分钟呢？最优窗口数还是7吗？如果还是7，说明你的模型很稳健，结论是robust的。如果变成了9，说明模型对参数非常敏感，你需要重新审视假设。这里我放了一张图，横轴是窗口数k，纵轴是等待时间。你可以直观看到：增加窗口确实能减少等待时间，但增加到某个程度后收益越来越小——这就是边际递减效应。不用正式学导数，你也能从图里看出来：第7个窗口带来的改善远大于第10个窗口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16</a:t>
            </a:fld>
            <a:endParaRPr lang="cs-CZ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13.10.2026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到这里我要告诉你们一个好消息：你们刚才做的事情——找交付清单、识别变量、建立模型、数值求解、验证、敏感性分析——这就是一篇数学建模论文。HiMCM的论文有一个标准化的结构，跟COMAP评审标准完全对齐。我把它分成左右两组。左边是基础框架：Summary是四句话摘要；Assumptions不仅要列假设还要论证合理性；Model Development要分层递进，先建简化模型再逐步增加复杂度；Validation展示预测与真实数据的对比。右边是补充内容：Results呈现核心数据发现；Sensitivity Analysis用图表展示参数影响；Strengths &amp; Weaknesses诚实讨论模型局限；Conclusion给出明确建议。这个结构不是模板填空，而是建模思维的自然展开。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17</a:t>
            </a:fld>
            <a:endParaRPr lang="cs-CZ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13.10.2026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最后两件事。第一，摘要怎么写？千万别写'我们做了很多分析'。用四句话结构：第一句，We investigated什么——明确研究对象；第二句，We developed什么模型——简述方法；第三句，The model predicts什么——给出最关键的具体数字；第四句，We recommend什么——明确建议。举个例子：'我们研究了高中食堂最优窗口数。我们开发了基于排队论的模型并结合敏感性分析。模型预测7个窗口可将高峰期平均等待时间降至约6.3分钟。因此我们推荐午餐高峰开放7个窗口，同时注意该建议对到达率变化敏感。'四句话，信息量拉满。第二，记住建模是一个闭环：从现实问题出发→任务拆解→变量假设→数学模型→计算→结果→验证→敏感性→现实结论→建议。如果最后数学结果不能回答最初的现实问题，模型就没有完成。模型不是终点，现实才是终点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18</a:t>
            </a:fld>
            <a:endParaRPr lang="cs-CZ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13.10.2026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最后，我们用一个小案例把今天所有内容串起来。学校准备优化食堂窗口：每分钟30名学生到达，每个窗口每分钟服务5名学生，最多开10个窗口。第一步，识别决策变量：k=窗口数。第二步，确定输入参数：到达率λ=30/分钟，服务率μ=5/分钟。第三步，可行性分析：如果kμ&lt;λ，服务速度跟不上到达速度，队伍会无限增长。所以需要5k&gt;30，即k&gt;6，至少7个窗口。第四步，为什么不是10个？这就进入了优化——成本、等待时间、边际收益的权衡，以及敏感性分析：如果到达率增加10%到33人/分钟，最优解可能从7变成8。看，这道小题把我们今天讲的交付清单、变量分类、排队模型、可行性分析、优化、敏感性全串起来了。你们刚刚做的，就是数学建模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19</a:t>
            </a:fld>
            <a:endParaRPr lang="cs-CZ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13.10.2026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同学们，今天我们从一个简单的问题出发——食堂为什么排队？——一路走到了数学建模的完整闭环。我想让你们记住一句话：数学不是抽象的符号，而是理解现实的语言。你们今天在课上做的事情——看懂问题、找出要优化的东西、选择合适的数学工具、把结果写成别人看得懂的结论——这就是数学建模。下次你在食堂排队的时候，想想窗口数、到达率、边际收益，你会发现数学无处不在。课件和代码今晚发到社团群里，有问题随时找我。谢谢大家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20</a:t>
            </a:fld>
            <a:endParaRPr lang="cs-CZ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744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Box 3"/>
          <p:cNvSpPr txBox="1"/>
          <p:nvPr/>
        </p:nvSpPr>
        <p:spPr>
          <a:xfrm>
            <a:off x="1256019" y="2737842"/>
            <a:ext cx="9676915" cy="810666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1"/>
          <a:lstStyle/>
          <a:p>
            <a:pPr algn="ctr">
              <a:defRPr/>
            </a:pPr>
            <a:r>
              <a:rPr lang="en-US" sz="5700" b="1" i="0" strike="noStrike">
                <a:solidFill>
                  <a:srgbClr val="F2F4F7">
                    <a:alpha val="100000"/>
                  </a:srgbClr>
                </a:solidFill>
                <a:latin typeface="FZShuSong-Z01" panose="03000509000000000000" charset="-122"/>
                <a:ea typeface="FZShuSong-Z01" panose="03000509000000000000" charset="-122"/>
                <a:cs typeface="FZShuSong-Z01" panose="03000509000000000000" charset="-122"/>
              </a:rPr>
              <a:t>从校园问题到数学模型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1903631" y="3815210"/>
            <a:ext cx="8381690" cy="3048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ctr" anchorCtr="1"/>
          <a:lstStyle/>
          <a:p>
            <a:pPr algn="ctr">
              <a:defRPr/>
            </a:pPr>
            <a:r>
              <a:rPr lang="en-US" sz="1500" b="0" i="0" strike="noStrike" dirty="0" err="1">
                <a:solidFill>
                  <a:srgbClr val="F2F4F7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论文结构与问题拆解</a:t>
            </a:r>
            <a:r>
              <a:rPr lang="en-US" sz="1500" b="0" i="0" strike="noStrike" dirty="0">
                <a:solidFill>
                  <a:srgbClr val="F2F4F7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 · Axiom </a:t>
            </a:r>
            <a:r>
              <a:rPr lang="en-US" sz="1500" dirty="0">
                <a:solidFill>
                  <a:srgbClr val="F2F4F7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  <a:sym typeface="+mn-ea"/>
              </a:rPr>
              <a:t>· </a:t>
            </a:r>
            <a:r>
              <a:rPr lang="en-US" altLang="zh-CN" sz="1500" dirty="0" err="1">
                <a:solidFill>
                  <a:srgbClr val="F2F4F7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  <a:sym typeface="+mn-ea"/>
              </a:rPr>
              <a:t>gh</a:t>
            </a:r>
            <a:r>
              <a:rPr lang="en-US" altLang="zh-CN" sz="1500" dirty="0">
                <a:solidFill>
                  <a:srgbClr val="F2F4F7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  <a:sym typeface="+mn-ea"/>
              </a:rPr>
              <a:t> &amp; </a:t>
            </a:r>
            <a:r>
              <a:rPr lang="en-US" altLang="zh-CN" sz="1500">
                <a:solidFill>
                  <a:srgbClr val="F2F4F7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  <a:sym typeface="+mn-ea"/>
              </a:rPr>
              <a:t>wjs</a:t>
            </a:r>
            <a:endParaRPr lang="zh-CN" altLang="en-US" sz="1500" dirty="0">
              <a:solidFill>
                <a:srgbClr val="F2F4F7">
                  <a:alpha val="85098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5E5E5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AutoShap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1EB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Box 4"/>
          <p:cNvSpPr txBox="1"/>
          <p:nvPr/>
        </p:nvSpPr>
        <p:spPr>
          <a:xfrm>
            <a:off x="457086" y="2511772"/>
            <a:ext cx="4443790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1C1C1C">
                    <a:alpha val="50196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Contents</a:t>
            </a:r>
            <a:endParaRPr lang="en-US" sz="1100"/>
          </a:p>
        </p:txBody>
      </p:sp>
      <p:sp>
        <p:nvSpPr>
          <p:cNvPr id="5" name="TextBox 5"/>
          <p:cNvSpPr txBox="1"/>
          <p:nvPr/>
        </p:nvSpPr>
        <p:spPr>
          <a:xfrm>
            <a:off x="457086" y="2935634"/>
            <a:ext cx="4443790" cy="5905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4200" b="1" i="0" strike="noStrike">
                <a:solidFill>
                  <a:srgbClr val="1C1C1C">
                    <a:alpha val="100000"/>
                  </a:srgbClr>
                </a:solidFill>
                <a:latin typeface="Source Han Serif CN" panose="02020400000000000000" charset="-122"/>
                <a:ea typeface="Source Han Serif CN" panose="02020400000000000000" charset="-122"/>
                <a:cs typeface="Source Han Serif CN" panose="02020400000000000000" charset="-122"/>
              </a:rPr>
              <a:t>课程目录</a:t>
            </a:r>
            <a:endParaRPr lang="en-US" sz="1100"/>
          </a:p>
        </p:txBody>
      </p:sp>
      <p:sp>
        <p:nvSpPr>
          <p:cNvPr id="6" name="TextBox 6"/>
          <p:cNvSpPr txBox="1"/>
          <p:nvPr/>
        </p:nvSpPr>
        <p:spPr>
          <a:xfrm>
            <a:off x="457086" y="3846166"/>
            <a:ext cx="4443790" cy="464344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200" b="0" i="0" strike="noStrike">
                <a:solidFill>
                  <a:srgbClr val="1C1C1C">
                    <a:alpha val="70196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从问题理解到模型建立，再到数值求解与论文表达的系</a:t>
            </a:r>
            <a:endParaRPr lang="en-US" sz="1100"/>
          </a:p>
          <a:p>
            <a:pPr algn="l"/>
            <a:r>
              <a:rPr sz="1200" b="0" i="0" strike="noStrike">
                <a:solidFill>
                  <a:srgbClr val="1C1C1C">
                    <a:alpha val="70196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统性学习路径。</a:t>
            </a:r>
          </a:p>
        </p:txBody>
      </p:sp>
      <p:sp>
        <p:nvSpPr>
          <p:cNvPr id="7" name="AutoShape 7"/>
          <p:cNvSpPr/>
          <p:nvPr/>
        </p:nvSpPr>
        <p:spPr>
          <a:xfrm>
            <a:off x="5510323" y="1740397"/>
            <a:ext cx="6221543" cy="9525"/>
          </a:xfrm>
          <a:prstGeom prst="line">
            <a:avLst/>
          </a:prstGeom>
          <a:ln w="9525">
            <a:solidFill>
              <a:srgbClr val="D1CCC3">
                <a:alpha val="10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Box 8"/>
          <p:cNvSpPr txBox="1"/>
          <p:nvPr/>
        </p:nvSpPr>
        <p:spPr>
          <a:xfrm>
            <a:off x="5510323" y="1334690"/>
            <a:ext cx="357099" cy="1619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100" b="0" i="0" strike="noStrike">
                <a:solidFill>
                  <a:srgbClr val="1C1C1C">
                    <a:alpha val="40000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01</a:t>
            </a:r>
            <a:endParaRPr lang="en-US" sz="1100"/>
          </a:p>
        </p:txBody>
      </p:sp>
      <p:sp>
        <p:nvSpPr>
          <p:cNvPr id="9" name="TextBox 9"/>
          <p:cNvSpPr txBox="1"/>
          <p:nvPr/>
        </p:nvSpPr>
        <p:spPr>
          <a:xfrm>
            <a:off x="6057873" y="1258491"/>
            <a:ext cx="5673993" cy="2571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800" b="0" i="0" strike="noStrike">
                <a:solidFill>
                  <a:srgbClr val="1C1C1C">
                    <a:alpha val="10000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理解问题：交付清单与动词解码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5510323" y="3033117"/>
            <a:ext cx="6221543" cy="9525"/>
          </a:xfrm>
          <a:prstGeom prst="line">
            <a:avLst/>
          </a:prstGeom>
          <a:ln w="9525">
            <a:solidFill>
              <a:srgbClr val="D1CCC3">
                <a:alpha val="10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Box 11"/>
          <p:cNvSpPr txBox="1"/>
          <p:nvPr/>
        </p:nvSpPr>
        <p:spPr>
          <a:xfrm>
            <a:off x="5510323" y="2627412"/>
            <a:ext cx="357099" cy="1619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100" b="0" i="0" strike="noStrike">
                <a:solidFill>
                  <a:srgbClr val="1C1C1C">
                    <a:alpha val="40000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02</a:t>
            </a:r>
            <a:endParaRPr lang="en-US" sz="1100"/>
          </a:p>
        </p:txBody>
      </p:sp>
      <p:sp>
        <p:nvSpPr>
          <p:cNvPr id="12" name="TextBox 12"/>
          <p:cNvSpPr txBox="1"/>
          <p:nvPr/>
        </p:nvSpPr>
        <p:spPr>
          <a:xfrm>
            <a:off x="6057873" y="2551212"/>
            <a:ext cx="5673993" cy="2571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800" b="0" i="0" strike="noStrike">
                <a:solidFill>
                  <a:srgbClr val="1C1C1C">
                    <a:alpha val="10000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建立模型：校园场景数学化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5510323" y="4325838"/>
            <a:ext cx="6221543" cy="9525"/>
          </a:xfrm>
          <a:prstGeom prst="line">
            <a:avLst/>
          </a:prstGeom>
          <a:ln w="9525">
            <a:solidFill>
              <a:srgbClr val="D1CCC3">
                <a:alpha val="10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Box 14"/>
          <p:cNvSpPr txBox="1"/>
          <p:nvPr/>
        </p:nvSpPr>
        <p:spPr>
          <a:xfrm>
            <a:off x="5510323" y="3920133"/>
            <a:ext cx="357099" cy="1619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100" b="0" i="0" strike="noStrike">
                <a:solidFill>
                  <a:srgbClr val="1C1C1C">
                    <a:alpha val="40000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03</a:t>
            </a:r>
            <a:endParaRPr lang="en-US" sz="1100"/>
          </a:p>
        </p:txBody>
      </p:sp>
      <p:sp>
        <p:nvSpPr>
          <p:cNvPr id="15" name="TextBox 15"/>
          <p:cNvSpPr txBox="1"/>
          <p:nvPr/>
        </p:nvSpPr>
        <p:spPr>
          <a:xfrm>
            <a:off x="6057873" y="3843933"/>
            <a:ext cx="5673993" cy="2571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800" b="0" i="0" strike="noStrike">
                <a:solidFill>
                  <a:srgbClr val="1C1C1C">
                    <a:alpha val="10000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数值方法：算不出来怎么办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5510323" y="5618560"/>
            <a:ext cx="6221543" cy="9525"/>
          </a:xfrm>
          <a:prstGeom prst="line">
            <a:avLst/>
          </a:prstGeom>
          <a:ln w="9525">
            <a:solidFill>
              <a:srgbClr val="D1CCC3">
                <a:alpha val="10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Box 17"/>
          <p:cNvSpPr txBox="1"/>
          <p:nvPr/>
        </p:nvSpPr>
        <p:spPr>
          <a:xfrm>
            <a:off x="5510323" y="5212853"/>
            <a:ext cx="357099" cy="1619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100" b="0" i="0" strike="noStrike">
                <a:solidFill>
                  <a:srgbClr val="1C1C1C">
                    <a:alpha val="40000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04</a:t>
            </a:r>
            <a:endParaRPr lang="en-US" sz="1100"/>
          </a:p>
        </p:txBody>
      </p:sp>
      <p:sp>
        <p:nvSpPr>
          <p:cNvPr id="18" name="TextBox 18"/>
          <p:cNvSpPr txBox="1"/>
          <p:nvPr/>
        </p:nvSpPr>
        <p:spPr>
          <a:xfrm>
            <a:off x="6057873" y="5136653"/>
            <a:ext cx="5673993" cy="2571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800" b="0" i="0" strike="noStrike">
                <a:solidFill>
                  <a:srgbClr val="1C1C1C">
                    <a:alpha val="10000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检验与表达：模型验证与论文写作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744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Box 3"/>
          <p:cNvSpPr txBox="1"/>
          <p:nvPr/>
        </p:nvSpPr>
        <p:spPr>
          <a:xfrm>
            <a:off x="3022911" y="1838622"/>
            <a:ext cx="6143131" cy="185738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ctr" anchorCtr="1"/>
          <a:lstStyle/>
          <a:p>
            <a:pPr algn="ctr">
              <a:defRPr/>
            </a:pPr>
            <a:r>
              <a:rPr lang="en-US" sz="900" b="0" i="0" strike="noStrike">
                <a:solidFill>
                  <a:srgbClr val="F0F2F5">
                    <a:alpha val="40000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CHAPTER 01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2596996" y="2405360"/>
            <a:ext cx="6994958" cy="767954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1"/>
          <a:lstStyle/>
          <a:p>
            <a:pPr algn="ctr">
              <a:defRPr/>
            </a:pPr>
            <a:r>
              <a:rPr lang="en-US" sz="5400" b="1" i="0" strike="noStrike">
                <a:solidFill>
                  <a:srgbClr val="F0F2F5">
                    <a:alpha val="100000"/>
                  </a:srgbClr>
                </a:solidFill>
                <a:latin typeface="Source Han Serif CN" panose="02020400000000000000" charset="-122"/>
                <a:ea typeface="Source Han Serif CN" panose="02020400000000000000" charset="-122"/>
                <a:cs typeface="Source Han Serif CN" panose="02020400000000000000" charset="-122"/>
              </a:rPr>
              <a:t>理解问题</a:t>
            </a:r>
            <a:endParaRPr lang="en-US" sz="1100"/>
          </a:p>
        </p:txBody>
      </p:sp>
      <p:sp>
        <p:nvSpPr>
          <p:cNvPr id="5" name="TextBox 5"/>
          <p:cNvSpPr txBox="1"/>
          <p:nvPr/>
        </p:nvSpPr>
        <p:spPr>
          <a:xfrm>
            <a:off x="2488974" y="3325713"/>
            <a:ext cx="7211003" cy="445741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ctr" anchorCtr="1"/>
          <a:lstStyle/>
          <a:p>
            <a:pPr algn="ctr">
              <a:defRPr/>
            </a:pPr>
            <a:r>
              <a:rPr lang="en-US" sz="2700" b="0" i="0" strike="noStrike">
                <a:solidFill>
                  <a:srgbClr val="F0F2F5">
                    <a:alpha val="74901"/>
                  </a:srgbClr>
                </a:solidFill>
                <a:latin typeface="Source Han Serif CN" panose="02020400000000000000" charset="-122"/>
                <a:ea typeface="Source Han Serif CN" panose="02020400000000000000" charset="-122"/>
                <a:cs typeface="Source Han Serif CN" panose="02020400000000000000" charset="-122"/>
              </a:rPr>
              <a:t>交付清单与动词解码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865933" y="4228653"/>
            <a:ext cx="457086" cy="9525"/>
          </a:xfrm>
          <a:prstGeom prst="rect">
            <a:avLst/>
          </a:prstGeom>
          <a:solidFill>
            <a:srgbClr val="4A7FB5">
              <a:alpha val="6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Box 7"/>
          <p:cNvSpPr txBox="1"/>
          <p:nvPr/>
        </p:nvSpPr>
        <p:spPr>
          <a:xfrm>
            <a:off x="1847388" y="4695378"/>
            <a:ext cx="8494177" cy="3238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ctr" anchorCtr="1"/>
          <a:lstStyle/>
          <a:p>
            <a:pPr algn="ctr">
              <a:defRPr/>
            </a:pPr>
            <a:r>
              <a:rPr lang="en-US" sz="1500" b="0" i="0" strike="noStrike">
                <a:solidFill>
                  <a:srgbClr val="F0F2F5">
                    <a:alpha val="54901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数学建模的第一步不是理解背景故事，而是识别题目到底让你交什么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1EA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Box 3"/>
          <p:cNvSpPr txBox="1"/>
          <p:nvPr/>
        </p:nvSpPr>
        <p:spPr>
          <a:xfrm>
            <a:off x="457086" y="476250"/>
            <a:ext cx="11274781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1A1A1B">
                    <a:alpha val="50196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PROBLEM DECOMPOSITION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457086" y="723900"/>
            <a:ext cx="11274781" cy="4286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3000" b="1" i="0" strike="noStrike">
                <a:solidFill>
                  <a:srgbClr val="1A1A1B">
                    <a:alpha val="100000"/>
                  </a:srgbClr>
                </a:solidFill>
                <a:latin typeface="Source Han Serif CN" panose="02020400000000000000" charset="-122"/>
                <a:ea typeface="Source Han Serif CN" panose="02020400000000000000" charset="-122"/>
                <a:cs typeface="Source Han Serif CN" panose="02020400000000000000" charset="-122"/>
              </a:rPr>
              <a:t>第一件事：找交付清单，不读背景故事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457086" y="1257300"/>
            <a:ext cx="9522" cy="649486"/>
          </a:xfrm>
          <a:prstGeom prst="line">
            <a:avLst/>
          </a:prstGeom>
          <a:ln w="9525">
            <a:solidFill>
              <a:srgbClr val="C23B22">
                <a:alpha val="7803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Box 6"/>
          <p:cNvSpPr txBox="1"/>
          <p:nvPr/>
        </p:nvSpPr>
        <p:spPr>
          <a:xfrm>
            <a:off x="580880" y="1295400"/>
            <a:ext cx="11608072" cy="562868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600" b="0" i="1" strike="noStrike">
                <a:solidFill>
                  <a:srgbClr val="1A1A1B">
                    <a:alpha val="78039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数学建模的第一步不是理解背景故事，而是识别题目要求的交付物和约束条件。通过提取 Background、Requirements、</a:t>
            </a:r>
            <a:endParaRPr lang="en-US" sz="1100"/>
          </a:p>
          <a:p>
            <a:pPr algn="l"/>
            <a:r>
              <a:rPr sz="1600" b="0" i="1" strike="noStrike">
                <a:solidFill>
                  <a:srgbClr val="1A1A1B">
                    <a:alpha val="78039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Deliverables 和 Constraints 四个要素，将模糊描述转化为明确的建模目标，避免在无关信息上浪费时间。</a:t>
            </a:r>
          </a:p>
        </p:txBody>
      </p:sp>
      <p:sp>
        <p:nvSpPr>
          <p:cNvPr id="7" name="AutoShape 7"/>
          <p:cNvSpPr/>
          <p:nvPr/>
        </p:nvSpPr>
        <p:spPr>
          <a:xfrm>
            <a:off x="457086" y="2040136"/>
            <a:ext cx="5570732" cy="2113657"/>
          </a:xfrm>
          <a:prstGeom prst="rect">
            <a:avLst/>
          </a:prstGeom>
          <a:solidFill>
            <a:srgbClr val="ECE7DE">
              <a:alpha val="100000"/>
            </a:srgbClr>
          </a:solidFill>
          <a:ln w="9525">
            <a:solidFill>
              <a:srgbClr val="D0C9BC">
                <a:alpha val="10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AutoShape 8"/>
          <p:cNvSpPr/>
          <p:nvPr/>
        </p:nvSpPr>
        <p:spPr>
          <a:xfrm>
            <a:off x="457086" y="2040136"/>
            <a:ext cx="5570732" cy="9525"/>
          </a:xfrm>
          <a:prstGeom prst="line">
            <a:avLst/>
          </a:prstGeom>
          <a:ln w="28575">
            <a:solidFill>
              <a:srgbClr val="C23B22">
                <a:alpha val="10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Box 9"/>
          <p:cNvSpPr txBox="1"/>
          <p:nvPr/>
        </p:nvSpPr>
        <p:spPr>
          <a:xfrm>
            <a:off x="695151" y="2278261"/>
            <a:ext cx="5094601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1A1A1B">
                    <a:alpha val="4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01 · Background</a:t>
            </a:r>
            <a:endParaRPr lang="en-US" sz="1100"/>
          </a:p>
        </p:txBody>
      </p:sp>
      <p:sp>
        <p:nvSpPr>
          <p:cNvPr id="10" name="TextBox 10"/>
          <p:cNvSpPr txBox="1"/>
          <p:nvPr/>
        </p:nvSpPr>
        <p:spPr>
          <a:xfrm>
            <a:off x="695151" y="2525911"/>
            <a:ext cx="5094601" cy="2476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800" b="1" i="0" strike="noStrike">
                <a:solidFill>
                  <a:srgbClr val="1A1A1B">
                    <a:alpha val="100000"/>
                  </a:srgbClr>
                </a:solidFill>
                <a:latin typeface="Source Han Serif CN" panose="02020400000000000000" charset="-122"/>
                <a:ea typeface="Source Han Serif CN" panose="02020400000000000000" charset="-122"/>
                <a:cs typeface="Source Han Serif CN" panose="02020400000000000000" charset="-122"/>
              </a:rPr>
              <a:t>情境与任务</a:t>
            </a:r>
            <a:endParaRPr lang="en-US" sz="1100"/>
          </a:p>
        </p:txBody>
      </p:sp>
      <p:sp>
        <p:nvSpPr>
          <p:cNvPr id="11" name="TextBox 11"/>
          <p:cNvSpPr txBox="1"/>
          <p:nvPr/>
        </p:nvSpPr>
        <p:spPr>
          <a:xfrm>
            <a:off x="695151" y="2945011"/>
            <a:ext cx="5332666" cy="40570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200" b="0" i="0" strike="noStrike">
                <a:solidFill>
                  <a:srgbClr val="1A1A1B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回答"现实世界发生了什么"，仅提供情境支持，不直接决定建模方向，如"学</a:t>
            </a:r>
            <a:endParaRPr lang="en-US" sz="1100"/>
          </a:p>
          <a:p>
            <a:pPr algn="l"/>
            <a:r>
              <a:rPr sz="1200" b="0" i="0" strike="noStrike">
                <a:solidFill>
                  <a:srgbClr val="1A1A1B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校早晨拥挤"只是背景而非问题本身</a:t>
            </a:r>
          </a:p>
        </p:txBody>
      </p:sp>
      <p:sp>
        <p:nvSpPr>
          <p:cNvPr id="12" name="AutoShape 12"/>
          <p:cNvSpPr/>
          <p:nvPr/>
        </p:nvSpPr>
        <p:spPr>
          <a:xfrm>
            <a:off x="695151" y="3544193"/>
            <a:ext cx="5094601" cy="9525"/>
          </a:xfrm>
          <a:prstGeom prst="line">
            <a:avLst/>
          </a:prstGeom>
          <a:ln w="9525">
            <a:solidFill>
              <a:srgbClr val="D0C9BC">
                <a:alpha val="10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Box 13"/>
          <p:cNvSpPr txBox="1"/>
          <p:nvPr/>
        </p:nvSpPr>
        <p:spPr>
          <a:xfrm>
            <a:off x="695151" y="3706118"/>
            <a:ext cx="5094601" cy="2095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500" b="1" i="0" strike="noStrike">
                <a:solidFill>
                  <a:srgbClr val="C23B22">
                    <a:alpha val="100000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Context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161134" y="2040136"/>
            <a:ext cx="5570732" cy="2113657"/>
          </a:xfrm>
          <a:prstGeom prst="rect">
            <a:avLst/>
          </a:prstGeom>
          <a:solidFill>
            <a:srgbClr val="ECE7DE">
              <a:alpha val="100000"/>
            </a:srgbClr>
          </a:solidFill>
          <a:ln w="9525">
            <a:solidFill>
              <a:srgbClr val="D0C9BC">
                <a:alpha val="10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AutoShape 15"/>
          <p:cNvSpPr/>
          <p:nvPr/>
        </p:nvSpPr>
        <p:spPr>
          <a:xfrm>
            <a:off x="6161134" y="2040136"/>
            <a:ext cx="5570732" cy="9525"/>
          </a:xfrm>
          <a:prstGeom prst="line">
            <a:avLst/>
          </a:prstGeom>
          <a:ln w="28575">
            <a:solidFill>
              <a:srgbClr val="C23B22">
                <a:alpha val="10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Box 16"/>
          <p:cNvSpPr txBox="1"/>
          <p:nvPr/>
        </p:nvSpPr>
        <p:spPr>
          <a:xfrm>
            <a:off x="6399200" y="2278261"/>
            <a:ext cx="5094601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1A1A1B">
                    <a:alpha val="4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02 · Requirements</a:t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6399200" y="2525911"/>
            <a:ext cx="5094601" cy="2476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800" b="1" i="0" strike="noStrike">
                <a:solidFill>
                  <a:srgbClr val="1A1A1B">
                    <a:alpha val="100000"/>
                  </a:srgbClr>
                </a:solidFill>
                <a:latin typeface="Source Han Serif CN" panose="02020400000000000000" charset="-122"/>
                <a:ea typeface="Source Han Serif CN" panose="02020400000000000000" charset="-122"/>
                <a:cs typeface="Source Han Serif CN" panose="02020400000000000000" charset="-122"/>
              </a:rPr>
              <a:t>情境与任务</a:t>
            </a:r>
            <a:endParaRPr lang="en-US" sz="1100"/>
          </a:p>
        </p:txBody>
      </p:sp>
      <p:sp>
        <p:nvSpPr>
          <p:cNvPr id="18" name="TextBox 18"/>
          <p:cNvSpPr txBox="1"/>
          <p:nvPr/>
        </p:nvSpPr>
        <p:spPr>
          <a:xfrm>
            <a:off x="6399200" y="2945011"/>
            <a:ext cx="5332666" cy="40570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200" b="0" i="0" strike="noStrike">
                <a:solidFill>
                  <a:srgbClr val="1A1A1B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明确"需要交付什么"，是建模的核心驱动力，如"计算最优入口数量""比较不</a:t>
            </a:r>
            <a:endParaRPr lang="en-US" sz="1100"/>
          </a:p>
          <a:p>
            <a:pPr algn="l"/>
            <a:r>
              <a:rPr sz="1200" b="0" i="0" strike="noStrike">
                <a:solidFill>
                  <a:srgbClr val="1A1A1B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同分流方案""预测等待时间分布"</a:t>
            </a:r>
          </a:p>
        </p:txBody>
      </p:sp>
      <p:sp>
        <p:nvSpPr>
          <p:cNvPr id="19" name="AutoShape 19"/>
          <p:cNvSpPr/>
          <p:nvPr/>
        </p:nvSpPr>
        <p:spPr>
          <a:xfrm>
            <a:off x="6399200" y="3544193"/>
            <a:ext cx="5094601" cy="9525"/>
          </a:xfrm>
          <a:prstGeom prst="line">
            <a:avLst/>
          </a:prstGeom>
          <a:ln w="9525">
            <a:solidFill>
              <a:srgbClr val="D0C9BC">
                <a:alpha val="10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Box 20"/>
          <p:cNvSpPr txBox="1"/>
          <p:nvPr/>
        </p:nvSpPr>
        <p:spPr>
          <a:xfrm>
            <a:off x="6399200" y="3706118"/>
            <a:ext cx="5094601" cy="2095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500" b="1" i="0" strike="noStrike">
                <a:solidFill>
                  <a:srgbClr val="C23B22">
                    <a:alpha val="100000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Core Driver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457086" y="4287143"/>
            <a:ext cx="5570732" cy="2113657"/>
          </a:xfrm>
          <a:prstGeom prst="rect">
            <a:avLst/>
          </a:prstGeom>
          <a:solidFill>
            <a:srgbClr val="ECE7DE">
              <a:alpha val="100000"/>
            </a:srgbClr>
          </a:solidFill>
          <a:ln w="9525">
            <a:solidFill>
              <a:srgbClr val="D0C9BC">
                <a:alpha val="10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AutoShape 22"/>
          <p:cNvSpPr/>
          <p:nvPr/>
        </p:nvSpPr>
        <p:spPr>
          <a:xfrm>
            <a:off x="457086" y="4287143"/>
            <a:ext cx="5570732" cy="9525"/>
          </a:xfrm>
          <a:prstGeom prst="line">
            <a:avLst/>
          </a:prstGeom>
          <a:ln w="28575">
            <a:solidFill>
              <a:srgbClr val="C23B22">
                <a:alpha val="10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Box 23"/>
          <p:cNvSpPr txBox="1"/>
          <p:nvPr/>
        </p:nvSpPr>
        <p:spPr>
          <a:xfrm>
            <a:off x="695151" y="4525268"/>
            <a:ext cx="5094601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1A1A1B">
                    <a:alpha val="4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03 · Deliverables</a:t>
            </a:r>
            <a:endParaRPr lang="en-US" sz="1100"/>
          </a:p>
        </p:txBody>
      </p:sp>
      <p:sp>
        <p:nvSpPr>
          <p:cNvPr id="24" name="TextBox 24"/>
          <p:cNvSpPr txBox="1"/>
          <p:nvPr/>
        </p:nvSpPr>
        <p:spPr>
          <a:xfrm>
            <a:off x="695151" y="4772918"/>
            <a:ext cx="5094601" cy="2476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800" b="1" i="0" strike="noStrike">
                <a:solidFill>
                  <a:srgbClr val="1A1A1B">
                    <a:alpha val="100000"/>
                  </a:srgbClr>
                </a:solidFill>
                <a:latin typeface="Source Han Serif CN" panose="02020400000000000000" charset="-122"/>
                <a:ea typeface="Source Han Serif CN" panose="02020400000000000000" charset="-122"/>
                <a:cs typeface="Source Han Serif CN" panose="02020400000000000000" charset="-122"/>
              </a:rPr>
              <a:t>产出与边界</a:t>
            </a:r>
            <a:endParaRPr lang="en-US" sz="1100"/>
          </a:p>
        </p:txBody>
      </p:sp>
      <p:sp>
        <p:nvSpPr>
          <p:cNvPr id="25" name="TextBox 25"/>
          <p:cNvSpPr txBox="1"/>
          <p:nvPr/>
        </p:nvSpPr>
        <p:spPr>
          <a:xfrm>
            <a:off x="695151" y="5192018"/>
            <a:ext cx="5332666" cy="40570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200" b="0" i="0" strike="noStrike">
                <a:solidFill>
                  <a:srgbClr val="1A1A1B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指出除论文外是否需提交代码、数据表或可视化图表，直接影响模型的输出</a:t>
            </a:r>
            <a:endParaRPr lang="en-US" sz="1100"/>
          </a:p>
          <a:p>
            <a:pPr algn="l"/>
            <a:r>
              <a:rPr sz="1200" b="0" i="0" strike="noStrike">
                <a:solidFill>
                  <a:srgbClr val="1A1A1B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形式和技术实现路径</a:t>
            </a:r>
          </a:p>
        </p:txBody>
      </p:sp>
      <p:sp>
        <p:nvSpPr>
          <p:cNvPr id="26" name="AutoShape 26"/>
          <p:cNvSpPr/>
          <p:nvPr/>
        </p:nvSpPr>
        <p:spPr>
          <a:xfrm>
            <a:off x="695151" y="5791200"/>
            <a:ext cx="5094601" cy="9525"/>
          </a:xfrm>
          <a:prstGeom prst="line">
            <a:avLst/>
          </a:prstGeom>
          <a:ln w="9525">
            <a:solidFill>
              <a:srgbClr val="D0C9BC">
                <a:alpha val="10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Box 27"/>
          <p:cNvSpPr txBox="1"/>
          <p:nvPr/>
        </p:nvSpPr>
        <p:spPr>
          <a:xfrm>
            <a:off x="695151" y="5953125"/>
            <a:ext cx="5094601" cy="2095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500" b="1" i="0" strike="noStrike">
                <a:solidFill>
                  <a:srgbClr val="C23B22">
                    <a:alpha val="100000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Output Form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6161134" y="4287143"/>
            <a:ext cx="5570732" cy="2113657"/>
          </a:xfrm>
          <a:prstGeom prst="rect">
            <a:avLst/>
          </a:prstGeom>
          <a:solidFill>
            <a:srgbClr val="ECE7DE">
              <a:alpha val="100000"/>
            </a:srgbClr>
          </a:solidFill>
          <a:ln w="9525">
            <a:solidFill>
              <a:srgbClr val="D0C9BC">
                <a:alpha val="10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AutoShape 29"/>
          <p:cNvSpPr/>
          <p:nvPr/>
        </p:nvSpPr>
        <p:spPr>
          <a:xfrm>
            <a:off x="6161134" y="4287143"/>
            <a:ext cx="5570732" cy="9525"/>
          </a:xfrm>
          <a:prstGeom prst="line">
            <a:avLst/>
          </a:prstGeom>
          <a:ln w="28575">
            <a:solidFill>
              <a:srgbClr val="C23B22">
                <a:alpha val="10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Box 30"/>
          <p:cNvSpPr txBox="1"/>
          <p:nvPr/>
        </p:nvSpPr>
        <p:spPr>
          <a:xfrm>
            <a:off x="6399200" y="4525268"/>
            <a:ext cx="5094601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1A1A1B">
                    <a:alpha val="4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04 · Constraints</a:t>
            </a:r>
            <a:endParaRPr lang="en-US" sz="1100"/>
          </a:p>
        </p:txBody>
      </p:sp>
      <p:sp>
        <p:nvSpPr>
          <p:cNvPr id="31" name="TextBox 31"/>
          <p:cNvSpPr txBox="1"/>
          <p:nvPr/>
        </p:nvSpPr>
        <p:spPr>
          <a:xfrm>
            <a:off x="6399200" y="4772918"/>
            <a:ext cx="5094601" cy="2476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800" b="1" i="0" strike="noStrike">
                <a:solidFill>
                  <a:srgbClr val="1A1A1B">
                    <a:alpha val="100000"/>
                  </a:srgbClr>
                </a:solidFill>
                <a:latin typeface="Source Han Serif CN" panose="02020400000000000000" charset="-122"/>
                <a:ea typeface="Source Han Serif CN" panose="02020400000000000000" charset="-122"/>
                <a:cs typeface="Source Han Serif CN" panose="02020400000000000000" charset="-122"/>
              </a:rPr>
              <a:t>产出与边界</a:t>
            </a:r>
            <a:endParaRPr lang="en-US" sz="1100"/>
          </a:p>
        </p:txBody>
      </p:sp>
      <p:sp>
        <p:nvSpPr>
          <p:cNvPr id="32" name="TextBox 32"/>
          <p:cNvSpPr txBox="1"/>
          <p:nvPr/>
        </p:nvSpPr>
        <p:spPr>
          <a:xfrm>
            <a:off x="6399200" y="5192018"/>
            <a:ext cx="5332666" cy="40570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200" b="0" i="0" strike="noStrike">
                <a:solidFill>
                  <a:srgbClr val="1A1A1B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界定模型的自由程度，如预算限制、物理空间限制、时间窗口限制，这些边</a:t>
            </a:r>
            <a:endParaRPr lang="en-US" sz="1100"/>
          </a:p>
          <a:p>
            <a:pPr algn="l"/>
            <a:r>
              <a:rPr sz="1200" b="0" i="0" strike="noStrike">
                <a:solidFill>
                  <a:srgbClr val="1A1A1B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界条件直接决定决策变量的可行域</a:t>
            </a:r>
          </a:p>
        </p:txBody>
      </p:sp>
      <p:sp>
        <p:nvSpPr>
          <p:cNvPr id="33" name="AutoShape 33"/>
          <p:cNvSpPr/>
          <p:nvPr/>
        </p:nvSpPr>
        <p:spPr>
          <a:xfrm>
            <a:off x="6399200" y="5791200"/>
            <a:ext cx="5094601" cy="9525"/>
          </a:xfrm>
          <a:prstGeom prst="line">
            <a:avLst/>
          </a:prstGeom>
          <a:ln w="9525">
            <a:solidFill>
              <a:srgbClr val="D0C9BC">
                <a:alpha val="10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Box 34"/>
          <p:cNvSpPr txBox="1"/>
          <p:nvPr/>
        </p:nvSpPr>
        <p:spPr>
          <a:xfrm>
            <a:off x="6399200" y="5953125"/>
            <a:ext cx="5094601" cy="2095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500" b="1" i="0" strike="noStrike">
                <a:solidFill>
                  <a:srgbClr val="C23B22">
                    <a:alpha val="100000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Feasible Region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1EA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Box 3"/>
          <p:cNvSpPr txBox="1"/>
          <p:nvPr/>
        </p:nvSpPr>
        <p:spPr>
          <a:xfrm>
            <a:off x="457086" y="476250"/>
            <a:ext cx="11274781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1A1A1A">
                    <a:alpha val="50196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VERB TAXONOMY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457086" y="733425"/>
            <a:ext cx="11274781" cy="4286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3000" b="1" i="0" strike="noStrike">
                <a:solidFill>
                  <a:srgbClr val="1A1A1A">
                    <a:alpha val="100000"/>
                  </a:srgbClr>
                </a:solidFill>
                <a:latin typeface="Source Han Serif CN" panose="02020400000000000000" charset="-122"/>
                <a:ea typeface="Source Han Serif CN" panose="02020400000000000000" charset="-122"/>
                <a:cs typeface="Source Han Serif CN" panose="02020400000000000000" charset="-122"/>
              </a:rPr>
              <a:t>题目动词决定答案的"形状"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457086" y="1314450"/>
            <a:ext cx="9522" cy="649486"/>
          </a:xfrm>
          <a:prstGeom prst="line">
            <a:avLst/>
          </a:prstGeom>
          <a:ln w="9525">
            <a:solidFill>
              <a:srgbClr val="B54A3E">
                <a:alpha val="7803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Box 6"/>
          <p:cNvSpPr txBox="1"/>
          <p:nvPr/>
        </p:nvSpPr>
        <p:spPr>
          <a:xfrm>
            <a:off x="580880" y="1352550"/>
            <a:ext cx="11608072" cy="562868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600" b="0" i="1" strike="noStrike">
                <a:solidFill>
                  <a:srgbClr val="1A1A1A">
                    <a:alpha val="78039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竞赛题中的动词直接定义了最终答案的形式：calculate 要求具体数值，compare 要求多方案对比，optimize 要求目标函</a:t>
            </a:r>
            <a:endParaRPr lang="en-US" sz="1100"/>
          </a:p>
          <a:p>
            <a:pPr algn="l"/>
            <a:r>
              <a:rPr sz="1600" b="0" i="1" strike="noStrike">
                <a:solidFill>
                  <a:srgbClr val="1A1A1A">
                    <a:alpha val="78039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数与最优解，predict 要求未来情景外推。识别动词是选择数学工具的前提，先判断答案形状再决定建模方法。</a:t>
            </a:r>
          </a:p>
        </p:txBody>
      </p:sp>
      <p:sp>
        <p:nvSpPr>
          <p:cNvPr id="7" name="AutoShape 7"/>
          <p:cNvSpPr/>
          <p:nvPr/>
        </p:nvSpPr>
        <p:spPr>
          <a:xfrm>
            <a:off x="457086" y="2135386"/>
            <a:ext cx="3631242" cy="4265414"/>
          </a:xfrm>
          <a:prstGeom prst="rect">
            <a:avLst/>
          </a:prstGeom>
          <a:solidFill>
            <a:srgbClr val="EBE6DC">
              <a:alpha val="100000"/>
            </a:srgbClr>
          </a:solidFill>
          <a:ln w="9525">
            <a:solidFill>
              <a:srgbClr val="D4CDC2">
                <a:alpha val="10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AutoShape 8"/>
          <p:cNvSpPr/>
          <p:nvPr/>
        </p:nvSpPr>
        <p:spPr>
          <a:xfrm>
            <a:off x="457086" y="2135386"/>
            <a:ext cx="3631242" cy="9525"/>
          </a:xfrm>
          <a:prstGeom prst="line">
            <a:avLst/>
          </a:prstGeom>
          <a:ln w="28575">
            <a:solidFill>
              <a:srgbClr val="B54A3E">
                <a:alpha val="10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Box 9"/>
          <p:cNvSpPr txBox="1"/>
          <p:nvPr/>
        </p:nvSpPr>
        <p:spPr>
          <a:xfrm>
            <a:off x="695151" y="2392561"/>
            <a:ext cx="3155112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1A1A1A">
                    <a:alpha val="4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01 · 计算与对比</a:t>
            </a:r>
            <a:endParaRPr lang="en-US" sz="1100"/>
          </a:p>
        </p:txBody>
      </p:sp>
      <p:sp>
        <p:nvSpPr>
          <p:cNvPr id="10" name="TextBox 10"/>
          <p:cNvSpPr txBox="1"/>
          <p:nvPr/>
        </p:nvSpPr>
        <p:spPr>
          <a:xfrm>
            <a:off x="695151" y="3012430"/>
            <a:ext cx="3393177" cy="679846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200" b="1" i="0" strike="noStrike">
                <a:solidFill>
                  <a:srgbClr val="B54A3E">
                    <a:alpha val="85098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Calculate</a:t>
            </a:r>
            <a:r>
              <a:rPr sz="1200" b="0" i="0" strike="noStrike">
                <a:solidFill>
                  <a:srgbClr val="1A1A1A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：要求精确数值结果，如"计算平均</a:t>
            </a:r>
            <a:endParaRPr lang="en-US" sz="1100"/>
          </a:p>
          <a:p>
            <a:pPr algn="l"/>
            <a:r>
              <a:rPr sz="1200" b="0" i="0" strike="noStrike">
                <a:solidFill>
                  <a:srgbClr val="1A1A1A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等待时间""求解最优窗口数"，输出通常是一个</a:t>
            </a:r>
          </a:p>
          <a:p>
            <a:pPr algn="l"/>
            <a:r>
              <a:rPr sz="1200" b="0" i="0" strike="noStrike">
                <a:solidFill>
                  <a:srgbClr val="1A1A1A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数或数值区间</a:t>
            </a:r>
          </a:p>
        </p:txBody>
      </p:sp>
      <p:sp>
        <p:nvSpPr>
          <p:cNvPr id="11" name="AutoShape 11"/>
          <p:cNvSpPr/>
          <p:nvPr/>
        </p:nvSpPr>
        <p:spPr>
          <a:xfrm>
            <a:off x="695151" y="4161532"/>
            <a:ext cx="3155112" cy="9525"/>
          </a:xfrm>
          <a:prstGeom prst="rect">
            <a:avLst/>
          </a:prstGeom>
          <a:solidFill>
            <a:srgbClr val="D4CDC2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Box 12"/>
          <p:cNvSpPr txBox="1"/>
          <p:nvPr/>
        </p:nvSpPr>
        <p:spPr>
          <a:xfrm>
            <a:off x="695151" y="4638526"/>
            <a:ext cx="3393177" cy="679846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200" b="1" i="0" strike="noStrike">
                <a:solidFill>
                  <a:srgbClr val="B54A3E">
                    <a:alpha val="85098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Compare</a:t>
            </a:r>
            <a:r>
              <a:rPr sz="1200" b="0" i="0" strike="noStrike">
                <a:solidFill>
                  <a:srgbClr val="1A1A1A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：要求建立多方案评价体系，明确比</a:t>
            </a:r>
            <a:endParaRPr lang="en-US" sz="1100"/>
          </a:p>
          <a:p>
            <a:pPr algn="l"/>
            <a:r>
              <a:rPr sz="1200" b="0" i="0" strike="noStrike">
                <a:solidFill>
                  <a:srgbClr val="1A1A1A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较维度和权重，输出通常是排序、排名或权衡</a:t>
            </a:r>
          </a:p>
          <a:p>
            <a:pPr algn="l"/>
            <a:r>
              <a:rPr sz="1200" b="0" i="0" strike="noStrike">
                <a:solidFill>
                  <a:srgbClr val="1A1A1A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分析图表</a:t>
            </a:r>
          </a:p>
        </p:txBody>
      </p:sp>
      <p:sp>
        <p:nvSpPr>
          <p:cNvPr id="13" name="AutoShape 13"/>
          <p:cNvSpPr/>
          <p:nvPr/>
        </p:nvSpPr>
        <p:spPr>
          <a:xfrm>
            <a:off x="695151" y="5806677"/>
            <a:ext cx="3155112" cy="9525"/>
          </a:xfrm>
          <a:prstGeom prst="line">
            <a:avLst/>
          </a:prstGeom>
          <a:ln w="9525">
            <a:solidFill>
              <a:srgbClr val="D4CDC2">
                <a:alpha val="10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Box 14"/>
          <p:cNvSpPr txBox="1"/>
          <p:nvPr/>
        </p:nvSpPr>
        <p:spPr>
          <a:xfrm>
            <a:off x="695151" y="5930504"/>
            <a:ext cx="3155112" cy="2381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600" b="0" i="0" strike="noStrike">
                <a:solidFill>
                  <a:srgbClr val="B54A3E">
                    <a:alpha val="100000"/>
                  </a:srgbClr>
                </a:solidFill>
                <a:latin typeface="Source Han Serif CN" panose="02020400000000000000" charset="-122"/>
                <a:ea typeface="Source Han Serif CN" panose="02020400000000000000" charset="-122"/>
                <a:cs typeface="Source Han Serif CN" panose="02020400000000000000" charset="-122"/>
              </a:rPr>
              <a:t>数值 · 排名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4278780" y="2135386"/>
            <a:ext cx="3631242" cy="4265414"/>
          </a:xfrm>
          <a:prstGeom prst="rect">
            <a:avLst/>
          </a:prstGeom>
          <a:solidFill>
            <a:srgbClr val="EBE6DC">
              <a:alpha val="100000"/>
            </a:srgbClr>
          </a:solidFill>
          <a:ln w="9525">
            <a:solidFill>
              <a:srgbClr val="D4CDC2">
                <a:alpha val="10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AutoShape 16"/>
          <p:cNvSpPr/>
          <p:nvPr/>
        </p:nvSpPr>
        <p:spPr>
          <a:xfrm>
            <a:off x="4278780" y="2135386"/>
            <a:ext cx="3631242" cy="9525"/>
          </a:xfrm>
          <a:prstGeom prst="line">
            <a:avLst/>
          </a:prstGeom>
          <a:ln w="28575">
            <a:solidFill>
              <a:srgbClr val="B54A3E">
                <a:alpha val="10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Box 17"/>
          <p:cNvSpPr txBox="1"/>
          <p:nvPr/>
        </p:nvSpPr>
        <p:spPr>
          <a:xfrm>
            <a:off x="4516846" y="2392561"/>
            <a:ext cx="3155112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1A1A1A">
                    <a:alpha val="4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02 · 优化与预测</a:t>
            </a:r>
            <a:endParaRPr lang="en-US" sz="1100"/>
          </a:p>
        </p:txBody>
      </p:sp>
      <p:sp>
        <p:nvSpPr>
          <p:cNvPr id="18" name="TextBox 18"/>
          <p:cNvSpPr txBox="1"/>
          <p:nvPr/>
        </p:nvSpPr>
        <p:spPr>
          <a:xfrm>
            <a:off x="4516846" y="3012430"/>
            <a:ext cx="3393177" cy="679846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200" b="1" i="0" strike="noStrike">
                <a:solidFill>
                  <a:srgbClr val="B54A3E">
                    <a:alpha val="85098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Optimize</a:t>
            </a:r>
            <a:r>
              <a:rPr sz="1200" b="0" i="0" strike="noStrike">
                <a:solidFill>
                  <a:srgbClr val="1A1A1A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：需要构建目标函数（如最小化等待</a:t>
            </a:r>
            <a:endParaRPr lang="en-US" sz="1100"/>
          </a:p>
          <a:p>
            <a:pPr algn="l"/>
            <a:r>
              <a:rPr sz="1200" b="0" i="0" strike="noStrike">
                <a:solidFill>
                  <a:srgbClr val="1A1A1A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时间）和约束条件（如预算上限），寻找全局或</a:t>
            </a:r>
          </a:p>
          <a:p>
            <a:pPr algn="l"/>
            <a:r>
              <a:rPr sz="1200" b="0" i="0" strike="noStrike">
                <a:solidFill>
                  <a:srgbClr val="1A1A1A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局部最优解</a:t>
            </a:r>
          </a:p>
        </p:txBody>
      </p:sp>
      <p:sp>
        <p:nvSpPr>
          <p:cNvPr id="19" name="AutoShape 19"/>
          <p:cNvSpPr/>
          <p:nvPr/>
        </p:nvSpPr>
        <p:spPr>
          <a:xfrm>
            <a:off x="4516846" y="4161532"/>
            <a:ext cx="3155112" cy="9525"/>
          </a:xfrm>
          <a:prstGeom prst="rect">
            <a:avLst/>
          </a:prstGeom>
          <a:solidFill>
            <a:srgbClr val="D4CDC2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Box 20"/>
          <p:cNvSpPr txBox="1"/>
          <p:nvPr/>
        </p:nvSpPr>
        <p:spPr>
          <a:xfrm>
            <a:off x="4516846" y="4638526"/>
            <a:ext cx="3393177" cy="679846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200" b="1" i="0" strike="noStrike">
                <a:solidFill>
                  <a:srgbClr val="B54A3E">
                    <a:alpha val="85098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Predict</a:t>
            </a:r>
            <a:r>
              <a:rPr sz="1200" b="0" i="0" strike="noStrike">
                <a:solidFill>
                  <a:srgbClr val="1A1A1A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：涉及时间序列外推或情景模拟，必须</a:t>
            </a:r>
            <a:endParaRPr lang="en-US" sz="1100"/>
          </a:p>
          <a:p>
            <a:pPr algn="l"/>
            <a:r>
              <a:rPr sz="1200" b="0" i="0" strike="noStrike">
                <a:solidFill>
                  <a:srgbClr val="1A1A1A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包含不确定性分析和置信区间，而非单一数值</a:t>
            </a:r>
          </a:p>
          <a:p>
            <a:pPr algn="l"/>
            <a:r>
              <a:rPr sz="1200" b="0" i="0" strike="noStrike">
                <a:solidFill>
                  <a:srgbClr val="1A1A1A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预测</a:t>
            </a:r>
          </a:p>
        </p:txBody>
      </p:sp>
      <p:sp>
        <p:nvSpPr>
          <p:cNvPr id="21" name="AutoShape 21"/>
          <p:cNvSpPr/>
          <p:nvPr/>
        </p:nvSpPr>
        <p:spPr>
          <a:xfrm>
            <a:off x="4516846" y="5806677"/>
            <a:ext cx="3155112" cy="9525"/>
          </a:xfrm>
          <a:prstGeom prst="line">
            <a:avLst/>
          </a:prstGeom>
          <a:ln w="9525">
            <a:solidFill>
              <a:srgbClr val="D4CDC2">
                <a:alpha val="10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Box 22"/>
          <p:cNvSpPr txBox="1"/>
          <p:nvPr/>
        </p:nvSpPr>
        <p:spPr>
          <a:xfrm>
            <a:off x="4516846" y="5930504"/>
            <a:ext cx="3155112" cy="2381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600" b="0" i="0" strike="noStrike">
                <a:solidFill>
                  <a:srgbClr val="B54A3E">
                    <a:alpha val="100000"/>
                  </a:srgbClr>
                </a:solidFill>
                <a:latin typeface="Source Han Serif CN" panose="02020400000000000000" charset="-122"/>
                <a:ea typeface="Source Han Serif CN" panose="02020400000000000000" charset="-122"/>
                <a:cs typeface="Source Han Serif CN" panose="02020400000000000000" charset="-122"/>
              </a:rPr>
              <a:t>最优解 · 置信区间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8100475" y="2135386"/>
            <a:ext cx="3631391" cy="4265414"/>
          </a:xfrm>
          <a:prstGeom prst="rect">
            <a:avLst/>
          </a:prstGeom>
          <a:solidFill>
            <a:srgbClr val="EBE6DC">
              <a:alpha val="100000"/>
            </a:srgbClr>
          </a:solidFill>
          <a:ln w="9525">
            <a:solidFill>
              <a:srgbClr val="D4CDC2">
                <a:alpha val="10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AutoShape 24"/>
          <p:cNvSpPr/>
          <p:nvPr/>
        </p:nvSpPr>
        <p:spPr>
          <a:xfrm>
            <a:off x="8100475" y="2135386"/>
            <a:ext cx="3631391" cy="9525"/>
          </a:xfrm>
          <a:prstGeom prst="line">
            <a:avLst/>
          </a:prstGeom>
          <a:ln w="28575">
            <a:solidFill>
              <a:srgbClr val="B54A3E">
                <a:alpha val="10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Box 25"/>
          <p:cNvSpPr txBox="1"/>
          <p:nvPr/>
        </p:nvSpPr>
        <p:spPr>
          <a:xfrm>
            <a:off x="8338541" y="2392561"/>
            <a:ext cx="3155260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1A1A1A">
                    <a:alpha val="4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03 · 讨论与验证</a:t>
            </a:r>
            <a:endParaRPr lang="en-US" sz="1100"/>
          </a:p>
        </p:txBody>
      </p:sp>
      <p:sp>
        <p:nvSpPr>
          <p:cNvPr id="26" name="TextBox 26"/>
          <p:cNvSpPr txBox="1"/>
          <p:nvPr/>
        </p:nvSpPr>
        <p:spPr>
          <a:xfrm>
            <a:off x="8338541" y="3012430"/>
            <a:ext cx="3393326" cy="679846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200" b="1" i="0" strike="noStrike">
                <a:solidFill>
                  <a:srgbClr val="B54A3E">
                    <a:alpha val="85098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Discuss / Recommend</a:t>
            </a:r>
            <a:r>
              <a:rPr sz="1200" b="0" i="0" strike="noStrike">
                <a:solidFill>
                  <a:srgbClr val="1A1A1A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：比较不同可能性并说</a:t>
            </a:r>
            <a:endParaRPr lang="en-US" sz="1100"/>
          </a:p>
          <a:p>
            <a:pPr algn="l"/>
            <a:r>
              <a:rPr sz="1200" b="0" i="0" strike="noStrike">
                <a:solidFill>
                  <a:srgbClr val="1A1A1A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明取舍，recommend 必须明确给出"我们推荐</a:t>
            </a:r>
          </a:p>
          <a:p>
            <a:pPr algn="l"/>
            <a:r>
              <a:rPr sz="1200" b="0" i="0" strike="noStrike">
                <a:solidFill>
                  <a:srgbClr val="1A1A1A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X 因为 A、B、C"的结论</a:t>
            </a:r>
          </a:p>
        </p:txBody>
      </p:sp>
      <p:sp>
        <p:nvSpPr>
          <p:cNvPr id="27" name="AutoShape 27"/>
          <p:cNvSpPr/>
          <p:nvPr/>
        </p:nvSpPr>
        <p:spPr>
          <a:xfrm>
            <a:off x="8338541" y="4161532"/>
            <a:ext cx="3155260" cy="9525"/>
          </a:xfrm>
          <a:prstGeom prst="rect">
            <a:avLst/>
          </a:prstGeom>
          <a:solidFill>
            <a:srgbClr val="D4CDC2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Box 28"/>
          <p:cNvSpPr txBox="1"/>
          <p:nvPr/>
        </p:nvSpPr>
        <p:spPr>
          <a:xfrm>
            <a:off x="8338541" y="4638526"/>
            <a:ext cx="3393326" cy="679846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200" b="1" i="0" strike="noStrike">
                <a:solidFill>
                  <a:srgbClr val="B54A3E">
                    <a:alpha val="85098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Validate</a:t>
            </a:r>
            <a:r>
              <a:rPr sz="1200" b="0" i="0" strike="noStrike">
                <a:solidFill>
                  <a:srgbClr val="1A1A1A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：不是重新算一次，而是拿模型预测</a:t>
            </a:r>
            <a:endParaRPr lang="en-US" sz="1100"/>
          </a:p>
          <a:p>
            <a:pPr algn="l"/>
            <a:r>
              <a:rPr sz="1200" b="0" i="0" strike="noStrike">
                <a:solidFill>
                  <a:srgbClr val="1A1A1A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结果与已知数据、实验结果或现实情况进行对</a:t>
            </a:r>
          </a:p>
          <a:p>
            <a:pPr algn="l"/>
            <a:r>
              <a:rPr sz="1200" b="0" i="0" strike="noStrike">
                <a:solidFill>
                  <a:srgbClr val="1A1A1A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照验证</a:t>
            </a:r>
          </a:p>
        </p:txBody>
      </p:sp>
      <p:sp>
        <p:nvSpPr>
          <p:cNvPr id="29" name="AutoShape 29"/>
          <p:cNvSpPr/>
          <p:nvPr/>
        </p:nvSpPr>
        <p:spPr>
          <a:xfrm>
            <a:off x="8338541" y="5806677"/>
            <a:ext cx="3155260" cy="9525"/>
          </a:xfrm>
          <a:prstGeom prst="line">
            <a:avLst/>
          </a:prstGeom>
          <a:ln w="9525">
            <a:solidFill>
              <a:srgbClr val="D4CDC2">
                <a:alpha val="10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Box 30"/>
          <p:cNvSpPr txBox="1"/>
          <p:nvPr/>
        </p:nvSpPr>
        <p:spPr>
          <a:xfrm>
            <a:off x="8338541" y="5930504"/>
            <a:ext cx="3155260" cy="2381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600" b="0" i="0" strike="noStrike">
                <a:solidFill>
                  <a:srgbClr val="B54A3E">
                    <a:alpha val="100000"/>
                  </a:srgbClr>
                </a:solidFill>
                <a:latin typeface="Source Han Serif CN" panose="02020400000000000000" charset="-122"/>
                <a:ea typeface="Source Han Serif CN" panose="02020400000000000000" charset="-122"/>
                <a:cs typeface="Source Han Serif CN" panose="02020400000000000000" charset="-122"/>
              </a:rPr>
              <a:t>取舍 · 对照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C3E3A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Box 3"/>
          <p:cNvSpPr txBox="1"/>
          <p:nvPr/>
        </p:nvSpPr>
        <p:spPr>
          <a:xfrm>
            <a:off x="5583230" y="2486918"/>
            <a:ext cx="6605722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000" b="0" i="0" strike="noStrike">
                <a:solidFill>
                  <a:srgbClr val="F5F1EA">
                    <a:alpha val="54901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Chapter 02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949212" y="2972693"/>
            <a:ext cx="10290528" cy="788641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1"/>
          <a:lstStyle/>
          <a:p>
            <a:pPr algn="ctr">
              <a:defRPr/>
            </a:pPr>
            <a:r>
              <a:rPr lang="en-US" sz="5400" b="1" i="0" strike="noStrike">
                <a:solidFill>
                  <a:srgbClr val="F5F1EA">
                    <a:alpha val="100000"/>
                  </a:srgbClr>
                </a:solidFill>
                <a:latin typeface="FZShuSong-Z01" panose="03000509000000000000" charset="-122"/>
                <a:ea typeface="FZShuSong-Z01" panose="03000509000000000000" charset="-122"/>
                <a:cs typeface="FZShuSong-Z01" panose="03000509000000000000" charset="-122"/>
              </a:rPr>
              <a:t>建立模型：校园场景数学化</a:t>
            </a:r>
            <a:endParaRPr lang="en-US" sz="1100"/>
          </a:p>
        </p:txBody>
      </p:sp>
      <p:sp>
        <p:nvSpPr>
          <p:cNvPr id="5" name="TextBox 5"/>
          <p:cNvSpPr txBox="1"/>
          <p:nvPr/>
        </p:nvSpPr>
        <p:spPr>
          <a:xfrm>
            <a:off x="1714072" y="4066134"/>
            <a:ext cx="8760809" cy="3238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ctr" anchorCtr="1"/>
          <a:lstStyle/>
          <a:p>
            <a:pPr algn="ctr">
              <a:defRPr/>
            </a:pPr>
            <a:r>
              <a:rPr lang="en-US" sz="1500" b="0" i="0" strike="noStrike">
                <a:solidFill>
                  <a:srgbClr val="F5F1EA">
                    <a:alpha val="72156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把食堂排队、教室灯光、跑步路线这些日常问题翻译成数学语言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0DDD8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AutoShap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7F2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Box 4"/>
          <p:cNvSpPr txBox="1"/>
          <p:nvPr/>
        </p:nvSpPr>
        <p:spPr>
          <a:xfrm>
            <a:off x="457086" y="476250"/>
            <a:ext cx="11274781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1A1A1A">
                    <a:alpha val="50196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CAMPUS MODELING</a:t>
            </a:r>
            <a:endParaRPr lang="en-US" sz="1100"/>
          </a:p>
        </p:txBody>
      </p:sp>
      <p:sp>
        <p:nvSpPr>
          <p:cNvPr id="5" name="TextBox 5"/>
          <p:cNvSpPr txBox="1"/>
          <p:nvPr/>
        </p:nvSpPr>
        <p:spPr>
          <a:xfrm>
            <a:off x="457086" y="771525"/>
            <a:ext cx="11274781" cy="4286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3000" b="1" i="0" strike="noStrike">
                <a:solidFill>
                  <a:srgbClr val="1A1A1A">
                    <a:alpha val="100000"/>
                  </a:srgbClr>
                </a:solidFill>
                <a:latin typeface="Source Han Serif CN" panose="02020400000000000000" charset="-122"/>
                <a:ea typeface="Source Han Serif CN" panose="02020400000000000000" charset="-122"/>
                <a:cs typeface="Source Han Serif CN" panose="02020400000000000000" charset="-122"/>
              </a:rPr>
              <a:t>"身边问题"其实都是建模题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57086" y="1352550"/>
            <a:ext cx="9522" cy="324743"/>
          </a:xfrm>
          <a:prstGeom prst="line">
            <a:avLst/>
          </a:prstGeom>
          <a:ln w="9525">
            <a:solidFill>
              <a:srgbClr val="2D4A6F">
                <a:alpha val="7803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Box 7"/>
          <p:cNvSpPr txBox="1"/>
          <p:nvPr/>
        </p:nvSpPr>
        <p:spPr>
          <a:xfrm>
            <a:off x="580880" y="1390650"/>
            <a:ext cx="11150986" cy="2381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600" b="0" i="1" strike="noStrike">
                <a:solidFill>
                  <a:srgbClr val="1A1A1A">
                    <a:alpha val="78039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校园日常场景如食堂排队、教室灯光、跑步路线等，本质上都是可以用数学建模解决的优化问题。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57086" y="1886843"/>
            <a:ext cx="3605799" cy="4513957"/>
          </a:xfrm>
          <a:prstGeom prst="rect">
            <a:avLst/>
          </a:prstGeom>
          <a:solidFill>
            <a:srgbClr val="F1EDE5">
              <a:alpha val="100000"/>
            </a:srgbClr>
          </a:solidFill>
          <a:ln w="9525">
            <a:solidFill>
              <a:srgbClr val="D8D2C5">
                <a:alpha val="10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AutoShape 9"/>
          <p:cNvSpPr/>
          <p:nvPr/>
        </p:nvSpPr>
        <p:spPr>
          <a:xfrm>
            <a:off x="457086" y="1886843"/>
            <a:ext cx="3605799" cy="9525"/>
          </a:xfrm>
          <a:prstGeom prst="line">
            <a:avLst/>
          </a:prstGeom>
          <a:ln w="28575">
            <a:solidFill>
              <a:srgbClr val="2D4A6F">
                <a:alpha val="10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Box 10"/>
          <p:cNvSpPr txBox="1"/>
          <p:nvPr/>
        </p:nvSpPr>
        <p:spPr>
          <a:xfrm>
            <a:off x="676106" y="2153543"/>
            <a:ext cx="3167758" cy="2381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600" b="1" i="0" strike="noStrike">
                <a:solidFill>
                  <a:srgbClr val="1A1A1A">
                    <a:alpha val="100000"/>
                  </a:srgbClr>
                </a:solidFill>
                <a:latin typeface="Source Han Serif CN" panose="02020400000000000000" charset="-122"/>
                <a:ea typeface="Source Han Serif CN" panose="02020400000000000000" charset="-122"/>
                <a:cs typeface="Source Han Serif CN" panose="02020400000000000000" charset="-122"/>
              </a:rPr>
              <a:t>食堂与教室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76106" y="3102322"/>
            <a:ext cx="9522" cy="413148"/>
          </a:xfrm>
          <a:prstGeom prst="line">
            <a:avLst/>
          </a:prstGeom>
          <a:ln w="19050">
            <a:solidFill>
              <a:srgbClr val="2D4A6F">
                <a:alpha val="10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Box 12"/>
          <p:cNvSpPr txBox="1"/>
          <p:nvPr/>
        </p:nvSpPr>
        <p:spPr>
          <a:xfrm>
            <a:off x="809423" y="3121372"/>
            <a:ext cx="3253462" cy="358973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000" b="0" i="0" strike="noStrike">
                <a:solidFill>
                  <a:srgbClr val="1A1A1A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研究到达率、服务率与等待时间，用排队论分析"增</a:t>
            </a:r>
            <a:endParaRPr lang="en-US" sz="1100"/>
          </a:p>
          <a:p>
            <a:pPr algn="l"/>
            <a:r>
              <a:rPr sz="1000" b="0" i="0" strike="noStrike">
                <a:solidFill>
                  <a:srgbClr val="1A1A1A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加窗口是否值得"</a:t>
            </a:r>
          </a:p>
        </p:txBody>
      </p:sp>
      <p:sp>
        <p:nvSpPr>
          <p:cNvPr id="13" name="AutoShape 13"/>
          <p:cNvSpPr/>
          <p:nvPr/>
        </p:nvSpPr>
        <p:spPr>
          <a:xfrm>
            <a:off x="676106" y="4821138"/>
            <a:ext cx="9522" cy="206573"/>
          </a:xfrm>
          <a:prstGeom prst="line">
            <a:avLst/>
          </a:prstGeom>
          <a:ln w="19050">
            <a:solidFill>
              <a:srgbClr val="2D4A6F">
                <a:alpha val="10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Box 14"/>
          <p:cNvSpPr txBox="1"/>
          <p:nvPr/>
        </p:nvSpPr>
        <p:spPr>
          <a:xfrm>
            <a:off x="809423" y="4840188"/>
            <a:ext cx="3253462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000" b="0" i="0" strike="noStrike">
                <a:solidFill>
                  <a:srgbClr val="1A1A1A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平衡自然光与能耗，用函数拟合求解最佳开灯策略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76106" y="5808464"/>
            <a:ext cx="3167758" cy="9525"/>
          </a:xfrm>
          <a:prstGeom prst="line">
            <a:avLst/>
          </a:prstGeom>
          <a:ln w="9525">
            <a:solidFill>
              <a:srgbClr val="D8D2C5">
                <a:alpha val="10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Box 16"/>
          <p:cNvSpPr txBox="1"/>
          <p:nvPr/>
        </p:nvSpPr>
        <p:spPr>
          <a:xfrm>
            <a:off x="676106" y="5922764"/>
            <a:ext cx="3167758" cy="2381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600" b="0" i="0" strike="noStrike">
                <a:solidFill>
                  <a:srgbClr val="2D4A6F">
                    <a:alpha val="100000"/>
                  </a:srgbClr>
                </a:solidFill>
                <a:latin typeface="Source Han Serif CN" panose="02020400000000000000" charset="-122"/>
                <a:ea typeface="Source Han Serif CN" panose="02020400000000000000" charset="-122"/>
                <a:cs typeface="Source Han Serif CN" panose="02020400000000000000" charset="-122"/>
              </a:rPr>
              <a:t>排队论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4291428" y="1886843"/>
            <a:ext cx="3605948" cy="4513957"/>
          </a:xfrm>
          <a:prstGeom prst="rect">
            <a:avLst/>
          </a:prstGeom>
          <a:solidFill>
            <a:srgbClr val="F1EDE5">
              <a:alpha val="100000"/>
            </a:srgbClr>
          </a:solidFill>
          <a:ln w="9525">
            <a:solidFill>
              <a:srgbClr val="D8D2C5">
                <a:alpha val="10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AutoShape 18"/>
          <p:cNvSpPr/>
          <p:nvPr/>
        </p:nvSpPr>
        <p:spPr>
          <a:xfrm>
            <a:off x="4291428" y="1886843"/>
            <a:ext cx="3605948" cy="9525"/>
          </a:xfrm>
          <a:prstGeom prst="line">
            <a:avLst/>
          </a:prstGeom>
          <a:ln w="28575">
            <a:solidFill>
              <a:srgbClr val="2D4A6F">
                <a:alpha val="10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Box 19"/>
          <p:cNvSpPr txBox="1"/>
          <p:nvPr/>
        </p:nvSpPr>
        <p:spPr>
          <a:xfrm>
            <a:off x="4510448" y="2153543"/>
            <a:ext cx="3167907" cy="2381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600" b="1" i="0" strike="noStrike">
                <a:solidFill>
                  <a:srgbClr val="1A1A1A">
                    <a:alpha val="100000"/>
                  </a:srgbClr>
                </a:solidFill>
                <a:latin typeface="Source Han Serif CN" panose="02020400000000000000" charset="-122"/>
                <a:ea typeface="Source Han Serif CN" panose="02020400000000000000" charset="-122"/>
                <a:cs typeface="Source Han Serif CN" panose="02020400000000000000" charset="-122"/>
              </a:rPr>
              <a:t>路线与通勤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4510448" y="3102322"/>
            <a:ext cx="9522" cy="413148"/>
          </a:xfrm>
          <a:prstGeom prst="line">
            <a:avLst/>
          </a:prstGeom>
          <a:ln w="19050">
            <a:solidFill>
              <a:srgbClr val="2D4A6F">
                <a:alpha val="10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Box 21"/>
          <p:cNvSpPr txBox="1"/>
          <p:nvPr/>
        </p:nvSpPr>
        <p:spPr>
          <a:xfrm>
            <a:off x="4643765" y="3121372"/>
            <a:ext cx="3253610" cy="358973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000" b="0" i="0" strike="noStrike">
                <a:solidFill>
                  <a:srgbClr val="1A1A1A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加权图中寻找多重约束的最优跑步路径，属于图论</a:t>
            </a:r>
            <a:endParaRPr lang="en-US" sz="1100"/>
          </a:p>
          <a:p>
            <a:pPr algn="l"/>
            <a:r>
              <a:rPr sz="1000" b="0" i="0" strike="noStrike">
                <a:solidFill>
                  <a:srgbClr val="1A1A1A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与多目标优化</a:t>
            </a:r>
          </a:p>
        </p:txBody>
      </p:sp>
      <p:sp>
        <p:nvSpPr>
          <p:cNvPr id="22" name="AutoShape 22"/>
          <p:cNvSpPr/>
          <p:nvPr/>
        </p:nvSpPr>
        <p:spPr>
          <a:xfrm>
            <a:off x="4510448" y="4717852"/>
            <a:ext cx="9522" cy="413148"/>
          </a:xfrm>
          <a:prstGeom prst="line">
            <a:avLst/>
          </a:prstGeom>
          <a:ln w="19050">
            <a:solidFill>
              <a:srgbClr val="2D4A6F">
                <a:alpha val="10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Box 23"/>
          <p:cNvSpPr txBox="1"/>
          <p:nvPr/>
        </p:nvSpPr>
        <p:spPr>
          <a:xfrm>
            <a:off x="4643765" y="4736902"/>
            <a:ext cx="3253610" cy="358973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000" b="0" i="0" strike="noStrike">
                <a:solidFill>
                  <a:srgbClr val="1A1A1A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500 名学生同时出发，用离散模型与仿真求解调度</a:t>
            </a:r>
            <a:endParaRPr lang="en-US" sz="1100"/>
          </a:p>
          <a:p>
            <a:pPr algn="l"/>
            <a:r>
              <a:rPr sz="1000" b="0" i="0" strike="noStrike">
                <a:solidFill>
                  <a:srgbClr val="1A1A1A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方案</a:t>
            </a:r>
          </a:p>
        </p:txBody>
      </p:sp>
      <p:sp>
        <p:nvSpPr>
          <p:cNvPr id="24" name="AutoShape 24"/>
          <p:cNvSpPr/>
          <p:nvPr/>
        </p:nvSpPr>
        <p:spPr>
          <a:xfrm>
            <a:off x="4510448" y="5808464"/>
            <a:ext cx="3167907" cy="9525"/>
          </a:xfrm>
          <a:prstGeom prst="line">
            <a:avLst/>
          </a:prstGeom>
          <a:ln w="9525">
            <a:solidFill>
              <a:srgbClr val="D8D2C5">
                <a:alpha val="10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Box 25"/>
          <p:cNvSpPr txBox="1"/>
          <p:nvPr/>
        </p:nvSpPr>
        <p:spPr>
          <a:xfrm>
            <a:off x="4510448" y="5922764"/>
            <a:ext cx="3167907" cy="2381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600" b="0" i="0" strike="noStrike">
                <a:solidFill>
                  <a:srgbClr val="2D4A6F">
                    <a:alpha val="100000"/>
                  </a:srgbClr>
                </a:solidFill>
                <a:latin typeface="Source Han Serif CN" panose="02020400000000000000" charset="-122"/>
                <a:ea typeface="Source Han Serif CN" panose="02020400000000000000" charset="-122"/>
                <a:cs typeface="Source Han Serif CN" panose="02020400000000000000" charset="-122"/>
              </a:rPr>
              <a:t>图论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8125918" y="1886843"/>
            <a:ext cx="3605799" cy="4513957"/>
          </a:xfrm>
          <a:prstGeom prst="rect">
            <a:avLst/>
          </a:prstGeom>
          <a:solidFill>
            <a:srgbClr val="F1EDE5">
              <a:alpha val="100000"/>
            </a:srgbClr>
          </a:solidFill>
          <a:ln w="9525">
            <a:solidFill>
              <a:srgbClr val="D8D2C5">
                <a:alpha val="10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AutoShape 27"/>
          <p:cNvSpPr/>
          <p:nvPr/>
        </p:nvSpPr>
        <p:spPr>
          <a:xfrm>
            <a:off x="8125918" y="1886843"/>
            <a:ext cx="3605799" cy="9525"/>
          </a:xfrm>
          <a:prstGeom prst="line">
            <a:avLst/>
          </a:prstGeom>
          <a:ln w="28575">
            <a:solidFill>
              <a:srgbClr val="2D4A6F">
                <a:alpha val="10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Box 28"/>
          <p:cNvSpPr txBox="1"/>
          <p:nvPr/>
        </p:nvSpPr>
        <p:spPr>
          <a:xfrm>
            <a:off x="8344939" y="2153543"/>
            <a:ext cx="3167758" cy="2381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600" b="1" i="0" strike="noStrike">
                <a:solidFill>
                  <a:srgbClr val="1A1A1A">
                    <a:alpha val="100000"/>
                  </a:srgbClr>
                </a:solidFill>
                <a:latin typeface="Source Han Serif CN" panose="02020400000000000000" charset="-122"/>
                <a:ea typeface="Source Han Serif CN" panose="02020400000000000000" charset="-122"/>
                <a:cs typeface="Source Han Serif CN" panose="02020400000000000000" charset="-122"/>
              </a:rPr>
              <a:t>运动与表现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8344939" y="3102322"/>
            <a:ext cx="9522" cy="413148"/>
          </a:xfrm>
          <a:prstGeom prst="line">
            <a:avLst/>
          </a:prstGeom>
          <a:ln w="19050">
            <a:solidFill>
              <a:srgbClr val="2D4A6F">
                <a:alpha val="10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Box 30"/>
          <p:cNvSpPr txBox="1"/>
          <p:nvPr/>
        </p:nvSpPr>
        <p:spPr>
          <a:xfrm>
            <a:off x="8478256" y="3121372"/>
            <a:ext cx="3253462" cy="358973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000" b="0" i="0" strike="noStrike">
                <a:solidFill>
                  <a:srgbClr val="1A1A1A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用回归与动力学模型揭示训练量、恢复时间与运动</a:t>
            </a:r>
            <a:endParaRPr lang="en-US" sz="1100"/>
          </a:p>
          <a:p>
            <a:pPr algn="l"/>
            <a:r>
              <a:rPr sz="1000" b="0" i="0" strike="noStrike">
                <a:solidFill>
                  <a:srgbClr val="1A1A1A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表现的关系，为科学训练提供量化依据</a:t>
            </a:r>
          </a:p>
        </p:txBody>
      </p:sp>
      <p:sp>
        <p:nvSpPr>
          <p:cNvPr id="31" name="AutoShape 31"/>
          <p:cNvSpPr/>
          <p:nvPr/>
        </p:nvSpPr>
        <p:spPr>
          <a:xfrm>
            <a:off x="8344939" y="4717852"/>
            <a:ext cx="9522" cy="413148"/>
          </a:xfrm>
          <a:prstGeom prst="line">
            <a:avLst/>
          </a:prstGeom>
          <a:ln w="19050">
            <a:solidFill>
              <a:srgbClr val="2D4A6F">
                <a:alpha val="10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Box 32"/>
          <p:cNvSpPr txBox="1"/>
          <p:nvPr/>
        </p:nvSpPr>
        <p:spPr>
          <a:xfrm>
            <a:off x="8478256" y="4736902"/>
            <a:ext cx="3253462" cy="358973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000" b="0" i="0" strike="noStrike">
                <a:solidFill>
                  <a:srgbClr val="1A1A1A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通过历史数据拟合预测最佳参赛状态窗口，优化备</a:t>
            </a:r>
            <a:endParaRPr lang="en-US" sz="1100"/>
          </a:p>
          <a:p>
            <a:pPr algn="l"/>
            <a:r>
              <a:rPr sz="1000" b="0" i="0" strike="noStrike">
                <a:solidFill>
                  <a:srgbClr val="1A1A1A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赛周期安排</a:t>
            </a:r>
          </a:p>
        </p:txBody>
      </p:sp>
      <p:sp>
        <p:nvSpPr>
          <p:cNvPr id="33" name="AutoShape 33"/>
          <p:cNvSpPr/>
          <p:nvPr/>
        </p:nvSpPr>
        <p:spPr>
          <a:xfrm>
            <a:off x="8344939" y="5808464"/>
            <a:ext cx="3167758" cy="9525"/>
          </a:xfrm>
          <a:prstGeom prst="line">
            <a:avLst/>
          </a:prstGeom>
          <a:ln w="9525">
            <a:solidFill>
              <a:srgbClr val="D8D2C5">
                <a:alpha val="10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Box 34"/>
          <p:cNvSpPr txBox="1"/>
          <p:nvPr/>
        </p:nvSpPr>
        <p:spPr>
          <a:xfrm>
            <a:off x="8344939" y="5922764"/>
            <a:ext cx="3167758" cy="2381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600" b="0" i="0" strike="noStrike">
                <a:solidFill>
                  <a:srgbClr val="2D4A6F">
                    <a:alpha val="100000"/>
                  </a:srgbClr>
                </a:solidFill>
                <a:latin typeface="Source Han Serif CN" panose="02020400000000000000" charset="-122"/>
                <a:ea typeface="Source Han Serif CN" panose="02020400000000000000" charset="-122"/>
                <a:cs typeface="Source Han Serif CN" panose="02020400000000000000" charset="-122"/>
              </a:rPr>
              <a:t>回归分析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7F2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Box 3"/>
          <p:cNvSpPr txBox="1"/>
          <p:nvPr/>
        </p:nvSpPr>
        <p:spPr>
          <a:xfrm>
            <a:off x="380905" y="400050"/>
            <a:ext cx="11427142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1A1A1A">
                    <a:alpha val="50196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Mathematical Modeling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380905" y="657225"/>
            <a:ext cx="11427142" cy="3810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2700" b="1" i="0" strike="noStrike">
                <a:solidFill>
                  <a:srgbClr val="1A1A1A">
                    <a:alpha val="100000"/>
                  </a:srgbClr>
                </a:solidFill>
                <a:latin typeface="Source Han Serif CN" panose="02020400000000000000" charset="-122"/>
                <a:ea typeface="Source Han Serif CN" panose="02020400000000000000" charset="-122"/>
                <a:cs typeface="Source Han Serif CN" panose="02020400000000000000" charset="-122"/>
              </a:rPr>
              <a:t>模型的语法：四类变量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380905" y="1154311"/>
            <a:ext cx="9522" cy="514350"/>
          </a:xfrm>
          <a:prstGeom prst="line">
            <a:avLst/>
          </a:prstGeom>
          <a:ln w="9525">
            <a:solidFill>
              <a:srgbClr val="C23A2B">
                <a:alpha val="7803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Box 6"/>
          <p:cNvSpPr txBox="1"/>
          <p:nvPr/>
        </p:nvSpPr>
        <p:spPr>
          <a:xfrm>
            <a:off x="504699" y="1182886"/>
            <a:ext cx="11684253" cy="4476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300" b="0" i="1" strike="noStrike">
                <a:solidFill>
                  <a:srgbClr val="1A1A1A">
                    <a:alpha val="78039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数学模型由四类不同角色的变量构成：决策变量（可控输入）、状态变量（系统状态）、参数（外生估计量）和常数（固定值）。分清它们的角色是建模</a:t>
            </a:r>
            <a:endParaRPr lang="en-US" sz="1100"/>
          </a:p>
          <a:p>
            <a:pPr algn="l"/>
            <a:r>
              <a:rPr sz="1300" b="0" i="1" strike="noStrike">
                <a:solidFill>
                  <a:srgbClr val="1A1A1A">
                    <a:alpha val="78039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的基本功，不是所有出现在公式里的数字都属于同一种东西。</a:t>
            </a:r>
          </a:p>
        </p:txBody>
      </p:sp>
      <p:sp>
        <p:nvSpPr>
          <p:cNvPr id="7" name="AutoShape 7"/>
          <p:cNvSpPr/>
          <p:nvPr/>
        </p:nvSpPr>
        <p:spPr>
          <a:xfrm>
            <a:off x="380905" y="1821061"/>
            <a:ext cx="5646913" cy="2261295"/>
          </a:xfrm>
          <a:prstGeom prst="rect">
            <a:avLst/>
          </a:prstGeom>
          <a:solidFill>
            <a:srgbClr val="F1EDE5">
              <a:alpha val="100000"/>
            </a:srgbClr>
          </a:solidFill>
          <a:ln w="9525">
            <a:solidFill>
              <a:srgbClr val="D8D2C5">
                <a:alpha val="10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AutoShape 8"/>
          <p:cNvSpPr/>
          <p:nvPr/>
        </p:nvSpPr>
        <p:spPr>
          <a:xfrm>
            <a:off x="380905" y="1821061"/>
            <a:ext cx="5646913" cy="9525"/>
          </a:xfrm>
          <a:prstGeom prst="line">
            <a:avLst/>
          </a:prstGeom>
          <a:ln w="28575">
            <a:solidFill>
              <a:srgbClr val="C23A2B">
                <a:alpha val="10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Box 9"/>
          <p:cNvSpPr txBox="1"/>
          <p:nvPr/>
        </p:nvSpPr>
        <p:spPr>
          <a:xfrm>
            <a:off x="580880" y="2059186"/>
            <a:ext cx="5246963" cy="1143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800" b="0" i="0" strike="noStrike">
                <a:solidFill>
                  <a:srgbClr val="1A1A1A">
                    <a:alpha val="50196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Decision Variables</a:t>
            </a:r>
            <a:endParaRPr lang="en-US" sz="1100"/>
          </a:p>
        </p:txBody>
      </p:sp>
      <p:sp>
        <p:nvSpPr>
          <p:cNvPr id="10" name="TextBox 10"/>
          <p:cNvSpPr txBox="1"/>
          <p:nvPr/>
        </p:nvSpPr>
        <p:spPr>
          <a:xfrm>
            <a:off x="580880" y="2273498"/>
            <a:ext cx="5246963" cy="2381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600" b="1" i="0" strike="noStrike">
                <a:solidFill>
                  <a:srgbClr val="1A1A1A">
                    <a:alpha val="100000"/>
                  </a:srgbClr>
                </a:solidFill>
                <a:latin typeface="Source Han Serif CN" panose="02020400000000000000" charset="-122"/>
                <a:ea typeface="Source Han Serif CN" panose="02020400000000000000" charset="-122"/>
                <a:cs typeface="Source Han Serif CN" panose="02020400000000000000" charset="-122"/>
              </a:rPr>
              <a:t>决策变量</a:t>
            </a:r>
            <a:endParaRPr lang="en-US" sz="1100"/>
          </a:p>
        </p:txBody>
      </p:sp>
      <p:sp>
        <p:nvSpPr>
          <p:cNvPr id="11" name="TextBox 11"/>
          <p:cNvSpPr txBox="1"/>
          <p:nvPr/>
        </p:nvSpPr>
        <p:spPr>
          <a:xfrm>
            <a:off x="580880" y="2648694"/>
            <a:ext cx="5446937" cy="3905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100" b="0" i="0" strike="noStrike">
                <a:solidFill>
                  <a:srgbClr val="1A1A1A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我们可以主动选择的量，如食堂窗口数 </a:t>
            </a:r>
            <a:r>
              <a:rPr sz="1100" b="1" i="0" strike="noStrike">
                <a:solidFill>
                  <a:srgbClr val="1A1A1A">
                    <a:alpha val="85098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k</a:t>
            </a:r>
            <a:r>
              <a:rPr sz="1100" b="0" i="0" strike="noStrike">
                <a:solidFill>
                  <a:srgbClr val="1A1A1A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、发车间隔 </a:t>
            </a:r>
            <a:r>
              <a:rPr sz="1100" b="1" i="0" strike="noStrike">
                <a:solidFill>
                  <a:srgbClr val="1A1A1A">
                    <a:alpha val="85098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T</a:t>
            </a:r>
            <a:r>
              <a:rPr sz="1100" b="0" i="0" strike="noStrike">
                <a:solidFill>
                  <a:srgbClr val="1A1A1A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，其可行域由约束条件界定，</a:t>
            </a:r>
            <a:endParaRPr lang="en-US" sz="1100"/>
          </a:p>
          <a:p>
            <a:pPr algn="l"/>
            <a:r>
              <a:rPr sz="1100" b="0" i="0" strike="noStrike">
                <a:solidFill>
                  <a:srgbClr val="1A1A1A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最优解就在这些变量中寻找。决策变量是优化问题的核心求解对象。</a:t>
            </a:r>
          </a:p>
        </p:txBody>
      </p:sp>
      <p:sp>
        <p:nvSpPr>
          <p:cNvPr id="12" name="AutoShape 12"/>
          <p:cNvSpPr/>
          <p:nvPr/>
        </p:nvSpPr>
        <p:spPr>
          <a:xfrm>
            <a:off x="580880" y="3588991"/>
            <a:ext cx="5246963" cy="9525"/>
          </a:xfrm>
          <a:prstGeom prst="line">
            <a:avLst/>
          </a:prstGeom>
          <a:ln w="9525">
            <a:solidFill>
              <a:srgbClr val="D8D2C5">
                <a:alpha val="10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Box 13"/>
          <p:cNvSpPr txBox="1"/>
          <p:nvPr/>
        </p:nvSpPr>
        <p:spPr>
          <a:xfrm>
            <a:off x="580880" y="3684241"/>
            <a:ext cx="5246963" cy="1905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300" b="1" i="0" strike="noStrike">
                <a:solidFill>
                  <a:srgbClr val="C23A2B">
                    <a:alpha val="100000"/>
                  </a:srgbClr>
                </a:solidFill>
                <a:latin typeface="Source Han Serif CN" panose="02020400000000000000" charset="-122"/>
                <a:ea typeface="Source Han Serif CN" panose="02020400000000000000" charset="-122"/>
                <a:cs typeface="Source Han Serif CN" panose="02020400000000000000" charset="-122"/>
              </a:rPr>
              <a:t>可控输入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161134" y="1821061"/>
            <a:ext cx="5646913" cy="2261295"/>
          </a:xfrm>
          <a:prstGeom prst="rect">
            <a:avLst/>
          </a:prstGeom>
          <a:solidFill>
            <a:srgbClr val="F1EDE5">
              <a:alpha val="100000"/>
            </a:srgbClr>
          </a:solidFill>
          <a:ln w="9525">
            <a:solidFill>
              <a:srgbClr val="D8D2C5">
                <a:alpha val="10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AutoShape 15"/>
          <p:cNvSpPr/>
          <p:nvPr/>
        </p:nvSpPr>
        <p:spPr>
          <a:xfrm>
            <a:off x="6161134" y="1821061"/>
            <a:ext cx="5646913" cy="9525"/>
          </a:xfrm>
          <a:prstGeom prst="line">
            <a:avLst/>
          </a:prstGeom>
          <a:ln w="28575">
            <a:solidFill>
              <a:srgbClr val="C23A2B">
                <a:alpha val="10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Box 16"/>
          <p:cNvSpPr txBox="1"/>
          <p:nvPr/>
        </p:nvSpPr>
        <p:spPr>
          <a:xfrm>
            <a:off x="6361109" y="2059186"/>
            <a:ext cx="5246963" cy="1143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800" b="0" i="0" strike="noStrike">
                <a:solidFill>
                  <a:srgbClr val="1A1A1A">
                    <a:alpha val="50196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State Variables</a:t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6361109" y="2273498"/>
            <a:ext cx="5246963" cy="2381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600" b="1" i="0" strike="noStrike">
                <a:solidFill>
                  <a:srgbClr val="1A1A1A">
                    <a:alpha val="100000"/>
                  </a:srgbClr>
                </a:solidFill>
                <a:latin typeface="Source Han Serif CN" panose="02020400000000000000" charset="-122"/>
                <a:ea typeface="Source Han Serif CN" panose="02020400000000000000" charset="-122"/>
                <a:cs typeface="Source Han Serif CN" panose="02020400000000000000" charset="-122"/>
              </a:rPr>
              <a:t>状态变量</a:t>
            </a:r>
            <a:endParaRPr lang="en-US" sz="1100"/>
          </a:p>
        </p:txBody>
      </p:sp>
      <p:sp>
        <p:nvSpPr>
          <p:cNvPr id="18" name="TextBox 18"/>
          <p:cNvSpPr txBox="1"/>
          <p:nvPr/>
        </p:nvSpPr>
        <p:spPr>
          <a:xfrm>
            <a:off x="6361109" y="2648694"/>
            <a:ext cx="5446937" cy="3905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100" b="0" i="0" strike="noStrike">
                <a:solidFill>
                  <a:srgbClr val="1A1A1A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描述系统在时刻 </a:t>
            </a:r>
            <a:r>
              <a:rPr sz="1100" b="1" i="0" strike="noStrike">
                <a:solidFill>
                  <a:srgbClr val="1A1A1A">
                    <a:alpha val="85098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t</a:t>
            </a:r>
            <a:r>
              <a:rPr sz="1100" b="0" i="0" strike="noStrike">
                <a:solidFill>
                  <a:srgbClr val="1A1A1A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 的内部状况，如排队人数 </a:t>
            </a:r>
            <a:r>
              <a:rPr sz="1100" b="1" i="0" strike="noStrike">
                <a:solidFill>
                  <a:srgbClr val="1A1A1A">
                    <a:alpha val="85098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N(t)</a:t>
            </a:r>
            <a:r>
              <a:rPr sz="1100" b="0" i="0" strike="noStrike">
                <a:solidFill>
                  <a:srgbClr val="1A1A1A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、剩余座位数 </a:t>
            </a:r>
            <a:r>
              <a:rPr sz="1100" b="1" i="0" strike="noStrike">
                <a:solidFill>
                  <a:srgbClr val="1A1A1A">
                    <a:alpha val="85098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S(t)</a:t>
            </a:r>
            <a:r>
              <a:rPr sz="1100" b="0" i="0" strike="noStrike">
                <a:solidFill>
                  <a:srgbClr val="1A1A1A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，随时间演化并</a:t>
            </a:r>
            <a:endParaRPr lang="en-US" sz="1100"/>
          </a:p>
          <a:p>
            <a:pPr algn="l"/>
            <a:r>
              <a:rPr sz="1100" b="0" i="0" strike="noStrike">
                <a:solidFill>
                  <a:srgbClr val="1A1A1A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受决策变量影响。状态变量反映系统的动态特征。</a:t>
            </a:r>
          </a:p>
        </p:txBody>
      </p:sp>
      <p:sp>
        <p:nvSpPr>
          <p:cNvPr id="19" name="AutoShape 19"/>
          <p:cNvSpPr/>
          <p:nvPr/>
        </p:nvSpPr>
        <p:spPr>
          <a:xfrm>
            <a:off x="6361109" y="3588991"/>
            <a:ext cx="5246963" cy="9525"/>
          </a:xfrm>
          <a:prstGeom prst="line">
            <a:avLst/>
          </a:prstGeom>
          <a:ln w="9525">
            <a:solidFill>
              <a:srgbClr val="D8D2C5">
                <a:alpha val="10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Box 20"/>
          <p:cNvSpPr txBox="1"/>
          <p:nvPr/>
        </p:nvSpPr>
        <p:spPr>
          <a:xfrm>
            <a:off x="6361109" y="3684241"/>
            <a:ext cx="5246963" cy="1905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300" b="1" i="0" strike="noStrike">
                <a:solidFill>
                  <a:srgbClr val="C23A2B">
                    <a:alpha val="100000"/>
                  </a:srgbClr>
                </a:solidFill>
                <a:latin typeface="Source Han Serif CN" panose="02020400000000000000" charset="-122"/>
                <a:ea typeface="Source Han Serif CN" panose="02020400000000000000" charset="-122"/>
                <a:cs typeface="Source Han Serif CN" panose="02020400000000000000" charset="-122"/>
              </a:rPr>
              <a:t>系统状态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380905" y="4215705"/>
            <a:ext cx="5646913" cy="2261295"/>
          </a:xfrm>
          <a:prstGeom prst="rect">
            <a:avLst/>
          </a:prstGeom>
          <a:solidFill>
            <a:srgbClr val="F1EDE5">
              <a:alpha val="100000"/>
            </a:srgbClr>
          </a:solidFill>
          <a:ln w="9525">
            <a:solidFill>
              <a:srgbClr val="D8D2C5">
                <a:alpha val="10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AutoShape 22"/>
          <p:cNvSpPr/>
          <p:nvPr/>
        </p:nvSpPr>
        <p:spPr>
          <a:xfrm>
            <a:off x="380905" y="4215705"/>
            <a:ext cx="5646913" cy="9525"/>
          </a:xfrm>
          <a:prstGeom prst="line">
            <a:avLst/>
          </a:prstGeom>
          <a:ln w="28575">
            <a:solidFill>
              <a:srgbClr val="C23A2B">
                <a:alpha val="10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Box 23"/>
          <p:cNvSpPr txBox="1"/>
          <p:nvPr/>
        </p:nvSpPr>
        <p:spPr>
          <a:xfrm>
            <a:off x="580880" y="4453830"/>
            <a:ext cx="5246963" cy="1143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800" b="0" i="0" strike="noStrike">
                <a:solidFill>
                  <a:srgbClr val="1A1A1A">
                    <a:alpha val="50196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Parameters</a:t>
            </a:r>
            <a:endParaRPr lang="en-US" sz="1100"/>
          </a:p>
        </p:txBody>
      </p:sp>
      <p:sp>
        <p:nvSpPr>
          <p:cNvPr id="24" name="TextBox 24"/>
          <p:cNvSpPr txBox="1"/>
          <p:nvPr/>
        </p:nvSpPr>
        <p:spPr>
          <a:xfrm>
            <a:off x="580880" y="4668143"/>
            <a:ext cx="5246963" cy="2381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600" b="1" i="0" strike="noStrike">
                <a:solidFill>
                  <a:srgbClr val="1A1A1A">
                    <a:alpha val="100000"/>
                  </a:srgbClr>
                </a:solidFill>
                <a:latin typeface="Source Han Serif CN" panose="02020400000000000000" charset="-122"/>
                <a:ea typeface="Source Han Serif CN" panose="02020400000000000000" charset="-122"/>
                <a:cs typeface="Source Han Serif CN" panose="02020400000000000000" charset="-122"/>
              </a:rPr>
              <a:t>参数</a:t>
            </a:r>
            <a:endParaRPr lang="en-US" sz="1100"/>
          </a:p>
        </p:txBody>
      </p:sp>
      <p:sp>
        <p:nvSpPr>
          <p:cNvPr id="25" name="TextBox 25"/>
          <p:cNvSpPr txBox="1"/>
          <p:nvPr/>
        </p:nvSpPr>
        <p:spPr>
          <a:xfrm>
            <a:off x="580880" y="5043339"/>
            <a:ext cx="5446937" cy="3905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100" b="0" i="0" strike="noStrike">
                <a:solidFill>
                  <a:srgbClr val="1A1A1A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需标定但不可控的外生变量，如学生到达率 </a:t>
            </a:r>
            <a:r>
              <a:rPr sz="1100" b="1" i="0" strike="noStrike">
                <a:solidFill>
                  <a:srgbClr val="1A1A1A">
                    <a:alpha val="85098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λ</a:t>
            </a:r>
            <a:r>
              <a:rPr sz="1100" b="0" i="0" strike="noStrike">
                <a:solidFill>
                  <a:srgbClr val="1A1A1A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、服务率 </a:t>
            </a:r>
            <a:r>
              <a:rPr sz="1100" b="1" i="0" strike="noStrike">
                <a:solidFill>
                  <a:srgbClr val="1A1A1A">
                    <a:alpha val="85098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μ</a:t>
            </a:r>
            <a:r>
              <a:rPr sz="1100" b="0" i="0" strike="noStrike">
                <a:solidFill>
                  <a:srgbClr val="1A1A1A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、预算上限 </a:t>
            </a:r>
            <a:r>
              <a:rPr sz="1100" b="1" i="0" strike="noStrike">
                <a:solidFill>
                  <a:srgbClr val="1A1A1A">
                    <a:alpha val="85098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B</a:t>
            </a:r>
            <a:r>
              <a:rPr sz="1100" b="0" i="0" strike="noStrike">
                <a:solidFill>
                  <a:srgbClr val="1A1A1A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，通过数据统</a:t>
            </a:r>
            <a:endParaRPr lang="en-US" sz="1100"/>
          </a:p>
          <a:p>
            <a:pPr algn="l"/>
            <a:r>
              <a:rPr sz="1100" b="0" i="0" strike="noStrike">
                <a:solidFill>
                  <a:srgbClr val="1A1A1A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计或文献调研获得。参数决定了模型的具体情境。</a:t>
            </a:r>
          </a:p>
        </p:txBody>
      </p:sp>
      <p:sp>
        <p:nvSpPr>
          <p:cNvPr id="26" name="AutoShape 26"/>
          <p:cNvSpPr/>
          <p:nvPr/>
        </p:nvSpPr>
        <p:spPr>
          <a:xfrm>
            <a:off x="580880" y="5983634"/>
            <a:ext cx="5246963" cy="9525"/>
          </a:xfrm>
          <a:prstGeom prst="line">
            <a:avLst/>
          </a:prstGeom>
          <a:ln w="9525">
            <a:solidFill>
              <a:srgbClr val="D8D2C5">
                <a:alpha val="10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Box 27"/>
          <p:cNvSpPr txBox="1"/>
          <p:nvPr/>
        </p:nvSpPr>
        <p:spPr>
          <a:xfrm>
            <a:off x="580880" y="6078884"/>
            <a:ext cx="5246963" cy="1905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300" b="1" i="0" strike="noStrike">
                <a:solidFill>
                  <a:srgbClr val="C23A2B">
                    <a:alpha val="100000"/>
                  </a:srgbClr>
                </a:solidFill>
                <a:latin typeface="Source Han Serif CN" panose="02020400000000000000" charset="-122"/>
                <a:ea typeface="Source Han Serif CN" panose="02020400000000000000" charset="-122"/>
                <a:cs typeface="Source Han Serif CN" panose="02020400000000000000" charset="-122"/>
              </a:rPr>
              <a:t>外生估计量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6161134" y="4215705"/>
            <a:ext cx="5646913" cy="2261295"/>
          </a:xfrm>
          <a:prstGeom prst="rect">
            <a:avLst/>
          </a:prstGeom>
          <a:solidFill>
            <a:srgbClr val="F1EDE5">
              <a:alpha val="100000"/>
            </a:srgbClr>
          </a:solidFill>
          <a:ln w="9525">
            <a:solidFill>
              <a:srgbClr val="D8D2C5">
                <a:alpha val="10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AutoShape 29"/>
          <p:cNvSpPr/>
          <p:nvPr/>
        </p:nvSpPr>
        <p:spPr>
          <a:xfrm>
            <a:off x="6161134" y="4215705"/>
            <a:ext cx="5646913" cy="9525"/>
          </a:xfrm>
          <a:prstGeom prst="line">
            <a:avLst/>
          </a:prstGeom>
          <a:ln w="28575">
            <a:solidFill>
              <a:srgbClr val="C23A2B">
                <a:alpha val="10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Box 30"/>
          <p:cNvSpPr txBox="1"/>
          <p:nvPr/>
        </p:nvSpPr>
        <p:spPr>
          <a:xfrm>
            <a:off x="6361109" y="4453830"/>
            <a:ext cx="5246963" cy="1143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800" b="0" i="0" strike="noStrike">
                <a:solidFill>
                  <a:srgbClr val="1A1A1A">
                    <a:alpha val="50196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Constants</a:t>
            </a:r>
            <a:endParaRPr lang="en-US" sz="1100"/>
          </a:p>
        </p:txBody>
      </p:sp>
      <p:sp>
        <p:nvSpPr>
          <p:cNvPr id="31" name="TextBox 31"/>
          <p:cNvSpPr txBox="1"/>
          <p:nvPr/>
        </p:nvSpPr>
        <p:spPr>
          <a:xfrm>
            <a:off x="6361109" y="4668143"/>
            <a:ext cx="5246963" cy="2381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600" b="1" i="0" strike="noStrike">
                <a:solidFill>
                  <a:srgbClr val="1A1A1A">
                    <a:alpha val="100000"/>
                  </a:srgbClr>
                </a:solidFill>
                <a:latin typeface="Source Han Serif CN" panose="02020400000000000000" charset="-122"/>
                <a:ea typeface="Source Han Serif CN" panose="02020400000000000000" charset="-122"/>
                <a:cs typeface="Source Han Serif CN" panose="02020400000000000000" charset="-122"/>
              </a:rPr>
              <a:t>常数</a:t>
            </a:r>
            <a:endParaRPr lang="en-US" sz="1100"/>
          </a:p>
        </p:txBody>
      </p:sp>
      <p:sp>
        <p:nvSpPr>
          <p:cNvPr id="32" name="TextBox 32"/>
          <p:cNvSpPr txBox="1"/>
          <p:nvPr/>
        </p:nvSpPr>
        <p:spPr>
          <a:xfrm>
            <a:off x="6361109" y="5043339"/>
            <a:ext cx="5446937" cy="3905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100" b="0" i="0" strike="noStrike">
                <a:solidFill>
                  <a:srgbClr val="1A1A1A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不随情形改变的固定数值，如一天 24 小时、光速 </a:t>
            </a:r>
            <a:r>
              <a:rPr sz="1100" b="1" i="0" strike="noStrike">
                <a:solidFill>
                  <a:srgbClr val="1A1A1A">
                    <a:alpha val="85098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c</a:t>
            </a:r>
            <a:r>
              <a:rPr sz="1100" b="0" i="0" strike="noStrike">
                <a:solidFill>
                  <a:srgbClr val="1A1A1A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、</a:t>
            </a:r>
            <a:r>
              <a:rPr sz="1100" b="1" i="0" strike="noStrike">
                <a:solidFill>
                  <a:srgbClr val="1A1A1A">
                    <a:alpha val="85098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π</a:t>
            </a:r>
            <a:r>
              <a:rPr sz="1100" b="0" i="0" strike="noStrike">
                <a:solidFill>
                  <a:srgbClr val="1A1A1A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 值，在模型中作为已知常量</a:t>
            </a:r>
            <a:endParaRPr lang="en-US" sz="1100"/>
          </a:p>
          <a:p>
            <a:pPr algn="l"/>
            <a:r>
              <a:rPr sz="1100" b="0" i="0" strike="noStrike">
                <a:solidFill>
                  <a:srgbClr val="1A1A1A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处理。常数为计算提供基准参照。</a:t>
            </a:r>
          </a:p>
        </p:txBody>
      </p:sp>
      <p:sp>
        <p:nvSpPr>
          <p:cNvPr id="33" name="AutoShape 33"/>
          <p:cNvSpPr/>
          <p:nvPr/>
        </p:nvSpPr>
        <p:spPr>
          <a:xfrm>
            <a:off x="6361109" y="5983634"/>
            <a:ext cx="5246963" cy="9525"/>
          </a:xfrm>
          <a:prstGeom prst="line">
            <a:avLst/>
          </a:prstGeom>
          <a:ln w="9525">
            <a:solidFill>
              <a:srgbClr val="D8D2C5">
                <a:alpha val="10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Box 34"/>
          <p:cNvSpPr txBox="1"/>
          <p:nvPr/>
        </p:nvSpPr>
        <p:spPr>
          <a:xfrm>
            <a:off x="6361109" y="6078884"/>
            <a:ext cx="5246963" cy="1905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300" b="1" i="0" strike="noStrike">
                <a:solidFill>
                  <a:srgbClr val="C23A2B">
                    <a:alpha val="100000"/>
                  </a:srgbClr>
                </a:solidFill>
                <a:latin typeface="Source Han Serif CN" panose="02020400000000000000" charset="-122"/>
                <a:ea typeface="Source Han Serif CN" panose="02020400000000000000" charset="-122"/>
                <a:cs typeface="Source Han Serif CN" panose="02020400000000000000" charset="-122"/>
              </a:rPr>
              <a:t>固定值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0DDD8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AutoShap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7F2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Box 4"/>
          <p:cNvSpPr txBox="1"/>
          <p:nvPr/>
        </p:nvSpPr>
        <p:spPr>
          <a:xfrm>
            <a:off x="457086" y="476250"/>
            <a:ext cx="11274781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1A1A1A">
                    <a:alpha val="50196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MODELING FRAMEWORK</a:t>
            </a:r>
            <a:endParaRPr lang="en-US" sz="1100"/>
          </a:p>
        </p:txBody>
      </p:sp>
      <p:sp>
        <p:nvSpPr>
          <p:cNvPr id="5" name="TextBox 5"/>
          <p:cNvSpPr txBox="1"/>
          <p:nvPr/>
        </p:nvSpPr>
        <p:spPr>
          <a:xfrm>
            <a:off x="457086" y="781050"/>
            <a:ext cx="11274781" cy="4381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3100" b="1" i="0" strike="noStrike">
                <a:solidFill>
                  <a:srgbClr val="1A1A1A">
                    <a:alpha val="100000"/>
                  </a:srgbClr>
                </a:solidFill>
                <a:latin typeface="Source Han Serif CN" panose="02020400000000000000" charset="-122"/>
                <a:ea typeface="Source Han Serif CN" panose="02020400000000000000" charset="-122"/>
                <a:cs typeface="Source Han Serif CN" panose="02020400000000000000" charset="-122"/>
              </a:rPr>
              <a:t>一个模型至少回答三个问题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57086" y="1394371"/>
            <a:ext cx="9522" cy="649486"/>
          </a:xfrm>
          <a:prstGeom prst="line">
            <a:avLst/>
          </a:prstGeom>
          <a:ln w="9525">
            <a:solidFill>
              <a:srgbClr val="2D5A8E">
                <a:alpha val="7803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Box 7"/>
          <p:cNvSpPr txBox="1"/>
          <p:nvPr/>
        </p:nvSpPr>
        <p:spPr>
          <a:xfrm>
            <a:off x="580880" y="1432471"/>
            <a:ext cx="11608072" cy="562868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600" b="0" i="1" strike="noStrike">
                <a:solidFill>
                  <a:srgbClr val="1A1A1A">
                    <a:alpha val="78039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任何数学模型都需要回答三个核心问题：What can I change（决策空间）、What can I measure（可观测数据）、What</a:t>
            </a:r>
            <a:endParaRPr lang="en-US" sz="1100"/>
          </a:p>
          <a:p>
            <a:pPr algn="l"/>
            <a:r>
              <a:rPr sz="1600" b="0" i="1" strike="noStrike">
                <a:solidFill>
                  <a:srgbClr val="1A1A1A">
                    <a:alpha val="78039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am I trying to optimize/predict（目标函数）。三者共同构成模型的骨架。</a:t>
            </a:r>
          </a:p>
        </p:txBody>
      </p:sp>
      <p:sp>
        <p:nvSpPr>
          <p:cNvPr id="8" name="AutoShape 8"/>
          <p:cNvSpPr/>
          <p:nvPr/>
        </p:nvSpPr>
        <p:spPr>
          <a:xfrm>
            <a:off x="457086" y="2234357"/>
            <a:ext cx="3580505" cy="4166443"/>
          </a:xfrm>
          <a:prstGeom prst="rect">
            <a:avLst/>
          </a:prstGeom>
          <a:solidFill>
            <a:srgbClr val="F1EDE5">
              <a:alpha val="100000"/>
            </a:srgbClr>
          </a:solidFill>
          <a:ln w="9525">
            <a:solidFill>
              <a:srgbClr val="D8D2C5">
                <a:alpha val="10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AutoShape 9"/>
          <p:cNvSpPr/>
          <p:nvPr/>
        </p:nvSpPr>
        <p:spPr>
          <a:xfrm>
            <a:off x="457086" y="2234357"/>
            <a:ext cx="3580505" cy="9525"/>
          </a:xfrm>
          <a:prstGeom prst="line">
            <a:avLst/>
          </a:prstGeom>
          <a:ln w="28575">
            <a:solidFill>
              <a:srgbClr val="2D5A8E">
                <a:alpha val="10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AutoShape 10"/>
          <p:cNvSpPr/>
          <p:nvPr/>
        </p:nvSpPr>
        <p:spPr>
          <a:xfrm>
            <a:off x="695151" y="2529632"/>
            <a:ext cx="418996" cy="41910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508" y="7583"/>
                </a:moveTo>
                <a:cubicBezTo>
                  <a:pt x="286" y="7203"/>
                  <a:pt x="117" y="6804"/>
                  <a:pt x="0" y="6384"/>
                </a:cubicBezTo>
                <a:cubicBezTo>
                  <a:pt x="256" y="6253"/>
                  <a:pt x="461" y="6064"/>
                  <a:pt x="617" y="5816"/>
                </a:cubicBezTo>
                <a:cubicBezTo>
                  <a:pt x="772" y="5568"/>
                  <a:pt x="850" y="5296"/>
                  <a:pt x="850" y="5000"/>
                </a:cubicBezTo>
                <a:cubicBezTo>
                  <a:pt x="850" y="4704"/>
                  <a:pt x="772" y="4432"/>
                  <a:pt x="617" y="4184"/>
                </a:cubicBezTo>
                <a:cubicBezTo>
                  <a:pt x="461" y="3936"/>
                  <a:pt x="256" y="3746"/>
                  <a:pt x="0" y="3616"/>
                </a:cubicBezTo>
                <a:cubicBezTo>
                  <a:pt x="242" y="2754"/>
                  <a:pt x="674" y="2007"/>
                  <a:pt x="1296" y="1374"/>
                </a:cubicBezTo>
                <a:cubicBezTo>
                  <a:pt x="1538" y="1532"/>
                  <a:pt x="1806" y="1617"/>
                  <a:pt x="2100" y="1627"/>
                </a:cubicBezTo>
                <a:cubicBezTo>
                  <a:pt x="2394" y="1637"/>
                  <a:pt x="2669" y="1568"/>
                  <a:pt x="2925" y="1420"/>
                </a:cubicBezTo>
                <a:cubicBezTo>
                  <a:pt x="3180" y="1272"/>
                  <a:pt x="3377" y="1069"/>
                  <a:pt x="3516" y="811"/>
                </a:cubicBezTo>
                <a:cubicBezTo>
                  <a:pt x="3654" y="553"/>
                  <a:pt x="3716" y="282"/>
                  <a:pt x="3703" y="0"/>
                </a:cubicBezTo>
                <a:cubicBezTo>
                  <a:pt x="4567" y="-227"/>
                  <a:pt x="5431" y="-227"/>
                  <a:pt x="6295" y="0"/>
                </a:cubicBezTo>
                <a:cubicBezTo>
                  <a:pt x="6281" y="282"/>
                  <a:pt x="6344" y="553"/>
                  <a:pt x="6482" y="811"/>
                </a:cubicBezTo>
                <a:cubicBezTo>
                  <a:pt x="6620" y="1069"/>
                  <a:pt x="6817" y="1272"/>
                  <a:pt x="7073" y="1420"/>
                </a:cubicBezTo>
                <a:cubicBezTo>
                  <a:pt x="7329" y="1568"/>
                  <a:pt x="7604" y="1637"/>
                  <a:pt x="7898" y="1627"/>
                </a:cubicBezTo>
                <a:cubicBezTo>
                  <a:pt x="8192" y="1617"/>
                  <a:pt x="8460" y="1532"/>
                  <a:pt x="8702" y="1374"/>
                </a:cubicBezTo>
                <a:cubicBezTo>
                  <a:pt x="9006" y="1690"/>
                  <a:pt x="9268" y="2038"/>
                  <a:pt x="9490" y="2417"/>
                </a:cubicBezTo>
                <a:cubicBezTo>
                  <a:pt x="9711" y="2796"/>
                  <a:pt x="9880" y="3196"/>
                  <a:pt x="9998" y="3616"/>
                </a:cubicBezTo>
                <a:cubicBezTo>
                  <a:pt x="9742" y="3746"/>
                  <a:pt x="9536" y="3936"/>
                  <a:pt x="9381" y="4184"/>
                </a:cubicBezTo>
                <a:cubicBezTo>
                  <a:pt x="9225" y="4432"/>
                  <a:pt x="9148" y="4704"/>
                  <a:pt x="9148" y="5000"/>
                </a:cubicBezTo>
                <a:cubicBezTo>
                  <a:pt x="9148" y="5296"/>
                  <a:pt x="9225" y="5568"/>
                  <a:pt x="9381" y="5816"/>
                </a:cubicBezTo>
                <a:cubicBezTo>
                  <a:pt x="9536" y="6064"/>
                  <a:pt x="9742" y="6253"/>
                  <a:pt x="9998" y="6384"/>
                </a:cubicBezTo>
                <a:cubicBezTo>
                  <a:pt x="9756" y="7245"/>
                  <a:pt x="9324" y="7992"/>
                  <a:pt x="8702" y="8626"/>
                </a:cubicBezTo>
                <a:cubicBezTo>
                  <a:pt x="8460" y="8467"/>
                  <a:pt x="8192" y="8383"/>
                  <a:pt x="7898" y="8373"/>
                </a:cubicBezTo>
                <a:cubicBezTo>
                  <a:pt x="7604" y="8362"/>
                  <a:pt x="7329" y="8431"/>
                  <a:pt x="7073" y="8580"/>
                </a:cubicBezTo>
                <a:cubicBezTo>
                  <a:pt x="6817" y="8728"/>
                  <a:pt x="6620" y="8931"/>
                  <a:pt x="6482" y="9189"/>
                </a:cubicBezTo>
                <a:cubicBezTo>
                  <a:pt x="6344" y="9447"/>
                  <a:pt x="6281" y="9717"/>
                  <a:pt x="6295" y="10000"/>
                </a:cubicBezTo>
                <a:cubicBezTo>
                  <a:pt x="5431" y="10227"/>
                  <a:pt x="4567" y="10227"/>
                  <a:pt x="3703" y="10000"/>
                </a:cubicBezTo>
                <a:cubicBezTo>
                  <a:pt x="3716" y="9717"/>
                  <a:pt x="3654" y="9447"/>
                  <a:pt x="3516" y="9189"/>
                </a:cubicBezTo>
                <a:cubicBezTo>
                  <a:pt x="3377" y="8931"/>
                  <a:pt x="3180" y="8728"/>
                  <a:pt x="2925" y="8580"/>
                </a:cubicBezTo>
                <a:cubicBezTo>
                  <a:pt x="2669" y="8431"/>
                  <a:pt x="2394" y="8362"/>
                  <a:pt x="2100" y="8373"/>
                </a:cubicBezTo>
                <a:cubicBezTo>
                  <a:pt x="1806" y="8383"/>
                  <a:pt x="1538" y="8467"/>
                  <a:pt x="1296" y="8626"/>
                </a:cubicBezTo>
                <a:cubicBezTo>
                  <a:pt x="992" y="8309"/>
                  <a:pt x="729" y="7961"/>
                  <a:pt x="508" y="7583"/>
                </a:cubicBezTo>
                <a:moveTo>
                  <a:pt x="3443" y="7686"/>
                </a:moveTo>
                <a:cubicBezTo>
                  <a:pt x="3719" y="7844"/>
                  <a:pt x="3958" y="8047"/>
                  <a:pt x="4159" y="8295"/>
                </a:cubicBezTo>
                <a:cubicBezTo>
                  <a:pt x="4359" y="8543"/>
                  <a:pt x="4511" y="8815"/>
                  <a:pt x="4615" y="9112"/>
                </a:cubicBezTo>
                <a:cubicBezTo>
                  <a:pt x="4871" y="9139"/>
                  <a:pt x="5127" y="9139"/>
                  <a:pt x="5383" y="9112"/>
                </a:cubicBezTo>
                <a:cubicBezTo>
                  <a:pt x="5486" y="8815"/>
                  <a:pt x="5636" y="8543"/>
                  <a:pt x="5834" y="8295"/>
                </a:cubicBezTo>
                <a:cubicBezTo>
                  <a:pt x="6030" y="8047"/>
                  <a:pt x="6269" y="7843"/>
                  <a:pt x="6550" y="7681"/>
                </a:cubicBezTo>
                <a:cubicBezTo>
                  <a:pt x="6830" y="7519"/>
                  <a:pt x="7129" y="7414"/>
                  <a:pt x="7447" y="7366"/>
                </a:cubicBezTo>
                <a:cubicBezTo>
                  <a:pt x="7765" y="7317"/>
                  <a:pt x="8076" y="7327"/>
                  <a:pt x="8380" y="7397"/>
                </a:cubicBezTo>
                <a:cubicBezTo>
                  <a:pt x="8532" y="7183"/>
                  <a:pt x="8663" y="6959"/>
                  <a:pt x="8774" y="6725"/>
                </a:cubicBezTo>
                <a:cubicBezTo>
                  <a:pt x="8560" y="6491"/>
                  <a:pt x="8396" y="6226"/>
                  <a:pt x="8282" y="5930"/>
                </a:cubicBezTo>
                <a:cubicBezTo>
                  <a:pt x="8167" y="5634"/>
                  <a:pt x="8110" y="5324"/>
                  <a:pt x="8110" y="5000"/>
                </a:cubicBezTo>
                <a:cubicBezTo>
                  <a:pt x="8110" y="4676"/>
                  <a:pt x="8167" y="4366"/>
                  <a:pt x="8282" y="4070"/>
                </a:cubicBezTo>
                <a:cubicBezTo>
                  <a:pt x="8396" y="3774"/>
                  <a:pt x="8560" y="3509"/>
                  <a:pt x="8774" y="3275"/>
                </a:cubicBezTo>
                <a:cubicBezTo>
                  <a:pt x="8718" y="3157"/>
                  <a:pt x="8658" y="3044"/>
                  <a:pt x="8593" y="2934"/>
                </a:cubicBezTo>
                <a:cubicBezTo>
                  <a:pt x="8527" y="2824"/>
                  <a:pt x="8456" y="2713"/>
                  <a:pt x="8380" y="2603"/>
                </a:cubicBezTo>
                <a:cubicBezTo>
                  <a:pt x="8076" y="2672"/>
                  <a:pt x="7765" y="2682"/>
                  <a:pt x="7447" y="2634"/>
                </a:cubicBezTo>
                <a:cubicBezTo>
                  <a:pt x="7129" y="2586"/>
                  <a:pt x="6831" y="2481"/>
                  <a:pt x="6555" y="2319"/>
                </a:cubicBezTo>
                <a:cubicBezTo>
                  <a:pt x="6278" y="2157"/>
                  <a:pt x="6039" y="1952"/>
                  <a:pt x="5839" y="1705"/>
                </a:cubicBezTo>
                <a:cubicBezTo>
                  <a:pt x="5638" y="1457"/>
                  <a:pt x="5486" y="1184"/>
                  <a:pt x="5383" y="888"/>
                </a:cubicBezTo>
                <a:cubicBezTo>
                  <a:pt x="5127" y="860"/>
                  <a:pt x="4871" y="860"/>
                  <a:pt x="4615" y="888"/>
                </a:cubicBezTo>
                <a:cubicBezTo>
                  <a:pt x="4511" y="1184"/>
                  <a:pt x="4361" y="1457"/>
                  <a:pt x="4164" y="1705"/>
                </a:cubicBezTo>
                <a:cubicBezTo>
                  <a:pt x="3967" y="1952"/>
                  <a:pt x="3727" y="2157"/>
                  <a:pt x="3443" y="2319"/>
                </a:cubicBezTo>
                <a:cubicBezTo>
                  <a:pt x="3159" y="2481"/>
                  <a:pt x="2860" y="2586"/>
                  <a:pt x="2546" y="2634"/>
                </a:cubicBezTo>
                <a:cubicBezTo>
                  <a:pt x="2231" y="2682"/>
                  <a:pt x="1922" y="2672"/>
                  <a:pt x="1618" y="2603"/>
                </a:cubicBezTo>
                <a:cubicBezTo>
                  <a:pt x="1466" y="2817"/>
                  <a:pt x="1334" y="3041"/>
                  <a:pt x="1224" y="3275"/>
                </a:cubicBezTo>
                <a:cubicBezTo>
                  <a:pt x="1438" y="3509"/>
                  <a:pt x="1602" y="3774"/>
                  <a:pt x="1716" y="4070"/>
                </a:cubicBezTo>
                <a:cubicBezTo>
                  <a:pt x="1830" y="4366"/>
                  <a:pt x="1888" y="4676"/>
                  <a:pt x="1888" y="5000"/>
                </a:cubicBezTo>
                <a:cubicBezTo>
                  <a:pt x="1888" y="5324"/>
                  <a:pt x="1830" y="5634"/>
                  <a:pt x="1716" y="5930"/>
                </a:cubicBezTo>
                <a:cubicBezTo>
                  <a:pt x="1602" y="6226"/>
                  <a:pt x="1438" y="6491"/>
                  <a:pt x="1224" y="6725"/>
                </a:cubicBezTo>
                <a:cubicBezTo>
                  <a:pt x="1279" y="6842"/>
                  <a:pt x="1339" y="6956"/>
                  <a:pt x="1405" y="7066"/>
                </a:cubicBezTo>
                <a:cubicBezTo>
                  <a:pt x="1471" y="7176"/>
                  <a:pt x="1542" y="7286"/>
                  <a:pt x="1618" y="7397"/>
                </a:cubicBezTo>
                <a:cubicBezTo>
                  <a:pt x="1922" y="7327"/>
                  <a:pt x="2233" y="7317"/>
                  <a:pt x="2551" y="7366"/>
                </a:cubicBezTo>
                <a:cubicBezTo>
                  <a:pt x="2869" y="7414"/>
                  <a:pt x="3166" y="7520"/>
                  <a:pt x="3443" y="7686"/>
                </a:cubicBezTo>
                <a:moveTo>
                  <a:pt x="4999" y="6550"/>
                </a:moveTo>
                <a:cubicBezTo>
                  <a:pt x="4715" y="6550"/>
                  <a:pt x="4454" y="6481"/>
                  <a:pt x="4216" y="6343"/>
                </a:cubicBezTo>
                <a:cubicBezTo>
                  <a:pt x="3977" y="6205"/>
                  <a:pt x="3789" y="6017"/>
                  <a:pt x="3651" y="5780"/>
                </a:cubicBezTo>
                <a:cubicBezTo>
                  <a:pt x="3512" y="5542"/>
                  <a:pt x="3443" y="5282"/>
                  <a:pt x="3443" y="5000"/>
                </a:cubicBezTo>
                <a:cubicBezTo>
                  <a:pt x="3443" y="4717"/>
                  <a:pt x="3512" y="4457"/>
                  <a:pt x="3651" y="4220"/>
                </a:cubicBezTo>
                <a:cubicBezTo>
                  <a:pt x="3789" y="3982"/>
                  <a:pt x="3977" y="3795"/>
                  <a:pt x="4216" y="3657"/>
                </a:cubicBezTo>
                <a:cubicBezTo>
                  <a:pt x="4454" y="3519"/>
                  <a:pt x="4715" y="3450"/>
                  <a:pt x="4999" y="3450"/>
                </a:cubicBezTo>
                <a:cubicBezTo>
                  <a:pt x="5282" y="3450"/>
                  <a:pt x="5543" y="3519"/>
                  <a:pt x="5782" y="3657"/>
                </a:cubicBezTo>
                <a:cubicBezTo>
                  <a:pt x="6020" y="3795"/>
                  <a:pt x="6209" y="3982"/>
                  <a:pt x="6347" y="4220"/>
                </a:cubicBezTo>
                <a:cubicBezTo>
                  <a:pt x="6485" y="4457"/>
                  <a:pt x="6555" y="4717"/>
                  <a:pt x="6555" y="5000"/>
                </a:cubicBezTo>
                <a:cubicBezTo>
                  <a:pt x="6555" y="5282"/>
                  <a:pt x="6485" y="5542"/>
                  <a:pt x="6347" y="5780"/>
                </a:cubicBezTo>
                <a:cubicBezTo>
                  <a:pt x="6209" y="6017"/>
                  <a:pt x="6020" y="6205"/>
                  <a:pt x="5782" y="6343"/>
                </a:cubicBezTo>
                <a:cubicBezTo>
                  <a:pt x="5543" y="6481"/>
                  <a:pt x="5282" y="6550"/>
                  <a:pt x="4999" y="6550"/>
                </a:cubicBezTo>
                <a:moveTo>
                  <a:pt x="4999" y="5517"/>
                </a:moveTo>
                <a:cubicBezTo>
                  <a:pt x="5144" y="5517"/>
                  <a:pt x="5267" y="5467"/>
                  <a:pt x="5367" y="5367"/>
                </a:cubicBezTo>
                <a:cubicBezTo>
                  <a:pt x="5467" y="5267"/>
                  <a:pt x="5518" y="5144"/>
                  <a:pt x="5518" y="5000"/>
                </a:cubicBezTo>
                <a:cubicBezTo>
                  <a:pt x="5518" y="4855"/>
                  <a:pt x="5467" y="4733"/>
                  <a:pt x="5367" y="4633"/>
                </a:cubicBezTo>
                <a:cubicBezTo>
                  <a:pt x="5267" y="4533"/>
                  <a:pt x="5144" y="4483"/>
                  <a:pt x="4999" y="4483"/>
                </a:cubicBezTo>
                <a:cubicBezTo>
                  <a:pt x="4853" y="4483"/>
                  <a:pt x="4731" y="4533"/>
                  <a:pt x="4631" y="4633"/>
                </a:cubicBezTo>
                <a:cubicBezTo>
                  <a:pt x="4530" y="4733"/>
                  <a:pt x="4480" y="4855"/>
                  <a:pt x="4480" y="5000"/>
                </a:cubicBezTo>
                <a:cubicBezTo>
                  <a:pt x="4480" y="5144"/>
                  <a:pt x="4530" y="5267"/>
                  <a:pt x="4631" y="5367"/>
                </a:cubicBezTo>
                <a:cubicBezTo>
                  <a:pt x="4731" y="5467"/>
                  <a:pt x="4853" y="5517"/>
                  <a:pt x="4999" y="5517"/>
                </a:cubicBezTo>
              </a:path>
            </a:pathLst>
          </a:custGeom>
          <a:solidFill>
            <a:srgbClr val="2D5A8E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Box 11"/>
          <p:cNvSpPr txBox="1"/>
          <p:nvPr/>
        </p:nvSpPr>
        <p:spPr>
          <a:xfrm>
            <a:off x="695151" y="3604765"/>
            <a:ext cx="3104374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1A1A1A">
                    <a:alpha val="50196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DECISION SPACE</a:t>
            </a:r>
            <a:endParaRPr lang="en-US" sz="1100"/>
          </a:p>
        </p:txBody>
      </p:sp>
      <p:sp>
        <p:nvSpPr>
          <p:cNvPr id="12" name="TextBox 12"/>
          <p:cNvSpPr txBox="1"/>
          <p:nvPr/>
        </p:nvSpPr>
        <p:spPr>
          <a:xfrm>
            <a:off x="695151" y="3861940"/>
            <a:ext cx="3104374" cy="2762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900" b="1" i="0" strike="noStrike">
                <a:solidFill>
                  <a:srgbClr val="1A1A1A">
                    <a:alpha val="100000"/>
                  </a:srgbClr>
                </a:solidFill>
                <a:latin typeface="Source Han Serif CN" panose="02020400000000000000" charset="-122"/>
                <a:ea typeface="Source Han Serif CN" panose="02020400000000000000" charset="-122"/>
                <a:cs typeface="Source Han Serif CN" panose="02020400000000000000" charset="-122"/>
              </a:rPr>
              <a:t>Q1: 我能控制什么？</a:t>
            </a:r>
            <a:endParaRPr lang="en-US" sz="1100"/>
          </a:p>
        </p:txBody>
      </p:sp>
      <p:sp>
        <p:nvSpPr>
          <p:cNvPr id="13" name="TextBox 13"/>
          <p:cNvSpPr txBox="1"/>
          <p:nvPr/>
        </p:nvSpPr>
        <p:spPr>
          <a:xfrm>
            <a:off x="695151" y="4342953"/>
            <a:ext cx="3342439" cy="679846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200" b="0" i="0" strike="noStrike">
                <a:solidFill>
                  <a:srgbClr val="1A1A1A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界定决策空间：明确可控的调节手段与约束边</a:t>
            </a:r>
            <a:endParaRPr lang="en-US" sz="1100"/>
          </a:p>
          <a:p>
            <a:pPr algn="l"/>
            <a:r>
              <a:rPr sz="1200" b="0" i="0" strike="noStrike">
                <a:solidFill>
                  <a:srgbClr val="1A1A1A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界，如食堂窗口数 k 的取值范围为 1 到 10，</a:t>
            </a:r>
          </a:p>
          <a:p>
            <a:pPr algn="l"/>
            <a:r>
              <a:rPr sz="1200" b="0" i="0" strike="noStrike">
                <a:solidFill>
                  <a:srgbClr val="1A1A1A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这是模型中唯一能主动改变的量。</a:t>
            </a:r>
          </a:p>
        </p:txBody>
      </p:sp>
      <p:sp>
        <p:nvSpPr>
          <p:cNvPr id="14" name="AutoShape 14"/>
          <p:cNvSpPr/>
          <p:nvPr/>
        </p:nvSpPr>
        <p:spPr>
          <a:xfrm>
            <a:off x="695151" y="5709196"/>
            <a:ext cx="3104374" cy="9525"/>
          </a:xfrm>
          <a:prstGeom prst="line">
            <a:avLst/>
          </a:prstGeom>
          <a:ln w="9525">
            <a:solidFill>
              <a:srgbClr val="D8D2C5">
                <a:alpha val="10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Box 15"/>
          <p:cNvSpPr txBox="1"/>
          <p:nvPr/>
        </p:nvSpPr>
        <p:spPr>
          <a:xfrm>
            <a:off x="695151" y="5842546"/>
            <a:ext cx="3104374" cy="2762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900" b="0" i="0" strike="noStrike">
                <a:solidFill>
                  <a:srgbClr val="2D5A8E">
                    <a:alpha val="100000"/>
                  </a:srgbClr>
                </a:solidFill>
                <a:latin typeface="Source Han Serif CN" panose="02020400000000000000" charset="-122"/>
                <a:ea typeface="Source Han Serif CN" panose="02020400000000000000" charset="-122"/>
                <a:cs typeface="Source Han Serif CN" panose="02020400000000000000" charset="-122"/>
              </a:rPr>
              <a:t>k ∈ [1, 10]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4304223" y="2234357"/>
            <a:ext cx="3580505" cy="4166443"/>
          </a:xfrm>
          <a:prstGeom prst="rect">
            <a:avLst/>
          </a:prstGeom>
          <a:solidFill>
            <a:srgbClr val="F1EDE5">
              <a:alpha val="100000"/>
            </a:srgbClr>
          </a:solidFill>
          <a:ln w="9525">
            <a:solidFill>
              <a:srgbClr val="D8D2C5">
                <a:alpha val="10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AutoShape 17"/>
          <p:cNvSpPr/>
          <p:nvPr/>
        </p:nvSpPr>
        <p:spPr>
          <a:xfrm>
            <a:off x="4304223" y="2234357"/>
            <a:ext cx="3580505" cy="9525"/>
          </a:xfrm>
          <a:prstGeom prst="line">
            <a:avLst/>
          </a:prstGeom>
          <a:ln w="28575">
            <a:solidFill>
              <a:srgbClr val="2D5A8E">
                <a:alpha val="10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AutoShape 18"/>
          <p:cNvSpPr/>
          <p:nvPr/>
        </p:nvSpPr>
        <p:spPr>
          <a:xfrm>
            <a:off x="4542290" y="2529632"/>
            <a:ext cx="418996" cy="41910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500" y="0"/>
                </a:moveTo>
                <a:lnTo>
                  <a:pt x="9498" y="0"/>
                </a:lnTo>
                <a:cubicBezTo>
                  <a:pt x="9638" y="0"/>
                  <a:pt x="9756" y="53"/>
                  <a:pt x="9853" y="161"/>
                </a:cubicBezTo>
                <a:cubicBezTo>
                  <a:pt x="9949" y="268"/>
                  <a:pt x="9998" y="400"/>
                  <a:pt x="9998" y="556"/>
                </a:cubicBezTo>
                <a:lnTo>
                  <a:pt x="9998" y="9444"/>
                </a:lnTo>
                <a:cubicBezTo>
                  <a:pt x="9998" y="9600"/>
                  <a:pt x="9949" y="9731"/>
                  <a:pt x="9853" y="9839"/>
                </a:cubicBezTo>
                <a:cubicBezTo>
                  <a:pt x="9756" y="9946"/>
                  <a:pt x="9638" y="10000"/>
                  <a:pt x="9498" y="10000"/>
                </a:cubicBezTo>
                <a:lnTo>
                  <a:pt x="500" y="10000"/>
                </a:lnTo>
                <a:cubicBezTo>
                  <a:pt x="360" y="10000"/>
                  <a:pt x="241" y="9946"/>
                  <a:pt x="145" y="9839"/>
                </a:cubicBezTo>
                <a:cubicBezTo>
                  <a:pt x="48" y="9731"/>
                  <a:pt x="0" y="9600"/>
                  <a:pt x="0" y="9444"/>
                </a:cubicBezTo>
                <a:lnTo>
                  <a:pt x="0" y="556"/>
                </a:lnTo>
                <a:cubicBezTo>
                  <a:pt x="0" y="400"/>
                  <a:pt x="48" y="268"/>
                  <a:pt x="145" y="161"/>
                </a:cubicBezTo>
                <a:cubicBezTo>
                  <a:pt x="241" y="53"/>
                  <a:pt x="360" y="0"/>
                  <a:pt x="500" y="0"/>
                </a:cubicBezTo>
                <a:moveTo>
                  <a:pt x="8998" y="1111"/>
                </a:moveTo>
                <a:lnTo>
                  <a:pt x="1000" y="1111"/>
                </a:lnTo>
                <a:lnTo>
                  <a:pt x="1000" y="8889"/>
                </a:lnTo>
                <a:lnTo>
                  <a:pt x="8998" y="8889"/>
                </a:lnTo>
                <a:lnTo>
                  <a:pt x="8998" y="1111"/>
                </a:lnTo>
                <a:moveTo>
                  <a:pt x="2500" y="7778"/>
                </a:moveTo>
                <a:lnTo>
                  <a:pt x="2500" y="5556"/>
                </a:lnTo>
                <a:lnTo>
                  <a:pt x="3499" y="5556"/>
                </a:lnTo>
                <a:lnTo>
                  <a:pt x="3499" y="7778"/>
                </a:lnTo>
                <a:lnTo>
                  <a:pt x="2500" y="7778"/>
                </a:lnTo>
                <a:moveTo>
                  <a:pt x="4499" y="7778"/>
                </a:moveTo>
                <a:lnTo>
                  <a:pt x="4499" y="2222"/>
                </a:lnTo>
                <a:lnTo>
                  <a:pt x="5499" y="2222"/>
                </a:lnTo>
                <a:lnTo>
                  <a:pt x="5499" y="7778"/>
                </a:lnTo>
                <a:lnTo>
                  <a:pt x="4499" y="7778"/>
                </a:lnTo>
                <a:moveTo>
                  <a:pt x="6499" y="7778"/>
                </a:moveTo>
                <a:lnTo>
                  <a:pt x="6499" y="3889"/>
                </a:lnTo>
                <a:lnTo>
                  <a:pt x="7499" y="3889"/>
                </a:lnTo>
                <a:lnTo>
                  <a:pt x="7499" y="7778"/>
                </a:lnTo>
              </a:path>
            </a:pathLst>
          </a:custGeom>
          <a:solidFill>
            <a:srgbClr val="2D5A8E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Box 19"/>
          <p:cNvSpPr txBox="1"/>
          <p:nvPr/>
        </p:nvSpPr>
        <p:spPr>
          <a:xfrm>
            <a:off x="4542290" y="3604765"/>
            <a:ext cx="3104374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1A1A1A">
                    <a:alpha val="50196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OBSERVABLE DATA</a:t>
            </a:r>
            <a:endParaRPr lang="en-US" sz="1100"/>
          </a:p>
        </p:txBody>
      </p:sp>
      <p:sp>
        <p:nvSpPr>
          <p:cNvPr id="20" name="TextBox 20"/>
          <p:cNvSpPr txBox="1"/>
          <p:nvPr/>
        </p:nvSpPr>
        <p:spPr>
          <a:xfrm>
            <a:off x="4542290" y="3861940"/>
            <a:ext cx="3104374" cy="2762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900" b="1" i="0" strike="noStrike">
                <a:solidFill>
                  <a:srgbClr val="1A1A1A">
                    <a:alpha val="100000"/>
                  </a:srgbClr>
                </a:solidFill>
                <a:latin typeface="Source Han Serif CN" panose="02020400000000000000" charset="-122"/>
                <a:ea typeface="Source Han Serif CN" panose="02020400000000000000" charset="-122"/>
                <a:cs typeface="Source Han Serif CN" panose="02020400000000000000" charset="-122"/>
              </a:rPr>
              <a:t>Q2: 我能观察什么？</a:t>
            </a:r>
            <a:endParaRPr lang="en-US" sz="1100"/>
          </a:p>
        </p:txBody>
      </p:sp>
      <p:sp>
        <p:nvSpPr>
          <p:cNvPr id="21" name="TextBox 21"/>
          <p:cNvSpPr txBox="1"/>
          <p:nvPr/>
        </p:nvSpPr>
        <p:spPr>
          <a:xfrm>
            <a:off x="4542290" y="4342953"/>
            <a:ext cx="3342439" cy="679846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200" b="0" i="0" strike="noStrike">
                <a:solidFill>
                  <a:srgbClr val="1A1A1A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确定数据来源：识别可观测的状态变量与参</a:t>
            </a:r>
            <a:endParaRPr lang="en-US" sz="1100"/>
          </a:p>
          <a:p>
            <a:pPr algn="l"/>
            <a:r>
              <a:rPr sz="1200" b="0" i="0" strike="noStrike">
                <a:solidFill>
                  <a:srgbClr val="1A1A1A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数，如每分钟到达人数 λ 可通过实地计数获</a:t>
            </a:r>
          </a:p>
          <a:p>
            <a:pPr algn="l"/>
            <a:r>
              <a:rPr sz="1200" b="0" i="0" strike="noStrike">
                <a:solidFill>
                  <a:srgbClr val="1A1A1A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得，排队长度 N(t) 可通过定时记录追踪。</a:t>
            </a:r>
          </a:p>
        </p:txBody>
      </p:sp>
      <p:sp>
        <p:nvSpPr>
          <p:cNvPr id="22" name="AutoShape 22"/>
          <p:cNvSpPr/>
          <p:nvPr/>
        </p:nvSpPr>
        <p:spPr>
          <a:xfrm>
            <a:off x="4542290" y="5709196"/>
            <a:ext cx="3104374" cy="9525"/>
          </a:xfrm>
          <a:prstGeom prst="line">
            <a:avLst/>
          </a:prstGeom>
          <a:ln w="9525">
            <a:solidFill>
              <a:srgbClr val="D8D2C5">
                <a:alpha val="10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Box 23"/>
          <p:cNvSpPr txBox="1"/>
          <p:nvPr/>
        </p:nvSpPr>
        <p:spPr>
          <a:xfrm>
            <a:off x="4542290" y="5842546"/>
            <a:ext cx="3104374" cy="2762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900" b="0" i="0" strike="noStrike">
                <a:solidFill>
                  <a:srgbClr val="2D5A8E">
                    <a:alpha val="100000"/>
                  </a:srgbClr>
                </a:solidFill>
                <a:latin typeface="Source Han Serif CN" panose="02020400000000000000" charset="-122"/>
                <a:ea typeface="Source Han Serif CN" panose="02020400000000000000" charset="-122"/>
                <a:cs typeface="Source Han Serif CN" panose="02020400000000000000" charset="-122"/>
              </a:rPr>
              <a:t>λ · N(t)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8151362" y="2234357"/>
            <a:ext cx="3580505" cy="4166443"/>
          </a:xfrm>
          <a:prstGeom prst="rect">
            <a:avLst/>
          </a:prstGeom>
          <a:solidFill>
            <a:srgbClr val="F1EDE5">
              <a:alpha val="100000"/>
            </a:srgbClr>
          </a:solidFill>
          <a:ln w="9525">
            <a:solidFill>
              <a:srgbClr val="D8D2C5">
                <a:alpha val="10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AutoShape 25"/>
          <p:cNvSpPr/>
          <p:nvPr/>
        </p:nvSpPr>
        <p:spPr>
          <a:xfrm>
            <a:off x="8151362" y="2234357"/>
            <a:ext cx="3580505" cy="9525"/>
          </a:xfrm>
          <a:prstGeom prst="line">
            <a:avLst/>
          </a:prstGeom>
          <a:ln w="28575">
            <a:solidFill>
              <a:srgbClr val="2D5A8E">
                <a:alpha val="10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AutoShape 26"/>
          <p:cNvSpPr/>
          <p:nvPr/>
        </p:nvSpPr>
        <p:spPr>
          <a:xfrm>
            <a:off x="8389427" y="2529632"/>
            <a:ext cx="418996" cy="41910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4545" y="0"/>
                </a:moveTo>
                <a:lnTo>
                  <a:pt x="5453" y="0"/>
                </a:lnTo>
                <a:lnTo>
                  <a:pt x="5453" y="1391"/>
                </a:lnTo>
                <a:cubicBezTo>
                  <a:pt x="5992" y="1457"/>
                  <a:pt x="6491" y="1636"/>
                  <a:pt x="6949" y="1927"/>
                </a:cubicBezTo>
                <a:cubicBezTo>
                  <a:pt x="7406" y="2218"/>
                  <a:pt x="7780" y="2592"/>
                  <a:pt x="8071" y="3050"/>
                </a:cubicBezTo>
                <a:cubicBezTo>
                  <a:pt x="8361" y="3507"/>
                  <a:pt x="8540" y="4005"/>
                  <a:pt x="8607" y="4545"/>
                </a:cubicBezTo>
                <a:lnTo>
                  <a:pt x="9998" y="4545"/>
                </a:lnTo>
                <a:lnTo>
                  <a:pt x="9998" y="5455"/>
                </a:lnTo>
                <a:lnTo>
                  <a:pt x="8607" y="5455"/>
                </a:lnTo>
                <a:cubicBezTo>
                  <a:pt x="8540" y="5994"/>
                  <a:pt x="8361" y="6492"/>
                  <a:pt x="8071" y="6950"/>
                </a:cubicBezTo>
                <a:cubicBezTo>
                  <a:pt x="7780" y="7407"/>
                  <a:pt x="7406" y="7781"/>
                  <a:pt x="6949" y="8073"/>
                </a:cubicBezTo>
                <a:cubicBezTo>
                  <a:pt x="6491" y="8363"/>
                  <a:pt x="5992" y="8542"/>
                  <a:pt x="5453" y="8609"/>
                </a:cubicBezTo>
                <a:lnTo>
                  <a:pt x="5453" y="10000"/>
                </a:lnTo>
                <a:lnTo>
                  <a:pt x="4545" y="10000"/>
                </a:lnTo>
                <a:lnTo>
                  <a:pt x="4545" y="8609"/>
                </a:lnTo>
                <a:cubicBezTo>
                  <a:pt x="4005" y="8542"/>
                  <a:pt x="3507" y="8363"/>
                  <a:pt x="3049" y="8073"/>
                </a:cubicBezTo>
                <a:cubicBezTo>
                  <a:pt x="2591" y="7781"/>
                  <a:pt x="2217" y="7407"/>
                  <a:pt x="1927" y="6950"/>
                </a:cubicBezTo>
                <a:cubicBezTo>
                  <a:pt x="1636" y="6492"/>
                  <a:pt x="1457" y="5994"/>
                  <a:pt x="1391" y="5455"/>
                </a:cubicBezTo>
                <a:lnTo>
                  <a:pt x="0" y="5455"/>
                </a:lnTo>
                <a:lnTo>
                  <a:pt x="0" y="4545"/>
                </a:lnTo>
                <a:lnTo>
                  <a:pt x="1391" y="4545"/>
                </a:lnTo>
                <a:cubicBezTo>
                  <a:pt x="1457" y="4005"/>
                  <a:pt x="1636" y="3507"/>
                  <a:pt x="1927" y="3050"/>
                </a:cubicBezTo>
                <a:cubicBezTo>
                  <a:pt x="2217" y="2592"/>
                  <a:pt x="2591" y="2218"/>
                  <a:pt x="3049" y="1927"/>
                </a:cubicBezTo>
                <a:cubicBezTo>
                  <a:pt x="3507" y="1636"/>
                  <a:pt x="4005" y="1457"/>
                  <a:pt x="4545" y="1391"/>
                </a:cubicBezTo>
                <a:lnTo>
                  <a:pt x="4545" y="0"/>
                </a:lnTo>
                <a:moveTo>
                  <a:pt x="4999" y="2273"/>
                </a:moveTo>
                <a:cubicBezTo>
                  <a:pt x="4508" y="2273"/>
                  <a:pt x="4051" y="2397"/>
                  <a:pt x="3627" y="2645"/>
                </a:cubicBezTo>
                <a:cubicBezTo>
                  <a:pt x="3214" y="2887"/>
                  <a:pt x="2887" y="3215"/>
                  <a:pt x="2645" y="3627"/>
                </a:cubicBezTo>
                <a:cubicBezTo>
                  <a:pt x="2396" y="4051"/>
                  <a:pt x="2272" y="4509"/>
                  <a:pt x="2272" y="5000"/>
                </a:cubicBezTo>
                <a:cubicBezTo>
                  <a:pt x="2272" y="5490"/>
                  <a:pt x="2396" y="5948"/>
                  <a:pt x="2645" y="6373"/>
                </a:cubicBezTo>
                <a:cubicBezTo>
                  <a:pt x="2887" y="6785"/>
                  <a:pt x="3214" y="7112"/>
                  <a:pt x="3627" y="7355"/>
                </a:cubicBezTo>
                <a:cubicBezTo>
                  <a:pt x="4051" y="7603"/>
                  <a:pt x="4508" y="7727"/>
                  <a:pt x="4999" y="7727"/>
                </a:cubicBezTo>
                <a:cubicBezTo>
                  <a:pt x="5489" y="7727"/>
                  <a:pt x="5947" y="7603"/>
                  <a:pt x="6371" y="7355"/>
                </a:cubicBezTo>
                <a:cubicBezTo>
                  <a:pt x="6783" y="7112"/>
                  <a:pt x="7111" y="6785"/>
                  <a:pt x="7353" y="6373"/>
                </a:cubicBezTo>
                <a:cubicBezTo>
                  <a:pt x="7601" y="5948"/>
                  <a:pt x="7726" y="5490"/>
                  <a:pt x="7726" y="5000"/>
                </a:cubicBezTo>
                <a:cubicBezTo>
                  <a:pt x="7726" y="4509"/>
                  <a:pt x="7601" y="4051"/>
                  <a:pt x="7353" y="3627"/>
                </a:cubicBezTo>
                <a:cubicBezTo>
                  <a:pt x="7111" y="3215"/>
                  <a:pt x="6783" y="2887"/>
                  <a:pt x="6371" y="2645"/>
                </a:cubicBezTo>
                <a:cubicBezTo>
                  <a:pt x="5947" y="2397"/>
                  <a:pt x="5489" y="2273"/>
                  <a:pt x="4999" y="2273"/>
                </a:cubicBezTo>
                <a:moveTo>
                  <a:pt x="4999" y="4091"/>
                </a:moveTo>
                <a:cubicBezTo>
                  <a:pt x="5162" y="4091"/>
                  <a:pt x="5313" y="4132"/>
                  <a:pt x="5453" y="4214"/>
                </a:cubicBezTo>
                <a:cubicBezTo>
                  <a:pt x="5593" y="4295"/>
                  <a:pt x="5703" y="4405"/>
                  <a:pt x="5785" y="4545"/>
                </a:cubicBezTo>
                <a:cubicBezTo>
                  <a:pt x="5867" y="4685"/>
                  <a:pt x="5908" y="4836"/>
                  <a:pt x="5908" y="5000"/>
                </a:cubicBezTo>
                <a:cubicBezTo>
                  <a:pt x="5908" y="5163"/>
                  <a:pt x="5867" y="5315"/>
                  <a:pt x="5785" y="5455"/>
                </a:cubicBezTo>
                <a:cubicBezTo>
                  <a:pt x="5703" y="5594"/>
                  <a:pt x="5593" y="5704"/>
                  <a:pt x="5453" y="5786"/>
                </a:cubicBezTo>
                <a:cubicBezTo>
                  <a:pt x="5313" y="5868"/>
                  <a:pt x="5162" y="5909"/>
                  <a:pt x="4999" y="5909"/>
                </a:cubicBezTo>
                <a:cubicBezTo>
                  <a:pt x="4835" y="5909"/>
                  <a:pt x="4684" y="5868"/>
                  <a:pt x="4545" y="5786"/>
                </a:cubicBezTo>
                <a:cubicBezTo>
                  <a:pt x="4405" y="5704"/>
                  <a:pt x="4294" y="5594"/>
                  <a:pt x="4213" y="5455"/>
                </a:cubicBezTo>
                <a:cubicBezTo>
                  <a:pt x="4131" y="5315"/>
                  <a:pt x="4090" y="5163"/>
                  <a:pt x="4090" y="5000"/>
                </a:cubicBezTo>
                <a:cubicBezTo>
                  <a:pt x="4090" y="4836"/>
                  <a:pt x="4131" y="4685"/>
                  <a:pt x="4213" y="4545"/>
                </a:cubicBezTo>
                <a:cubicBezTo>
                  <a:pt x="4294" y="4405"/>
                  <a:pt x="4405" y="4295"/>
                  <a:pt x="4545" y="4214"/>
                </a:cubicBezTo>
                <a:cubicBezTo>
                  <a:pt x="4684" y="4132"/>
                  <a:pt x="4835" y="4091"/>
                  <a:pt x="4999" y="4091"/>
                </a:cubicBezTo>
              </a:path>
            </a:pathLst>
          </a:custGeom>
          <a:solidFill>
            <a:srgbClr val="2D5A8E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Box 27"/>
          <p:cNvSpPr txBox="1"/>
          <p:nvPr/>
        </p:nvSpPr>
        <p:spPr>
          <a:xfrm>
            <a:off x="8389427" y="3604765"/>
            <a:ext cx="3104374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1A1A1A">
                    <a:alpha val="50196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OBJECTIVE FUNCTION</a:t>
            </a:r>
            <a:endParaRPr lang="en-US" sz="1100"/>
          </a:p>
        </p:txBody>
      </p:sp>
      <p:sp>
        <p:nvSpPr>
          <p:cNvPr id="28" name="TextBox 28"/>
          <p:cNvSpPr txBox="1"/>
          <p:nvPr/>
        </p:nvSpPr>
        <p:spPr>
          <a:xfrm>
            <a:off x="8389427" y="3861940"/>
            <a:ext cx="3104374" cy="2762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900" b="1" i="0" strike="noStrike">
                <a:solidFill>
                  <a:srgbClr val="1A1A1A">
                    <a:alpha val="100000"/>
                  </a:srgbClr>
                </a:solidFill>
                <a:latin typeface="Source Han Serif CN" panose="02020400000000000000" charset="-122"/>
                <a:ea typeface="Source Han Serif CN" panose="02020400000000000000" charset="-122"/>
                <a:cs typeface="Source Han Serif CN" panose="02020400000000000000" charset="-122"/>
              </a:rPr>
              <a:t>Q3: 我想得到什么？</a:t>
            </a:r>
            <a:endParaRPr lang="en-US" sz="1100"/>
          </a:p>
        </p:txBody>
      </p:sp>
      <p:sp>
        <p:nvSpPr>
          <p:cNvPr id="29" name="TextBox 29"/>
          <p:cNvSpPr txBox="1"/>
          <p:nvPr/>
        </p:nvSpPr>
        <p:spPr>
          <a:xfrm>
            <a:off x="8389427" y="4342953"/>
            <a:ext cx="3342439" cy="679846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200" b="0" i="0" strike="noStrike">
                <a:solidFill>
                  <a:srgbClr val="1A1A1A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定义目标函数：量化优化方向与评价标准，</a:t>
            </a:r>
            <a:endParaRPr lang="en-US" sz="1100"/>
          </a:p>
          <a:p>
            <a:pPr algn="l"/>
            <a:r>
              <a:rPr sz="1200" b="0" i="0" strike="noStrike">
                <a:solidFill>
                  <a:srgbClr val="1A1A1A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如"最小化平均等待时间"或"在成本不超过预算</a:t>
            </a:r>
          </a:p>
          <a:p>
            <a:pPr algn="l"/>
            <a:r>
              <a:rPr sz="1200" b="0" i="0" strike="noStrike">
                <a:solidFill>
                  <a:srgbClr val="1A1A1A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的前提下最大化服务效率"。</a:t>
            </a:r>
          </a:p>
        </p:txBody>
      </p:sp>
      <p:sp>
        <p:nvSpPr>
          <p:cNvPr id="30" name="AutoShape 30"/>
          <p:cNvSpPr/>
          <p:nvPr/>
        </p:nvSpPr>
        <p:spPr>
          <a:xfrm>
            <a:off x="8389427" y="5709196"/>
            <a:ext cx="3104374" cy="9525"/>
          </a:xfrm>
          <a:prstGeom prst="line">
            <a:avLst/>
          </a:prstGeom>
          <a:ln w="9525">
            <a:solidFill>
              <a:srgbClr val="D8D2C5">
                <a:alpha val="10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Box 31"/>
          <p:cNvSpPr txBox="1"/>
          <p:nvPr/>
        </p:nvSpPr>
        <p:spPr>
          <a:xfrm>
            <a:off x="8389427" y="5842546"/>
            <a:ext cx="3104374" cy="2762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900" b="0" i="0" strike="noStrike">
                <a:solidFill>
                  <a:srgbClr val="2D5A8E">
                    <a:alpha val="100000"/>
                  </a:srgbClr>
                </a:solidFill>
                <a:latin typeface="Source Han Serif CN" panose="02020400000000000000" charset="-122"/>
                <a:ea typeface="Source Han Serif CN" panose="02020400000000000000" charset="-122"/>
                <a:cs typeface="Source Han Serif CN" panose="02020400000000000000" charset="-122"/>
              </a:rPr>
              <a:t>Min · Max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Box 3"/>
          <p:cNvSpPr txBox="1"/>
          <p:nvPr/>
        </p:nvSpPr>
        <p:spPr>
          <a:xfrm>
            <a:off x="5619684" y="2520851"/>
            <a:ext cx="6112182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F0F2F5">
                    <a:alpha val="50196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Chapter 03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1259962" y="2992338"/>
            <a:ext cx="9669029" cy="754261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1"/>
          <a:lstStyle/>
          <a:p>
            <a:pPr algn="ctr">
              <a:defRPr/>
            </a:pPr>
            <a:r>
              <a:rPr lang="en-US" sz="5400" b="1" i="0" strike="noStrike">
                <a:solidFill>
                  <a:srgbClr val="F0F2F5">
                    <a:alpha val="100000"/>
                  </a:srgbClr>
                </a:solidFill>
                <a:latin typeface="Source Han Serif CN" panose="02020400000000000000" charset="-122"/>
                <a:ea typeface="Source Han Serif CN" panose="02020400000000000000" charset="-122"/>
                <a:cs typeface="Source Han Serif CN" panose="02020400000000000000" charset="-122"/>
              </a:rPr>
              <a:t>数值方法：算不出来怎么办</a:t>
            </a:r>
            <a:endParaRPr lang="en-US" sz="1100"/>
          </a:p>
        </p:txBody>
      </p:sp>
      <p:sp>
        <p:nvSpPr>
          <p:cNvPr id="5" name="TextBox 5"/>
          <p:cNvSpPr txBox="1"/>
          <p:nvPr/>
        </p:nvSpPr>
        <p:spPr>
          <a:xfrm>
            <a:off x="1942614" y="4051399"/>
            <a:ext cx="8303724" cy="3048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ctr" anchorCtr="1"/>
          <a:lstStyle/>
          <a:p>
            <a:pPr algn="ctr">
              <a:defRPr/>
            </a:pPr>
            <a:r>
              <a:rPr lang="en-US" sz="1500" b="0" i="0" strike="noStrike">
                <a:solidFill>
                  <a:srgbClr val="F0F2F5">
                    <a:alpha val="6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插值、迭代与离散化——让高一学生第一次接触真正的计算数学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0DDD8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AutoShap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7F2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Box 4"/>
          <p:cNvSpPr txBox="1"/>
          <p:nvPr/>
        </p:nvSpPr>
        <p:spPr>
          <a:xfrm>
            <a:off x="457086" y="476250"/>
            <a:ext cx="11274781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1A1A1A">
                    <a:alpha val="50196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Numerical Methods</a:t>
            </a:r>
            <a:endParaRPr lang="en-US" sz="1100"/>
          </a:p>
        </p:txBody>
      </p:sp>
      <p:sp>
        <p:nvSpPr>
          <p:cNvPr id="5" name="TextBox 5"/>
          <p:cNvSpPr txBox="1"/>
          <p:nvPr/>
        </p:nvSpPr>
        <p:spPr>
          <a:xfrm>
            <a:off x="457086" y="771525"/>
            <a:ext cx="11274781" cy="4286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3000" b="1" i="0" strike="noStrike">
                <a:solidFill>
                  <a:srgbClr val="1A1A1A">
                    <a:alpha val="100000"/>
                  </a:srgbClr>
                </a:solidFill>
                <a:latin typeface="Source Han Serif CN" panose="02020400000000000000" charset="-122"/>
                <a:ea typeface="Source Han Serif CN" panose="02020400000000000000" charset="-122"/>
                <a:cs typeface="Source Han Serif CN" panose="02020400000000000000" charset="-122"/>
              </a:rPr>
              <a:t>插值：两次测量之间怎么办？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57086" y="1352550"/>
            <a:ext cx="9522" cy="649486"/>
          </a:xfrm>
          <a:prstGeom prst="line">
            <a:avLst/>
          </a:prstGeom>
          <a:ln w="9525">
            <a:solidFill>
              <a:srgbClr val="5B7A9D">
                <a:alpha val="7803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Box 7"/>
          <p:cNvSpPr txBox="1"/>
          <p:nvPr/>
        </p:nvSpPr>
        <p:spPr>
          <a:xfrm>
            <a:off x="599925" y="1390650"/>
            <a:ext cx="11589027" cy="562868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600" b="0" i="1" strike="noStrike">
                <a:solidFill>
                  <a:srgbClr val="1A1A1A">
                    <a:alpha val="78039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插值是数值分析最基础的思想之一：根据已知的离散测量点，估计中间未知位置的值。精度随方法复杂度提升，核心逻辑</a:t>
            </a:r>
            <a:endParaRPr lang="en-US" sz="1100"/>
          </a:p>
          <a:p>
            <a:pPr algn="l"/>
            <a:r>
              <a:rPr sz="1600" b="0" i="1" strike="noStrike">
                <a:solidFill>
                  <a:srgbClr val="1A1A1A">
                    <a:alpha val="78039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始终是"用已知推断未知"。</a:t>
            </a:r>
          </a:p>
        </p:txBody>
      </p:sp>
      <p:sp>
        <p:nvSpPr>
          <p:cNvPr id="8" name="AutoShape 8"/>
          <p:cNvSpPr/>
          <p:nvPr/>
        </p:nvSpPr>
        <p:spPr>
          <a:xfrm>
            <a:off x="457086" y="2230636"/>
            <a:ext cx="5523120" cy="4170164"/>
          </a:xfrm>
          <a:prstGeom prst="rect">
            <a:avLst/>
          </a:prstGeom>
          <a:solidFill>
            <a:srgbClr val="F1EDE5">
              <a:alpha val="100000"/>
            </a:srgbClr>
          </a:solidFill>
          <a:ln w="9525">
            <a:solidFill>
              <a:srgbClr val="D8D2C5">
                <a:alpha val="10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AutoShape 9"/>
          <p:cNvSpPr/>
          <p:nvPr/>
        </p:nvSpPr>
        <p:spPr>
          <a:xfrm>
            <a:off x="457086" y="2230636"/>
            <a:ext cx="5523120" cy="9525"/>
          </a:xfrm>
          <a:prstGeom prst="line">
            <a:avLst/>
          </a:prstGeom>
          <a:ln w="28575">
            <a:solidFill>
              <a:srgbClr val="5B7A9D">
                <a:alpha val="10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Box 10"/>
          <p:cNvSpPr txBox="1"/>
          <p:nvPr/>
        </p:nvSpPr>
        <p:spPr>
          <a:xfrm>
            <a:off x="695151" y="2587823"/>
            <a:ext cx="186435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000" b="0" i="0" strike="noStrike">
                <a:solidFill>
                  <a:srgbClr val="5B7A9D">
                    <a:alpha val="10000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01</a:t>
            </a:r>
            <a:endParaRPr lang="en-US" sz="1100"/>
          </a:p>
        </p:txBody>
      </p:sp>
      <p:sp>
        <p:nvSpPr>
          <p:cNvPr id="11" name="TextBox 11"/>
          <p:cNvSpPr txBox="1"/>
          <p:nvPr/>
        </p:nvSpPr>
        <p:spPr>
          <a:xfrm>
            <a:off x="938722" y="2544961"/>
            <a:ext cx="971307" cy="2476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800" b="1" i="0" strike="noStrike">
                <a:solidFill>
                  <a:srgbClr val="1A1A1A">
                    <a:alpha val="100000"/>
                  </a:srgbClr>
                </a:solidFill>
                <a:latin typeface="Source Han Serif CN" panose="02020400000000000000" charset="-122"/>
                <a:ea typeface="Source Han Serif CN" panose="02020400000000000000" charset="-122"/>
                <a:cs typeface="Source Han Serif CN" panose="02020400000000000000" charset="-122"/>
              </a:rPr>
              <a:t>线性插值</a:t>
            </a:r>
            <a:endParaRPr lang="en-US" sz="1100"/>
          </a:p>
        </p:txBody>
      </p:sp>
      <p:sp>
        <p:nvSpPr>
          <p:cNvPr id="12" name="TextBox 12"/>
          <p:cNvSpPr txBox="1"/>
          <p:nvPr/>
        </p:nvSpPr>
        <p:spPr>
          <a:xfrm>
            <a:off x="695151" y="3396555"/>
            <a:ext cx="5285053" cy="470446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200" b="0" i="0" strike="noStrike">
                <a:solidFill>
                  <a:srgbClr val="1A1A1A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已知 8:00 教室温度 20°C、10:00 温度 24°C，假设温度线性变化，则 9:00</a:t>
            </a:r>
            <a:endParaRPr lang="en-US" sz="1100"/>
          </a:p>
          <a:p>
            <a:pPr algn="l"/>
            <a:r>
              <a:rPr sz="1200" b="0" i="0" strike="noStrike">
                <a:solidFill>
                  <a:srgbClr val="1A1A1A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温度可通过线性公式计算得 </a:t>
            </a:r>
            <a:r>
              <a:rPr sz="1500" b="1" i="0" strike="noStrike">
                <a:solidFill>
                  <a:srgbClr val="5B7A9D">
                    <a:alpha val="85098"/>
                  </a:srgbClr>
                </a:solidFill>
                <a:latin typeface="Source Han Serif CN" panose="02020400000000000000" charset="-122"/>
                <a:ea typeface="Source Han Serif CN" panose="02020400000000000000" charset="-122"/>
                <a:cs typeface="Source Han Serif CN" panose="02020400000000000000" charset="-122"/>
              </a:rPr>
              <a:t>22°C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95151" y="4803130"/>
            <a:ext cx="5046988" cy="1619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100" b="0" i="0" strike="noStrike">
                <a:solidFill>
                  <a:srgbClr val="5B7A9D">
                    <a:alpha val="60000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T(t) = T₀ + (T₁−T₀)·(t−t₀)/(t₁−t₀)</a:t>
            </a:r>
            <a:endParaRPr lang="en-US" sz="1100"/>
          </a:p>
        </p:txBody>
      </p:sp>
      <p:sp>
        <p:nvSpPr>
          <p:cNvPr id="14" name="TextBox 14"/>
          <p:cNvSpPr txBox="1"/>
          <p:nvPr/>
        </p:nvSpPr>
        <p:spPr>
          <a:xfrm>
            <a:off x="695151" y="5084117"/>
            <a:ext cx="5046988" cy="1619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100" b="0" i="0" strike="noStrike">
                <a:solidFill>
                  <a:srgbClr val="1A1A1A">
                    <a:alpha val="74901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核心假设是两点之间为直线，适用于变化平稳的场景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95151" y="5825579"/>
            <a:ext cx="5046988" cy="9525"/>
          </a:xfrm>
          <a:prstGeom prst="line">
            <a:avLst/>
          </a:prstGeom>
          <a:ln w="9525">
            <a:solidFill>
              <a:srgbClr val="D8D2C5">
                <a:alpha val="10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Box 16"/>
          <p:cNvSpPr txBox="1"/>
          <p:nvPr/>
        </p:nvSpPr>
        <p:spPr>
          <a:xfrm>
            <a:off x="695151" y="5949404"/>
            <a:ext cx="5046988" cy="2476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800" b="0" i="0" strike="noStrike">
                <a:solidFill>
                  <a:srgbClr val="5B7A9D">
                    <a:alpha val="100000"/>
                  </a:srgbClr>
                </a:solidFill>
                <a:latin typeface="Source Han Serif CN" panose="02020400000000000000" charset="-122"/>
                <a:ea typeface="Source Han Serif CN" panose="02020400000000000000" charset="-122"/>
                <a:cs typeface="Source Han Serif CN" panose="02020400000000000000" charset="-122"/>
              </a:rPr>
              <a:t>直线近似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208747" y="2230636"/>
            <a:ext cx="5523120" cy="4170164"/>
          </a:xfrm>
          <a:prstGeom prst="rect">
            <a:avLst/>
          </a:prstGeom>
          <a:solidFill>
            <a:srgbClr val="F1EDE5">
              <a:alpha val="100000"/>
            </a:srgbClr>
          </a:solidFill>
          <a:ln w="9525">
            <a:solidFill>
              <a:srgbClr val="D8D2C5">
                <a:alpha val="10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AutoShape 18"/>
          <p:cNvSpPr/>
          <p:nvPr/>
        </p:nvSpPr>
        <p:spPr>
          <a:xfrm>
            <a:off x="6208747" y="2230636"/>
            <a:ext cx="5523120" cy="9525"/>
          </a:xfrm>
          <a:prstGeom prst="line">
            <a:avLst/>
          </a:prstGeom>
          <a:ln w="28575">
            <a:solidFill>
              <a:srgbClr val="5B7A9D">
                <a:alpha val="10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Box 19"/>
          <p:cNvSpPr txBox="1"/>
          <p:nvPr/>
        </p:nvSpPr>
        <p:spPr>
          <a:xfrm>
            <a:off x="6446813" y="2587823"/>
            <a:ext cx="186435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000" b="0" i="0" strike="noStrike">
                <a:solidFill>
                  <a:srgbClr val="5B7A9D">
                    <a:alpha val="10000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02</a:t>
            </a:r>
            <a:endParaRPr lang="en-US" sz="1100"/>
          </a:p>
        </p:txBody>
      </p:sp>
      <p:sp>
        <p:nvSpPr>
          <p:cNvPr id="20" name="TextBox 20"/>
          <p:cNvSpPr txBox="1"/>
          <p:nvPr/>
        </p:nvSpPr>
        <p:spPr>
          <a:xfrm>
            <a:off x="6690384" y="2544961"/>
            <a:ext cx="1656936" cy="2476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800" b="1" i="0" strike="noStrike">
                <a:solidFill>
                  <a:srgbClr val="1A1A1A">
                    <a:alpha val="100000"/>
                  </a:srgbClr>
                </a:solidFill>
                <a:latin typeface="Source Han Serif CN" panose="02020400000000000000" charset="-122"/>
                <a:ea typeface="Source Han Serif CN" panose="02020400000000000000" charset="-122"/>
                <a:cs typeface="Source Han Serif CN" panose="02020400000000000000" charset="-122"/>
              </a:rPr>
              <a:t>从线性到非线性</a:t>
            </a:r>
            <a:endParaRPr lang="en-US" sz="1100"/>
          </a:p>
        </p:txBody>
      </p:sp>
      <p:sp>
        <p:nvSpPr>
          <p:cNvPr id="21" name="TextBox 21"/>
          <p:cNvSpPr txBox="1"/>
          <p:nvPr/>
        </p:nvSpPr>
        <p:spPr>
          <a:xfrm>
            <a:off x="6446813" y="3428107"/>
            <a:ext cx="5285053" cy="413296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200" b="0" i="0" strike="noStrike">
                <a:solidFill>
                  <a:srgbClr val="1A1A1A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当实际温度变化呈曲线（如中午出现峰值），线性插值误差增大，需引入多</a:t>
            </a:r>
            <a:endParaRPr lang="en-US" sz="1100"/>
          </a:p>
          <a:p>
            <a:pPr algn="l"/>
            <a:r>
              <a:rPr sz="1200" b="0" i="0" strike="noStrike">
                <a:solidFill>
                  <a:srgbClr val="1A1A1A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项式拟合、样条插值或回归分析等高级方法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446813" y="4820840"/>
            <a:ext cx="5285053" cy="413296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200" b="0" i="0" strike="noStrike">
                <a:solidFill>
                  <a:srgbClr val="1A1A1A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方法选择的本质是精度与复杂度的权衡：采样点越多、模型越精细，估计越</a:t>
            </a:r>
            <a:endParaRPr lang="en-US" sz="1100"/>
          </a:p>
          <a:p>
            <a:pPr algn="l"/>
            <a:r>
              <a:rPr sz="1200" b="0" i="0" strike="noStrike">
                <a:solidFill>
                  <a:srgbClr val="1A1A1A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准确，但计算成本也随之增加</a:t>
            </a:r>
          </a:p>
        </p:txBody>
      </p:sp>
      <p:sp>
        <p:nvSpPr>
          <p:cNvPr id="23" name="AutoShape 23"/>
          <p:cNvSpPr/>
          <p:nvPr/>
        </p:nvSpPr>
        <p:spPr>
          <a:xfrm>
            <a:off x="6446813" y="5825579"/>
            <a:ext cx="5046988" cy="9525"/>
          </a:xfrm>
          <a:prstGeom prst="line">
            <a:avLst/>
          </a:prstGeom>
          <a:ln w="9525">
            <a:solidFill>
              <a:srgbClr val="D8D2C5">
                <a:alpha val="10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Box 24"/>
          <p:cNvSpPr txBox="1"/>
          <p:nvPr/>
        </p:nvSpPr>
        <p:spPr>
          <a:xfrm>
            <a:off x="6446813" y="5949404"/>
            <a:ext cx="5046988" cy="2476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800" b="0" i="0" strike="noStrike">
                <a:solidFill>
                  <a:srgbClr val="5B7A9D">
                    <a:alpha val="100000"/>
                  </a:srgbClr>
                </a:solidFill>
                <a:latin typeface="Source Han Serif CN" panose="02020400000000000000" charset="-122"/>
                <a:ea typeface="Source Han Serif CN" panose="02020400000000000000" charset="-122"/>
                <a:cs typeface="Source Han Serif CN" panose="02020400000000000000" charset="-122"/>
              </a:rPr>
              <a:t>精度 × 成本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7F2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Box 3"/>
          <p:cNvSpPr txBox="1"/>
          <p:nvPr/>
        </p:nvSpPr>
        <p:spPr>
          <a:xfrm>
            <a:off x="457086" y="476250"/>
            <a:ext cx="11274781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1A1A1A">
                    <a:alpha val="50196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NUMERICAL ANALYSIS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457086" y="781050"/>
            <a:ext cx="11274781" cy="4381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3100" b="1" i="0" strike="noStrike">
                <a:solidFill>
                  <a:srgbClr val="1A1A1A">
                    <a:alpha val="100000"/>
                  </a:srgbClr>
                </a:solidFill>
                <a:latin typeface="Source Han Serif CN" panose="02020400000000000000" charset="-122"/>
                <a:ea typeface="Source Han Serif CN" panose="02020400000000000000" charset="-122"/>
                <a:cs typeface="Source Han Serif CN" panose="02020400000000000000" charset="-122"/>
              </a:rPr>
              <a:t>迭代：算不出来就"越来越靠近答案"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457086" y="1432471"/>
            <a:ext cx="9522" cy="324743"/>
          </a:xfrm>
          <a:prstGeom prst="line">
            <a:avLst/>
          </a:prstGeom>
          <a:ln w="9525">
            <a:solidFill>
              <a:srgbClr val="B84C35">
                <a:alpha val="7803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Box 6"/>
          <p:cNvSpPr txBox="1"/>
          <p:nvPr/>
        </p:nvSpPr>
        <p:spPr>
          <a:xfrm>
            <a:off x="599925" y="1470571"/>
            <a:ext cx="11131941" cy="2381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600" b="0" i="1" strike="noStrike">
                <a:solidFill>
                  <a:srgbClr val="1A1A1A">
                    <a:alpha val="78039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迭代是数值分析最值得掌握的思想之一：从一个初始猜测出发，通过反复修正逐步逼近真实答案。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57086" y="2023914"/>
            <a:ext cx="2675856" cy="4376886"/>
          </a:xfrm>
          <a:prstGeom prst="rect">
            <a:avLst/>
          </a:prstGeom>
          <a:solidFill>
            <a:srgbClr val="F0EBE3">
              <a:alpha val="100000"/>
            </a:srgbClr>
          </a:solidFill>
          <a:ln w="9525">
            <a:solidFill>
              <a:srgbClr val="D5CFC5">
                <a:alpha val="10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AutoShape 8"/>
          <p:cNvSpPr/>
          <p:nvPr/>
        </p:nvSpPr>
        <p:spPr>
          <a:xfrm>
            <a:off x="457086" y="2023914"/>
            <a:ext cx="2675856" cy="9525"/>
          </a:xfrm>
          <a:prstGeom prst="line">
            <a:avLst/>
          </a:prstGeom>
          <a:ln w="28575">
            <a:solidFill>
              <a:srgbClr val="B84C35">
                <a:alpha val="10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AutoShape 9"/>
          <p:cNvSpPr/>
          <p:nvPr/>
        </p:nvSpPr>
        <p:spPr>
          <a:xfrm>
            <a:off x="657061" y="2262039"/>
            <a:ext cx="418996" cy="41910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2160" y="6371"/>
                </a:moveTo>
                <a:lnTo>
                  <a:pt x="4999" y="8685"/>
                </a:lnTo>
                <a:lnTo>
                  <a:pt x="7838" y="6371"/>
                </a:lnTo>
                <a:cubicBezTo>
                  <a:pt x="8358" y="5954"/>
                  <a:pt x="8711" y="5463"/>
                  <a:pt x="8895" y="4897"/>
                </a:cubicBezTo>
                <a:cubicBezTo>
                  <a:pt x="9071" y="4343"/>
                  <a:pt x="9071" y="3790"/>
                  <a:pt x="8895" y="3237"/>
                </a:cubicBezTo>
                <a:cubicBezTo>
                  <a:pt x="8711" y="2671"/>
                  <a:pt x="8360" y="2178"/>
                  <a:pt x="7843" y="1758"/>
                </a:cubicBezTo>
                <a:cubicBezTo>
                  <a:pt x="7326" y="1338"/>
                  <a:pt x="6719" y="1054"/>
                  <a:pt x="6022" y="905"/>
                </a:cubicBezTo>
                <a:cubicBezTo>
                  <a:pt x="5340" y="761"/>
                  <a:pt x="4658" y="761"/>
                  <a:pt x="3976" y="905"/>
                </a:cubicBezTo>
                <a:cubicBezTo>
                  <a:pt x="3278" y="1054"/>
                  <a:pt x="2671" y="1338"/>
                  <a:pt x="2155" y="1758"/>
                </a:cubicBezTo>
                <a:cubicBezTo>
                  <a:pt x="1637" y="2178"/>
                  <a:pt x="1287" y="2671"/>
                  <a:pt x="1103" y="3237"/>
                </a:cubicBezTo>
                <a:cubicBezTo>
                  <a:pt x="927" y="3790"/>
                  <a:pt x="927" y="4343"/>
                  <a:pt x="1103" y="4897"/>
                </a:cubicBezTo>
                <a:cubicBezTo>
                  <a:pt x="1287" y="5463"/>
                  <a:pt x="1639" y="5954"/>
                  <a:pt x="2160" y="6371"/>
                </a:cubicBezTo>
                <a:moveTo>
                  <a:pt x="8653" y="7034"/>
                </a:moveTo>
                <a:lnTo>
                  <a:pt x="4999" y="10000"/>
                </a:lnTo>
                <a:lnTo>
                  <a:pt x="1345" y="7034"/>
                </a:lnTo>
                <a:cubicBezTo>
                  <a:pt x="678" y="6498"/>
                  <a:pt x="230" y="5864"/>
                  <a:pt x="0" y="5131"/>
                </a:cubicBezTo>
                <a:cubicBezTo>
                  <a:pt x="-230" y="4421"/>
                  <a:pt x="-230" y="3712"/>
                  <a:pt x="0" y="3004"/>
                </a:cubicBezTo>
                <a:cubicBezTo>
                  <a:pt x="230" y="2270"/>
                  <a:pt x="676" y="1634"/>
                  <a:pt x="1339" y="1096"/>
                </a:cubicBezTo>
                <a:cubicBezTo>
                  <a:pt x="2001" y="558"/>
                  <a:pt x="2785" y="192"/>
                  <a:pt x="3689" y="0"/>
                </a:cubicBezTo>
                <a:cubicBezTo>
                  <a:pt x="4562" y="-180"/>
                  <a:pt x="5435" y="-180"/>
                  <a:pt x="6309" y="0"/>
                </a:cubicBezTo>
                <a:cubicBezTo>
                  <a:pt x="7213" y="192"/>
                  <a:pt x="7996" y="558"/>
                  <a:pt x="8659" y="1096"/>
                </a:cubicBezTo>
                <a:cubicBezTo>
                  <a:pt x="9321" y="1634"/>
                  <a:pt x="9768" y="2270"/>
                  <a:pt x="9998" y="3004"/>
                </a:cubicBezTo>
                <a:cubicBezTo>
                  <a:pt x="10228" y="3712"/>
                  <a:pt x="10228" y="4421"/>
                  <a:pt x="9998" y="5131"/>
                </a:cubicBezTo>
                <a:cubicBezTo>
                  <a:pt x="9768" y="5864"/>
                  <a:pt x="9319" y="6498"/>
                  <a:pt x="8653" y="7034"/>
                </a:cubicBezTo>
                <a:moveTo>
                  <a:pt x="4999" y="5000"/>
                </a:moveTo>
                <a:cubicBezTo>
                  <a:pt x="5205" y="5000"/>
                  <a:pt x="5397" y="4958"/>
                  <a:pt x="5574" y="4874"/>
                </a:cubicBezTo>
                <a:cubicBezTo>
                  <a:pt x="5750" y="4790"/>
                  <a:pt x="5889" y="4676"/>
                  <a:pt x="5993" y="4534"/>
                </a:cubicBezTo>
                <a:cubicBezTo>
                  <a:pt x="6096" y="4390"/>
                  <a:pt x="6148" y="4235"/>
                  <a:pt x="6148" y="4067"/>
                </a:cubicBezTo>
                <a:cubicBezTo>
                  <a:pt x="6148" y="3899"/>
                  <a:pt x="6096" y="3743"/>
                  <a:pt x="5993" y="3601"/>
                </a:cubicBezTo>
                <a:cubicBezTo>
                  <a:pt x="5889" y="3457"/>
                  <a:pt x="5750" y="3344"/>
                  <a:pt x="5574" y="3260"/>
                </a:cubicBezTo>
                <a:cubicBezTo>
                  <a:pt x="5397" y="3176"/>
                  <a:pt x="5205" y="3134"/>
                  <a:pt x="4999" y="3134"/>
                </a:cubicBezTo>
                <a:cubicBezTo>
                  <a:pt x="4792" y="3134"/>
                  <a:pt x="4600" y="3176"/>
                  <a:pt x="4424" y="3260"/>
                </a:cubicBezTo>
                <a:cubicBezTo>
                  <a:pt x="4248" y="3344"/>
                  <a:pt x="4108" y="3457"/>
                  <a:pt x="4005" y="3601"/>
                </a:cubicBezTo>
                <a:cubicBezTo>
                  <a:pt x="3901" y="3743"/>
                  <a:pt x="3850" y="3899"/>
                  <a:pt x="3850" y="4067"/>
                </a:cubicBezTo>
                <a:cubicBezTo>
                  <a:pt x="3850" y="4235"/>
                  <a:pt x="3901" y="4390"/>
                  <a:pt x="4005" y="4534"/>
                </a:cubicBezTo>
                <a:cubicBezTo>
                  <a:pt x="4108" y="4676"/>
                  <a:pt x="4248" y="4790"/>
                  <a:pt x="4424" y="4874"/>
                </a:cubicBezTo>
                <a:cubicBezTo>
                  <a:pt x="4600" y="4958"/>
                  <a:pt x="4792" y="5000"/>
                  <a:pt x="4999" y="5000"/>
                </a:cubicBezTo>
                <a:moveTo>
                  <a:pt x="4999" y="5933"/>
                </a:moveTo>
                <a:cubicBezTo>
                  <a:pt x="4585" y="5933"/>
                  <a:pt x="4202" y="5849"/>
                  <a:pt x="3850" y="5681"/>
                </a:cubicBezTo>
                <a:cubicBezTo>
                  <a:pt x="3497" y="5513"/>
                  <a:pt x="3217" y="5286"/>
                  <a:pt x="3011" y="5000"/>
                </a:cubicBezTo>
                <a:cubicBezTo>
                  <a:pt x="2804" y="4714"/>
                  <a:pt x="2701" y="4401"/>
                  <a:pt x="2701" y="4063"/>
                </a:cubicBezTo>
                <a:cubicBezTo>
                  <a:pt x="2701" y="3723"/>
                  <a:pt x="2804" y="3412"/>
                  <a:pt x="3011" y="3130"/>
                </a:cubicBezTo>
                <a:cubicBezTo>
                  <a:pt x="3217" y="2846"/>
                  <a:pt x="3497" y="2621"/>
                  <a:pt x="3850" y="2453"/>
                </a:cubicBezTo>
                <a:cubicBezTo>
                  <a:pt x="4202" y="2285"/>
                  <a:pt x="4585" y="2201"/>
                  <a:pt x="4999" y="2201"/>
                </a:cubicBezTo>
                <a:cubicBezTo>
                  <a:pt x="5413" y="2201"/>
                  <a:pt x="5796" y="2285"/>
                  <a:pt x="6148" y="2453"/>
                </a:cubicBezTo>
                <a:cubicBezTo>
                  <a:pt x="6500" y="2621"/>
                  <a:pt x="6780" y="2846"/>
                  <a:pt x="6987" y="3130"/>
                </a:cubicBezTo>
                <a:cubicBezTo>
                  <a:pt x="7193" y="3412"/>
                  <a:pt x="7297" y="3723"/>
                  <a:pt x="7297" y="4063"/>
                </a:cubicBezTo>
                <a:cubicBezTo>
                  <a:pt x="7297" y="4401"/>
                  <a:pt x="7193" y="4714"/>
                  <a:pt x="6987" y="5000"/>
                </a:cubicBezTo>
                <a:cubicBezTo>
                  <a:pt x="6780" y="5286"/>
                  <a:pt x="6500" y="5513"/>
                  <a:pt x="6148" y="5681"/>
                </a:cubicBezTo>
                <a:cubicBezTo>
                  <a:pt x="5796" y="5849"/>
                  <a:pt x="5413" y="5933"/>
                  <a:pt x="4999" y="5933"/>
                </a:cubicBezTo>
              </a:path>
            </a:pathLst>
          </a:custGeom>
          <a:solidFill>
            <a:srgbClr val="B84C35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Box 10"/>
          <p:cNvSpPr txBox="1"/>
          <p:nvPr/>
        </p:nvSpPr>
        <p:spPr>
          <a:xfrm>
            <a:off x="657061" y="3824288"/>
            <a:ext cx="2275906" cy="2476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800" b="0" i="0" strike="noStrike">
                <a:solidFill>
                  <a:srgbClr val="1A1A1A">
                    <a:alpha val="100000"/>
                  </a:srgbClr>
                </a:solidFill>
                <a:latin typeface="Source Han Serif CN" panose="02020400000000000000" charset="-122"/>
                <a:ea typeface="Source Han Serif CN" panose="02020400000000000000" charset="-122"/>
                <a:cs typeface="Source Han Serif CN" panose="02020400000000000000" charset="-122"/>
              </a:rPr>
              <a:t>初始猜测</a:t>
            </a:r>
            <a:endParaRPr lang="en-US" sz="1100"/>
          </a:p>
        </p:txBody>
      </p:sp>
      <p:sp>
        <p:nvSpPr>
          <p:cNvPr id="11" name="TextBox 11"/>
          <p:cNvSpPr txBox="1"/>
          <p:nvPr/>
        </p:nvSpPr>
        <p:spPr>
          <a:xfrm>
            <a:off x="657061" y="4226123"/>
            <a:ext cx="2475880" cy="383381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100" b="0" i="0" strike="noStrike">
                <a:solidFill>
                  <a:srgbClr val="1A1A1A">
                    <a:alpha val="78039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从一个初始值 x₀ 出发，作为逼近真</a:t>
            </a:r>
            <a:endParaRPr lang="en-US" sz="1100"/>
          </a:p>
          <a:p>
            <a:pPr algn="l"/>
            <a:r>
              <a:rPr sz="1100" b="0" i="0" strike="noStrike">
                <a:solidFill>
                  <a:srgbClr val="1A1A1A">
                    <a:alpha val="78039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实答案的起点</a:t>
            </a:r>
          </a:p>
        </p:txBody>
      </p:sp>
      <p:sp>
        <p:nvSpPr>
          <p:cNvPr id="12" name="AutoShape 12"/>
          <p:cNvSpPr/>
          <p:nvPr/>
        </p:nvSpPr>
        <p:spPr>
          <a:xfrm>
            <a:off x="657061" y="5764559"/>
            <a:ext cx="2275906" cy="9525"/>
          </a:xfrm>
          <a:prstGeom prst="line">
            <a:avLst/>
          </a:prstGeom>
          <a:ln w="9525">
            <a:solidFill>
              <a:srgbClr val="D5CFC5">
                <a:alpha val="10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Box 13"/>
          <p:cNvSpPr txBox="1"/>
          <p:nvPr/>
        </p:nvSpPr>
        <p:spPr>
          <a:xfrm>
            <a:off x="657061" y="5878859"/>
            <a:ext cx="2275906" cy="2952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2100" b="0" i="0" strike="noStrike">
                <a:solidFill>
                  <a:srgbClr val="B84C35">
                    <a:alpha val="100000"/>
                  </a:srgbClr>
                </a:solidFill>
                <a:latin typeface="Source Han Serif CN" panose="02020400000000000000" charset="-122"/>
                <a:ea typeface="Source Han Serif CN" panose="02020400000000000000" charset="-122"/>
                <a:cs typeface="Source Han Serif CN" panose="02020400000000000000" charset="-122"/>
              </a:rPr>
              <a:t>x₀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3323394" y="2023914"/>
            <a:ext cx="2675856" cy="4376886"/>
          </a:xfrm>
          <a:prstGeom prst="rect">
            <a:avLst/>
          </a:prstGeom>
          <a:solidFill>
            <a:srgbClr val="F0EBE3">
              <a:alpha val="100000"/>
            </a:srgbClr>
          </a:solidFill>
          <a:ln w="9525">
            <a:solidFill>
              <a:srgbClr val="D5CFC5">
                <a:alpha val="10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AutoShape 15"/>
          <p:cNvSpPr/>
          <p:nvPr/>
        </p:nvSpPr>
        <p:spPr>
          <a:xfrm>
            <a:off x="3323394" y="2023914"/>
            <a:ext cx="2675856" cy="9525"/>
          </a:xfrm>
          <a:prstGeom prst="line">
            <a:avLst/>
          </a:prstGeom>
          <a:ln w="28575">
            <a:solidFill>
              <a:srgbClr val="B84C35">
                <a:alpha val="10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AutoShape 16"/>
          <p:cNvSpPr/>
          <p:nvPr/>
        </p:nvSpPr>
        <p:spPr>
          <a:xfrm>
            <a:off x="3523369" y="2262039"/>
            <a:ext cx="418996" cy="41910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4999" y="1000"/>
                </a:moveTo>
                <a:cubicBezTo>
                  <a:pt x="4325" y="1000"/>
                  <a:pt x="3692" y="1160"/>
                  <a:pt x="3099" y="1480"/>
                </a:cubicBezTo>
                <a:cubicBezTo>
                  <a:pt x="2526" y="1786"/>
                  <a:pt x="2056" y="2210"/>
                  <a:pt x="1690" y="2750"/>
                </a:cubicBezTo>
                <a:lnTo>
                  <a:pt x="2999" y="2750"/>
                </a:lnTo>
                <a:lnTo>
                  <a:pt x="2999" y="3750"/>
                </a:lnTo>
                <a:lnTo>
                  <a:pt x="0" y="3750"/>
                </a:lnTo>
                <a:lnTo>
                  <a:pt x="0" y="750"/>
                </a:lnTo>
                <a:lnTo>
                  <a:pt x="1000" y="750"/>
                </a:lnTo>
                <a:lnTo>
                  <a:pt x="1000" y="2000"/>
                </a:lnTo>
                <a:cubicBezTo>
                  <a:pt x="1466" y="1380"/>
                  <a:pt x="2043" y="893"/>
                  <a:pt x="2729" y="540"/>
                </a:cubicBezTo>
                <a:cubicBezTo>
                  <a:pt x="3435" y="180"/>
                  <a:pt x="4192" y="0"/>
                  <a:pt x="4999" y="0"/>
                </a:cubicBezTo>
                <a:cubicBezTo>
                  <a:pt x="5679" y="0"/>
                  <a:pt x="6329" y="130"/>
                  <a:pt x="6949" y="390"/>
                </a:cubicBezTo>
                <a:cubicBezTo>
                  <a:pt x="7541" y="643"/>
                  <a:pt x="8069" y="1001"/>
                  <a:pt x="8533" y="1465"/>
                </a:cubicBezTo>
                <a:cubicBezTo>
                  <a:pt x="8996" y="1928"/>
                  <a:pt x="9354" y="2456"/>
                  <a:pt x="9608" y="3050"/>
                </a:cubicBezTo>
                <a:cubicBezTo>
                  <a:pt x="9868" y="3670"/>
                  <a:pt x="9998" y="4320"/>
                  <a:pt x="9998" y="5000"/>
                </a:cubicBezTo>
                <a:lnTo>
                  <a:pt x="8998" y="5000"/>
                </a:lnTo>
                <a:cubicBezTo>
                  <a:pt x="8998" y="4273"/>
                  <a:pt x="8814" y="3600"/>
                  <a:pt x="8448" y="2980"/>
                </a:cubicBezTo>
                <a:cubicBezTo>
                  <a:pt x="8094" y="2380"/>
                  <a:pt x="7618" y="1903"/>
                  <a:pt x="7019" y="1550"/>
                </a:cubicBezTo>
                <a:cubicBezTo>
                  <a:pt x="6399" y="1183"/>
                  <a:pt x="5725" y="1000"/>
                  <a:pt x="4999" y="1000"/>
                </a:cubicBezTo>
                <a:moveTo>
                  <a:pt x="0" y="5000"/>
                </a:moveTo>
                <a:lnTo>
                  <a:pt x="1000" y="5000"/>
                </a:lnTo>
                <a:cubicBezTo>
                  <a:pt x="1000" y="5726"/>
                  <a:pt x="1183" y="6400"/>
                  <a:pt x="1550" y="7020"/>
                </a:cubicBezTo>
                <a:cubicBezTo>
                  <a:pt x="1903" y="7620"/>
                  <a:pt x="2379" y="8096"/>
                  <a:pt x="2979" y="8450"/>
                </a:cubicBezTo>
                <a:cubicBezTo>
                  <a:pt x="3599" y="8816"/>
                  <a:pt x="4272" y="9000"/>
                  <a:pt x="4999" y="9000"/>
                </a:cubicBezTo>
                <a:cubicBezTo>
                  <a:pt x="5672" y="9000"/>
                  <a:pt x="6305" y="8840"/>
                  <a:pt x="6899" y="8520"/>
                </a:cubicBezTo>
                <a:cubicBezTo>
                  <a:pt x="7471" y="8213"/>
                  <a:pt x="7941" y="7790"/>
                  <a:pt x="8308" y="7250"/>
                </a:cubicBezTo>
                <a:lnTo>
                  <a:pt x="6999" y="7250"/>
                </a:lnTo>
                <a:lnTo>
                  <a:pt x="6999" y="6250"/>
                </a:lnTo>
                <a:lnTo>
                  <a:pt x="9998" y="6250"/>
                </a:lnTo>
                <a:lnTo>
                  <a:pt x="9998" y="9250"/>
                </a:lnTo>
                <a:lnTo>
                  <a:pt x="8998" y="9250"/>
                </a:lnTo>
                <a:lnTo>
                  <a:pt x="8998" y="8000"/>
                </a:lnTo>
                <a:cubicBezTo>
                  <a:pt x="8531" y="8620"/>
                  <a:pt x="7955" y="9106"/>
                  <a:pt x="7269" y="9460"/>
                </a:cubicBezTo>
                <a:cubicBezTo>
                  <a:pt x="6562" y="9820"/>
                  <a:pt x="5805" y="10000"/>
                  <a:pt x="4999" y="10000"/>
                </a:cubicBezTo>
                <a:cubicBezTo>
                  <a:pt x="4319" y="10000"/>
                  <a:pt x="3669" y="9870"/>
                  <a:pt x="3049" y="9610"/>
                </a:cubicBezTo>
                <a:cubicBezTo>
                  <a:pt x="2456" y="9356"/>
                  <a:pt x="1928" y="8998"/>
                  <a:pt x="1465" y="8535"/>
                </a:cubicBezTo>
                <a:cubicBezTo>
                  <a:pt x="1001" y="8071"/>
                  <a:pt x="643" y="7543"/>
                  <a:pt x="390" y="6950"/>
                </a:cubicBezTo>
                <a:cubicBezTo>
                  <a:pt x="130" y="6330"/>
                  <a:pt x="0" y="5680"/>
                  <a:pt x="0" y="5000"/>
                </a:cubicBezTo>
              </a:path>
            </a:pathLst>
          </a:custGeom>
          <a:solidFill>
            <a:srgbClr val="B84C35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Box 17"/>
          <p:cNvSpPr txBox="1"/>
          <p:nvPr/>
        </p:nvSpPr>
        <p:spPr>
          <a:xfrm>
            <a:off x="3523369" y="3833812"/>
            <a:ext cx="2275906" cy="2476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800" b="0" i="0" strike="noStrike">
                <a:solidFill>
                  <a:srgbClr val="1A1A1A">
                    <a:alpha val="100000"/>
                  </a:srgbClr>
                </a:solidFill>
                <a:latin typeface="Source Han Serif CN" panose="02020400000000000000" charset="-122"/>
                <a:ea typeface="Source Han Serif CN" panose="02020400000000000000" charset="-122"/>
                <a:cs typeface="Source Han Serif CN" panose="02020400000000000000" charset="-122"/>
              </a:rPr>
              <a:t>迭代修正</a:t>
            </a:r>
            <a:endParaRPr lang="en-US" sz="1100"/>
          </a:p>
        </p:txBody>
      </p:sp>
      <p:sp>
        <p:nvSpPr>
          <p:cNvPr id="18" name="TextBox 18"/>
          <p:cNvSpPr txBox="1"/>
          <p:nvPr/>
        </p:nvSpPr>
        <p:spPr>
          <a:xfrm>
            <a:off x="3523369" y="4235648"/>
            <a:ext cx="2475880" cy="383381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100" b="0" i="0" strike="noStrike">
                <a:solidFill>
                  <a:srgbClr val="1A1A1A">
                    <a:alpha val="78039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利用公式 xₙ₊₁ = xₙ − f(xₙ)/f'(xₙ) 不断</a:t>
            </a:r>
            <a:endParaRPr lang="en-US" sz="1100"/>
          </a:p>
          <a:p>
            <a:pPr algn="l"/>
            <a:r>
              <a:rPr sz="1100" b="0" i="0" strike="noStrike">
                <a:solidFill>
                  <a:srgbClr val="1A1A1A">
                    <a:alpha val="78039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更新，每次使解更精确</a:t>
            </a:r>
          </a:p>
        </p:txBody>
      </p:sp>
      <p:sp>
        <p:nvSpPr>
          <p:cNvPr id="19" name="AutoShape 19"/>
          <p:cNvSpPr/>
          <p:nvPr/>
        </p:nvSpPr>
        <p:spPr>
          <a:xfrm>
            <a:off x="3523369" y="5783609"/>
            <a:ext cx="2275906" cy="9525"/>
          </a:xfrm>
          <a:prstGeom prst="line">
            <a:avLst/>
          </a:prstGeom>
          <a:ln w="9525">
            <a:solidFill>
              <a:srgbClr val="D5CFC5">
                <a:alpha val="10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Box 20"/>
          <p:cNvSpPr txBox="1"/>
          <p:nvPr/>
        </p:nvSpPr>
        <p:spPr>
          <a:xfrm>
            <a:off x="3523369" y="5916959"/>
            <a:ext cx="2275906" cy="2476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800" b="0" i="0" strike="noStrike">
                <a:solidFill>
                  <a:srgbClr val="B84C35">
                    <a:alpha val="100000"/>
                  </a:srgbClr>
                </a:solidFill>
                <a:latin typeface="Source Han Serif CN" panose="02020400000000000000" charset="-122"/>
                <a:ea typeface="Source Han Serif CN" panose="02020400000000000000" charset="-122"/>
                <a:cs typeface="Source Han Serif CN" panose="02020400000000000000" charset="-122"/>
              </a:rPr>
              <a:t>xₙ₊₁ = xₙ − f/f'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189702" y="2023914"/>
            <a:ext cx="2675856" cy="4376886"/>
          </a:xfrm>
          <a:prstGeom prst="rect">
            <a:avLst/>
          </a:prstGeom>
          <a:solidFill>
            <a:srgbClr val="F0EBE3">
              <a:alpha val="100000"/>
            </a:srgbClr>
          </a:solidFill>
          <a:ln w="9525">
            <a:solidFill>
              <a:srgbClr val="D5CFC5">
                <a:alpha val="10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AutoShape 22"/>
          <p:cNvSpPr/>
          <p:nvPr/>
        </p:nvSpPr>
        <p:spPr>
          <a:xfrm>
            <a:off x="6189702" y="2023914"/>
            <a:ext cx="2675856" cy="9525"/>
          </a:xfrm>
          <a:prstGeom prst="line">
            <a:avLst/>
          </a:prstGeom>
          <a:ln w="28575">
            <a:solidFill>
              <a:srgbClr val="B84C35">
                <a:alpha val="10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AutoShape 23"/>
          <p:cNvSpPr/>
          <p:nvPr/>
        </p:nvSpPr>
        <p:spPr>
          <a:xfrm>
            <a:off x="6389677" y="2262039"/>
            <a:ext cx="418996" cy="41910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4515" y="0"/>
                </a:moveTo>
                <a:lnTo>
                  <a:pt x="5483" y="0"/>
                </a:lnTo>
                <a:lnTo>
                  <a:pt x="5483" y="674"/>
                </a:lnTo>
                <a:lnTo>
                  <a:pt x="7905" y="1547"/>
                </a:lnTo>
                <a:lnTo>
                  <a:pt x="9669" y="916"/>
                </a:lnTo>
                <a:lnTo>
                  <a:pt x="9969" y="1916"/>
                </a:lnTo>
                <a:lnTo>
                  <a:pt x="8506" y="2442"/>
                </a:lnTo>
                <a:lnTo>
                  <a:pt x="9998" y="6926"/>
                </a:lnTo>
                <a:cubicBezTo>
                  <a:pt x="9733" y="7228"/>
                  <a:pt x="9420" y="7465"/>
                  <a:pt x="9058" y="7637"/>
                </a:cubicBezTo>
                <a:cubicBezTo>
                  <a:pt x="8696" y="7809"/>
                  <a:pt x="8312" y="7895"/>
                  <a:pt x="7905" y="7895"/>
                </a:cubicBezTo>
                <a:cubicBezTo>
                  <a:pt x="7498" y="7895"/>
                  <a:pt x="7114" y="7809"/>
                  <a:pt x="6753" y="7637"/>
                </a:cubicBezTo>
                <a:cubicBezTo>
                  <a:pt x="6391" y="7465"/>
                  <a:pt x="6077" y="7228"/>
                  <a:pt x="5813" y="6926"/>
                </a:cubicBezTo>
                <a:lnTo>
                  <a:pt x="7305" y="2442"/>
                </a:lnTo>
                <a:lnTo>
                  <a:pt x="5483" y="1779"/>
                </a:lnTo>
                <a:lnTo>
                  <a:pt x="5483" y="8947"/>
                </a:lnTo>
                <a:lnTo>
                  <a:pt x="7421" y="8947"/>
                </a:lnTo>
                <a:lnTo>
                  <a:pt x="7421" y="10000"/>
                </a:lnTo>
                <a:lnTo>
                  <a:pt x="2577" y="10000"/>
                </a:lnTo>
                <a:lnTo>
                  <a:pt x="2577" y="8947"/>
                </a:lnTo>
                <a:lnTo>
                  <a:pt x="4515" y="8947"/>
                </a:lnTo>
                <a:lnTo>
                  <a:pt x="4515" y="1779"/>
                </a:lnTo>
                <a:lnTo>
                  <a:pt x="2693" y="2442"/>
                </a:lnTo>
                <a:lnTo>
                  <a:pt x="4185" y="6926"/>
                </a:lnTo>
                <a:cubicBezTo>
                  <a:pt x="3920" y="7228"/>
                  <a:pt x="3607" y="7465"/>
                  <a:pt x="3245" y="7637"/>
                </a:cubicBezTo>
                <a:cubicBezTo>
                  <a:pt x="2883" y="7809"/>
                  <a:pt x="2499" y="7895"/>
                  <a:pt x="2093" y="7895"/>
                </a:cubicBezTo>
                <a:cubicBezTo>
                  <a:pt x="1685" y="7895"/>
                  <a:pt x="1301" y="7809"/>
                  <a:pt x="940" y="7637"/>
                </a:cubicBezTo>
                <a:cubicBezTo>
                  <a:pt x="578" y="7465"/>
                  <a:pt x="264" y="7228"/>
                  <a:pt x="0" y="6926"/>
                </a:cubicBezTo>
                <a:lnTo>
                  <a:pt x="1492" y="2442"/>
                </a:lnTo>
                <a:lnTo>
                  <a:pt x="29" y="1916"/>
                </a:lnTo>
                <a:lnTo>
                  <a:pt x="329" y="916"/>
                </a:lnTo>
                <a:lnTo>
                  <a:pt x="2093" y="1547"/>
                </a:lnTo>
                <a:lnTo>
                  <a:pt x="4515" y="674"/>
                </a:lnTo>
                <a:lnTo>
                  <a:pt x="4515" y="0"/>
                </a:lnTo>
                <a:moveTo>
                  <a:pt x="8855" y="6568"/>
                </a:moveTo>
                <a:lnTo>
                  <a:pt x="7905" y="3737"/>
                </a:lnTo>
                <a:lnTo>
                  <a:pt x="6956" y="6568"/>
                </a:lnTo>
                <a:cubicBezTo>
                  <a:pt x="7246" y="6750"/>
                  <a:pt x="7563" y="6842"/>
                  <a:pt x="7905" y="6842"/>
                </a:cubicBezTo>
                <a:cubicBezTo>
                  <a:pt x="8247" y="6842"/>
                  <a:pt x="8564" y="6750"/>
                  <a:pt x="8855" y="6568"/>
                </a:cubicBezTo>
                <a:moveTo>
                  <a:pt x="3042" y="6568"/>
                </a:moveTo>
                <a:lnTo>
                  <a:pt x="2093" y="3737"/>
                </a:lnTo>
                <a:lnTo>
                  <a:pt x="1143" y="6568"/>
                </a:lnTo>
                <a:cubicBezTo>
                  <a:pt x="1433" y="6750"/>
                  <a:pt x="1750" y="6842"/>
                  <a:pt x="2093" y="6842"/>
                </a:cubicBezTo>
                <a:cubicBezTo>
                  <a:pt x="2435" y="6842"/>
                  <a:pt x="2751" y="6750"/>
                  <a:pt x="3042" y="6568"/>
                </a:cubicBezTo>
              </a:path>
            </a:pathLst>
          </a:custGeom>
          <a:solidFill>
            <a:srgbClr val="B84C35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Box 24"/>
          <p:cNvSpPr txBox="1"/>
          <p:nvPr/>
        </p:nvSpPr>
        <p:spPr>
          <a:xfrm>
            <a:off x="6389677" y="3824288"/>
            <a:ext cx="2275906" cy="2476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800" b="0" i="0" strike="noStrike">
                <a:solidFill>
                  <a:srgbClr val="1A1A1A">
                    <a:alpha val="100000"/>
                  </a:srgbClr>
                </a:solidFill>
                <a:latin typeface="Source Han Serif CN" panose="02020400000000000000" charset="-122"/>
                <a:ea typeface="Source Han Serif CN" panose="02020400000000000000" charset="-122"/>
                <a:cs typeface="Source Han Serif CN" panose="02020400000000000000" charset="-122"/>
              </a:rPr>
              <a:t>生活迭代</a:t>
            </a:r>
            <a:endParaRPr lang="en-US" sz="1100"/>
          </a:p>
        </p:txBody>
      </p:sp>
      <p:sp>
        <p:nvSpPr>
          <p:cNvPr id="25" name="TextBox 25"/>
          <p:cNvSpPr txBox="1"/>
          <p:nvPr/>
        </p:nvSpPr>
        <p:spPr>
          <a:xfrm>
            <a:off x="6389677" y="4226123"/>
            <a:ext cx="2475880" cy="383381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100" b="0" i="0" strike="noStrike">
                <a:solidFill>
                  <a:srgbClr val="1A1A1A">
                    <a:alpha val="78039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试 3 小时学习→效率不够→调 4 小</a:t>
            </a:r>
            <a:endParaRPr lang="en-US" sz="1100"/>
          </a:p>
          <a:p>
            <a:pPr algn="l"/>
            <a:r>
              <a:rPr sz="1100" b="0" i="0" strike="noStrike">
                <a:solidFill>
                  <a:srgbClr val="1A1A1A">
                    <a:alpha val="78039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时→注意力降→收敛到 3.5h + 休息</a:t>
            </a:r>
          </a:p>
        </p:txBody>
      </p:sp>
      <p:sp>
        <p:nvSpPr>
          <p:cNvPr id="26" name="AutoShape 26"/>
          <p:cNvSpPr/>
          <p:nvPr/>
        </p:nvSpPr>
        <p:spPr>
          <a:xfrm>
            <a:off x="6389677" y="5764559"/>
            <a:ext cx="2275906" cy="9525"/>
          </a:xfrm>
          <a:prstGeom prst="line">
            <a:avLst/>
          </a:prstGeom>
          <a:ln w="9525">
            <a:solidFill>
              <a:srgbClr val="D5CFC5">
                <a:alpha val="10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Box 27"/>
          <p:cNvSpPr txBox="1"/>
          <p:nvPr/>
        </p:nvSpPr>
        <p:spPr>
          <a:xfrm>
            <a:off x="6389677" y="5878859"/>
            <a:ext cx="2275906" cy="2952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2100" b="0" i="0" strike="noStrike">
                <a:solidFill>
                  <a:srgbClr val="B84C35">
                    <a:alpha val="100000"/>
                  </a:srgbClr>
                </a:solidFill>
                <a:latin typeface="Source Han Serif CN" panose="02020400000000000000" charset="-122"/>
                <a:ea typeface="Source Han Serif CN" panose="02020400000000000000" charset="-122"/>
                <a:cs typeface="Source Han Serif CN" panose="02020400000000000000" charset="-122"/>
              </a:rPr>
              <a:t>3.5h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9056011" y="2023914"/>
            <a:ext cx="2675856" cy="4376886"/>
          </a:xfrm>
          <a:prstGeom prst="rect">
            <a:avLst/>
          </a:prstGeom>
          <a:solidFill>
            <a:srgbClr val="F0EBE3">
              <a:alpha val="100000"/>
            </a:srgbClr>
          </a:solidFill>
          <a:ln w="9525">
            <a:solidFill>
              <a:srgbClr val="D5CFC5">
                <a:alpha val="10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AutoShape 29"/>
          <p:cNvSpPr/>
          <p:nvPr/>
        </p:nvSpPr>
        <p:spPr>
          <a:xfrm>
            <a:off x="9056011" y="2023914"/>
            <a:ext cx="2675856" cy="9525"/>
          </a:xfrm>
          <a:prstGeom prst="line">
            <a:avLst/>
          </a:prstGeom>
          <a:ln w="28575">
            <a:solidFill>
              <a:srgbClr val="B84C35">
                <a:alpha val="10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AutoShape 30"/>
          <p:cNvSpPr/>
          <p:nvPr/>
        </p:nvSpPr>
        <p:spPr>
          <a:xfrm>
            <a:off x="9255985" y="2262039"/>
            <a:ext cx="418996" cy="41910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4545" y="0"/>
                </a:moveTo>
                <a:lnTo>
                  <a:pt x="5453" y="0"/>
                </a:lnTo>
                <a:lnTo>
                  <a:pt x="5453" y="1391"/>
                </a:lnTo>
                <a:cubicBezTo>
                  <a:pt x="5992" y="1457"/>
                  <a:pt x="6491" y="1636"/>
                  <a:pt x="6949" y="1927"/>
                </a:cubicBezTo>
                <a:cubicBezTo>
                  <a:pt x="7406" y="2218"/>
                  <a:pt x="7780" y="2592"/>
                  <a:pt x="8071" y="3050"/>
                </a:cubicBezTo>
                <a:cubicBezTo>
                  <a:pt x="8361" y="3507"/>
                  <a:pt x="8540" y="4005"/>
                  <a:pt x="8607" y="4545"/>
                </a:cubicBezTo>
                <a:lnTo>
                  <a:pt x="9998" y="4545"/>
                </a:lnTo>
                <a:lnTo>
                  <a:pt x="9998" y="5455"/>
                </a:lnTo>
                <a:lnTo>
                  <a:pt x="8607" y="5455"/>
                </a:lnTo>
                <a:cubicBezTo>
                  <a:pt x="8540" y="5994"/>
                  <a:pt x="8361" y="6492"/>
                  <a:pt x="8071" y="6950"/>
                </a:cubicBezTo>
                <a:cubicBezTo>
                  <a:pt x="7780" y="7407"/>
                  <a:pt x="7406" y="7781"/>
                  <a:pt x="6949" y="8073"/>
                </a:cubicBezTo>
                <a:cubicBezTo>
                  <a:pt x="6491" y="8363"/>
                  <a:pt x="5992" y="8542"/>
                  <a:pt x="5453" y="8609"/>
                </a:cubicBezTo>
                <a:lnTo>
                  <a:pt x="5453" y="10000"/>
                </a:lnTo>
                <a:lnTo>
                  <a:pt x="4545" y="10000"/>
                </a:lnTo>
                <a:lnTo>
                  <a:pt x="4545" y="8609"/>
                </a:lnTo>
                <a:cubicBezTo>
                  <a:pt x="4005" y="8542"/>
                  <a:pt x="3507" y="8363"/>
                  <a:pt x="3049" y="8073"/>
                </a:cubicBezTo>
                <a:cubicBezTo>
                  <a:pt x="2591" y="7781"/>
                  <a:pt x="2217" y="7407"/>
                  <a:pt x="1927" y="6950"/>
                </a:cubicBezTo>
                <a:cubicBezTo>
                  <a:pt x="1636" y="6492"/>
                  <a:pt x="1457" y="5994"/>
                  <a:pt x="1391" y="5455"/>
                </a:cubicBezTo>
                <a:lnTo>
                  <a:pt x="0" y="5455"/>
                </a:lnTo>
                <a:lnTo>
                  <a:pt x="0" y="4545"/>
                </a:lnTo>
                <a:lnTo>
                  <a:pt x="1391" y="4545"/>
                </a:lnTo>
                <a:cubicBezTo>
                  <a:pt x="1457" y="4005"/>
                  <a:pt x="1636" y="3507"/>
                  <a:pt x="1927" y="3050"/>
                </a:cubicBezTo>
                <a:cubicBezTo>
                  <a:pt x="2217" y="2592"/>
                  <a:pt x="2591" y="2218"/>
                  <a:pt x="3049" y="1927"/>
                </a:cubicBezTo>
                <a:cubicBezTo>
                  <a:pt x="3507" y="1636"/>
                  <a:pt x="4005" y="1457"/>
                  <a:pt x="4545" y="1391"/>
                </a:cubicBezTo>
                <a:lnTo>
                  <a:pt x="4545" y="0"/>
                </a:lnTo>
                <a:moveTo>
                  <a:pt x="4999" y="2273"/>
                </a:moveTo>
                <a:cubicBezTo>
                  <a:pt x="4508" y="2273"/>
                  <a:pt x="4051" y="2397"/>
                  <a:pt x="3627" y="2645"/>
                </a:cubicBezTo>
                <a:cubicBezTo>
                  <a:pt x="3214" y="2887"/>
                  <a:pt x="2887" y="3215"/>
                  <a:pt x="2645" y="3627"/>
                </a:cubicBezTo>
                <a:cubicBezTo>
                  <a:pt x="2396" y="4051"/>
                  <a:pt x="2272" y="4509"/>
                  <a:pt x="2272" y="5000"/>
                </a:cubicBezTo>
                <a:cubicBezTo>
                  <a:pt x="2272" y="5490"/>
                  <a:pt x="2396" y="5948"/>
                  <a:pt x="2645" y="6373"/>
                </a:cubicBezTo>
                <a:cubicBezTo>
                  <a:pt x="2887" y="6785"/>
                  <a:pt x="3214" y="7112"/>
                  <a:pt x="3627" y="7355"/>
                </a:cubicBezTo>
                <a:cubicBezTo>
                  <a:pt x="4051" y="7603"/>
                  <a:pt x="4508" y="7727"/>
                  <a:pt x="4999" y="7727"/>
                </a:cubicBezTo>
                <a:cubicBezTo>
                  <a:pt x="5489" y="7727"/>
                  <a:pt x="5947" y="7603"/>
                  <a:pt x="6371" y="7355"/>
                </a:cubicBezTo>
                <a:cubicBezTo>
                  <a:pt x="6783" y="7112"/>
                  <a:pt x="7111" y="6785"/>
                  <a:pt x="7353" y="6373"/>
                </a:cubicBezTo>
                <a:cubicBezTo>
                  <a:pt x="7601" y="5948"/>
                  <a:pt x="7726" y="5490"/>
                  <a:pt x="7726" y="5000"/>
                </a:cubicBezTo>
                <a:cubicBezTo>
                  <a:pt x="7726" y="4509"/>
                  <a:pt x="7601" y="4051"/>
                  <a:pt x="7353" y="3627"/>
                </a:cubicBezTo>
                <a:cubicBezTo>
                  <a:pt x="7111" y="3215"/>
                  <a:pt x="6783" y="2887"/>
                  <a:pt x="6371" y="2645"/>
                </a:cubicBezTo>
                <a:cubicBezTo>
                  <a:pt x="5947" y="2397"/>
                  <a:pt x="5489" y="2273"/>
                  <a:pt x="4999" y="2273"/>
                </a:cubicBezTo>
                <a:moveTo>
                  <a:pt x="4999" y="4091"/>
                </a:moveTo>
                <a:cubicBezTo>
                  <a:pt x="5162" y="4091"/>
                  <a:pt x="5313" y="4132"/>
                  <a:pt x="5453" y="4214"/>
                </a:cubicBezTo>
                <a:cubicBezTo>
                  <a:pt x="5593" y="4295"/>
                  <a:pt x="5703" y="4405"/>
                  <a:pt x="5785" y="4545"/>
                </a:cubicBezTo>
                <a:cubicBezTo>
                  <a:pt x="5867" y="4685"/>
                  <a:pt x="5908" y="4836"/>
                  <a:pt x="5908" y="5000"/>
                </a:cubicBezTo>
                <a:cubicBezTo>
                  <a:pt x="5908" y="5163"/>
                  <a:pt x="5867" y="5315"/>
                  <a:pt x="5785" y="5455"/>
                </a:cubicBezTo>
                <a:cubicBezTo>
                  <a:pt x="5703" y="5594"/>
                  <a:pt x="5593" y="5704"/>
                  <a:pt x="5453" y="5786"/>
                </a:cubicBezTo>
                <a:cubicBezTo>
                  <a:pt x="5313" y="5868"/>
                  <a:pt x="5162" y="5909"/>
                  <a:pt x="4999" y="5909"/>
                </a:cubicBezTo>
                <a:cubicBezTo>
                  <a:pt x="4835" y="5909"/>
                  <a:pt x="4684" y="5868"/>
                  <a:pt x="4545" y="5786"/>
                </a:cubicBezTo>
                <a:cubicBezTo>
                  <a:pt x="4405" y="5704"/>
                  <a:pt x="4294" y="5594"/>
                  <a:pt x="4213" y="5455"/>
                </a:cubicBezTo>
                <a:cubicBezTo>
                  <a:pt x="4131" y="5315"/>
                  <a:pt x="4090" y="5163"/>
                  <a:pt x="4090" y="5000"/>
                </a:cubicBezTo>
                <a:cubicBezTo>
                  <a:pt x="4090" y="4836"/>
                  <a:pt x="4131" y="4685"/>
                  <a:pt x="4213" y="4545"/>
                </a:cubicBezTo>
                <a:cubicBezTo>
                  <a:pt x="4294" y="4405"/>
                  <a:pt x="4405" y="4295"/>
                  <a:pt x="4545" y="4214"/>
                </a:cubicBezTo>
                <a:cubicBezTo>
                  <a:pt x="4684" y="4132"/>
                  <a:pt x="4835" y="4091"/>
                  <a:pt x="4999" y="4091"/>
                </a:cubicBezTo>
              </a:path>
            </a:pathLst>
          </a:custGeom>
          <a:solidFill>
            <a:srgbClr val="B84C35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Box 31"/>
          <p:cNvSpPr txBox="1"/>
          <p:nvPr/>
        </p:nvSpPr>
        <p:spPr>
          <a:xfrm>
            <a:off x="9255985" y="3785890"/>
            <a:ext cx="2275906" cy="2476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800" b="0" i="0" strike="noStrike">
                <a:solidFill>
                  <a:srgbClr val="1A1A1A">
                    <a:alpha val="100000"/>
                  </a:srgbClr>
                </a:solidFill>
                <a:latin typeface="Source Han Serif CN" panose="02020400000000000000" charset="-122"/>
                <a:ea typeface="Source Han Serif CN" panose="02020400000000000000" charset="-122"/>
                <a:cs typeface="Source Han Serif CN" panose="02020400000000000000" charset="-122"/>
              </a:rPr>
              <a:t>普适逻辑</a:t>
            </a:r>
            <a:endParaRPr lang="en-US" sz="1100"/>
          </a:p>
        </p:txBody>
      </p:sp>
      <p:sp>
        <p:nvSpPr>
          <p:cNvPr id="32" name="TextBox 32"/>
          <p:cNvSpPr txBox="1"/>
          <p:nvPr/>
        </p:nvSpPr>
        <p:spPr>
          <a:xfrm>
            <a:off x="9255985" y="4187726"/>
            <a:ext cx="2475880" cy="604838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100" b="0" i="0" strike="noStrike">
                <a:solidFill>
                  <a:srgbClr val="1A1A1A">
                    <a:alpha val="78039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不知道最优解但能判断好坏的问</a:t>
            </a:r>
            <a:endParaRPr lang="en-US" sz="1100"/>
          </a:p>
          <a:p>
            <a:pPr algn="l"/>
            <a:r>
              <a:rPr sz="1100" b="0" i="0" strike="noStrike">
                <a:solidFill>
                  <a:srgbClr val="1A1A1A">
                    <a:alpha val="78039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题，都可通过猜测→评估→修正逼</a:t>
            </a:r>
          </a:p>
          <a:p>
            <a:pPr algn="l"/>
            <a:r>
              <a:rPr sz="1100" b="0" i="0" strike="noStrike">
                <a:solidFill>
                  <a:srgbClr val="1A1A1A">
                    <a:alpha val="78039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近答案</a:t>
            </a:r>
          </a:p>
        </p:txBody>
      </p:sp>
      <p:sp>
        <p:nvSpPr>
          <p:cNvPr id="33" name="AutoShape 33"/>
          <p:cNvSpPr/>
          <p:nvPr/>
        </p:nvSpPr>
        <p:spPr>
          <a:xfrm>
            <a:off x="9255985" y="5909221"/>
            <a:ext cx="2275906" cy="9525"/>
          </a:xfrm>
          <a:prstGeom prst="line">
            <a:avLst/>
          </a:prstGeom>
          <a:ln w="9525">
            <a:solidFill>
              <a:srgbClr val="D5CFC5">
                <a:alpha val="10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Box 34"/>
          <p:cNvSpPr txBox="1"/>
          <p:nvPr/>
        </p:nvSpPr>
        <p:spPr>
          <a:xfrm>
            <a:off x="9255985" y="6033046"/>
            <a:ext cx="2275906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B84C35">
                    <a:alpha val="10000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Try · Evaluate · Adjust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0DDD8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AutoShap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7F2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Box 4"/>
          <p:cNvSpPr txBox="1"/>
          <p:nvPr/>
        </p:nvSpPr>
        <p:spPr>
          <a:xfrm>
            <a:off x="457086" y="438150"/>
            <a:ext cx="11274781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1A1A1E">
                    <a:alpha val="54901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Numerical Methods</a:t>
            </a:r>
            <a:endParaRPr lang="en-US" sz="1100"/>
          </a:p>
        </p:txBody>
      </p:sp>
      <p:sp>
        <p:nvSpPr>
          <p:cNvPr id="5" name="TextBox 5"/>
          <p:cNvSpPr txBox="1"/>
          <p:nvPr/>
        </p:nvSpPr>
        <p:spPr>
          <a:xfrm>
            <a:off x="457086" y="714375"/>
            <a:ext cx="11274781" cy="4286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3000" b="1" i="0" strike="noStrike">
                <a:solidFill>
                  <a:srgbClr val="1A1A1E">
                    <a:alpha val="100000"/>
                  </a:srgbClr>
                </a:solidFill>
                <a:latin typeface="Source Han Serif CN" panose="02020400000000000000" charset="-122"/>
                <a:ea typeface="Source Han Serif CN" panose="02020400000000000000" charset="-122"/>
                <a:cs typeface="Source Han Serif CN" panose="02020400000000000000" charset="-122"/>
              </a:rPr>
              <a:t>离散化：让连续世界变成计算机能理解的东西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57086" y="1287661"/>
            <a:ext cx="9522" cy="649486"/>
          </a:xfrm>
          <a:prstGeom prst="line">
            <a:avLst/>
          </a:prstGeom>
          <a:ln w="9525">
            <a:solidFill>
              <a:srgbClr val="2B4C7E">
                <a:alpha val="7803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Box 7"/>
          <p:cNvSpPr txBox="1"/>
          <p:nvPr/>
        </p:nvSpPr>
        <p:spPr>
          <a:xfrm>
            <a:off x="599925" y="1325761"/>
            <a:ext cx="11589027" cy="562868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600" b="0" i="1" strike="noStrike">
                <a:solidFill>
                  <a:srgbClr val="1A1A1E">
                    <a:alpha val="78039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离散化是连接连续数学与计算机计算的关键桥梁：将连续问题切割成有限个离散小块，用有限差分近似导数，使原本无法</a:t>
            </a:r>
            <a:endParaRPr lang="en-US" sz="1100"/>
          </a:p>
          <a:p>
            <a:pPr algn="l"/>
            <a:r>
              <a:rPr sz="1600" b="0" i="1" strike="noStrike">
                <a:solidFill>
                  <a:srgbClr val="1A1A1E">
                    <a:alpha val="78039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求解的微分方程转化为可数值计算的代数方程组。</a:t>
            </a:r>
          </a:p>
        </p:txBody>
      </p:sp>
      <p:sp>
        <p:nvSpPr>
          <p:cNvPr id="8" name="AutoShape 8"/>
          <p:cNvSpPr/>
          <p:nvPr/>
        </p:nvSpPr>
        <p:spPr>
          <a:xfrm>
            <a:off x="457086" y="2146698"/>
            <a:ext cx="5570732" cy="2098477"/>
          </a:xfrm>
          <a:prstGeom prst="rect">
            <a:avLst/>
          </a:prstGeom>
          <a:solidFill>
            <a:srgbClr val="F1EDE5">
              <a:alpha val="100000"/>
            </a:srgbClr>
          </a:solidFill>
          <a:ln w="9525">
            <a:solidFill>
              <a:srgbClr val="D8D2C5">
                <a:alpha val="10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AutoShape 9"/>
          <p:cNvSpPr/>
          <p:nvPr/>
        </p:nvSpPr>
        <p:spPr>
          <a:xfrm>
            <a:off x="457086" y="2146698"/>
            <a:ext cx="5570732" cy="9525"/>
          </a:xfrm>
          <a:prstGeom prst="line">
            <a:avLst/>
          </a:prstGeom>
          <a:ln w="28575">
            <a:solidFill>
              <a:srgbClr val="2B4C7E">
                <a:alpha val="10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Box 10"/>
          <p:cNvSpPr txBox="1"/>
          <p:nvPr/>
        </p:nvSpPr>
        <p:spPr>
          <a:xfrm>
            <a:off x="676106" y="2845594"/>
            <a:ext cx="222740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1A1A1E">
                    <a:alpha val="45098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01</a:t>
            </a:r>
            <a:endParaRPr lang="en-US" sz="1100"/>
          </a:p>
        </p:txBody>
      </p:sp>
      <p:sp>
        <p:nvSpPr>
          <p:cNvPr id="11" name="TextBox 11"/>
          <p:cNvSpPr txBox="1"/>
          <p:nvPr/>
        </p:nvSpPr>
        <p:spPr>
          <a:xfrm>
            <a:off x="1032162" y="2864644"/>
            <a:ext cx="3805328" cy="679846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200" b="0" i="0" strike="noStrike">
                <a:solidFill>
                  <a:srgbClr val="1A1A1E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教室温度变化是连续系统，每一秒都有温度值，但计算</a:t>
            </a:r>
            <a:endParaRPr lang="en-US" sz="1100"/>
          </a:p>
          <a:p>
            <a:pPr algn="l"/>
            <a:r>
              <a:rPr sz="1200" b="0" i="0" strike="noStrike">
                <a:solidFill>
                  <a:srgbClr val="1A1A1E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机无法处理"无限多个点"，必须将连续问题</a:t>
            </a:r>
            <a:r>
              <a:rPr sz="1200" b="1" i="0" strike="noStrike">
                <a:solidFill>
                  <a:srgbClr val="1A1A1E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离散为每小时</a:t>
            </a:r>
          </a:p>
          <a:p>
            <a:pPr algn="l"/>
            <a:r>
              <a:rPr sz="1200" b="1" i="0" strike="noStrike">
                <a:solidFill>
                  <a:srgbClr val="1A1A1E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一个数据点</a:t>
            </a:r>
            <a:r>
              <a:rPr sz="1200" b="0" i="0" strike="noStrike">
                <a:solidFill>
                  <a:srgbClr val="1A1A1E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。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008898" y="2855119"/>
            <a:ext cx="799899" cy="1619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r">
              <a:defRPr/>
            </a:pPr>
            <a:r>
              <a:rPr lang="en-US" sz="1200" b="0" i="0" strike="noStrike">
                <a:solidFill>
                  <a:srgbClr val="2B4C7E">
                    <a:alpha val="85098"/>
                  </a:srgbClr>
                </a:solidFill>
                <a:latin typeface="Source Han Serif CN" panose="02020400000000000000" charset="-122"/>
                <a:ea typeface="Source Han Serif CN" panose="02020400000000000000" charset="-122"/>
                <a:cs typeface="Source Han Serif CN" panose="02020400000000000000" charset="-122"/>
              </a:rPr>
              <a:t>连续→离散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161134" y="2146698"/>
            <a:ext cx="5570732" cy="2098477"/>
          </a:xfrm>
          <a:prstGeom prst="rect">
            <a:avLst/>
          </a:prstGeom>
          <a:solidFill>
            <a:srgbClr val="F1EDE5">
              <a:alpha val="100000"/>
            </a:srgbClr>
          </a:solidFill>
          <a:ln w="9525">
            <a:solidFill>
              <a:srgbClr val="D8D2C5">
                <a:alpha val="10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AutoShape 14"/>
          <p:cNvSpPr/>
          <p:nvPr/>
        </p:nvSpPr>
        <p:spPr>
          <a:xfrm>
            <a:off x="6161134" y="2146698"/>
            <a:ext cx="5570732" cy="9525"/>
          </a:xfrm>
          <a:prstGeom prst="line">
            <a:avLst/>
          </a:prstGeom>
          <a:ln w="28575">
            <a:solidFill>
              <a:srgbClr val="2B4C7E">
                <a:alpha val="10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Box 15"/>
          <p:cNvSpPr txBox="1"/>
          <p:nvPr/>
        </p:nvSpPr>
        <p:spPr>
          <a:xfrm>
            <a:off x="6380155" y="2975074"/>
            <a:ext cx="222740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1A1A1E">
                    <a:alpha val="45098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02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>
            <a:off x="6736211" y="2994124"/>
            <a:ext cx="3957690" cy="420886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200" b="0" i="0" strike="noStrike">
                <a:solidFill>
                  <a:srgbClr val="1A1A1E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有限差分近似导数：</a:t>
            </a:r>
            <a:r>
              <a:rPr sz="1200" b="1" i="0" strike="noStrike">
                <a:solidFill>
                  <a:srgbClr val="1A1A1E">
                    <a:alpha val="85098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dT/dt ≈ [T(t+h) − T(t)] / h</a:t>
            </a:r>
            <a:r>
              <a:rPr sz="1200" b="0" i="0" strike="noStrike">
                <a:solidFill>
                  <a:srgbClr val="1A1A1E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，其中 h 为</a:t>
            </a:r>
            <a:endParaRPr lang="en-US" sz="1100"/>
          </a:p>
          <a:p>
            <a:pPr algn="l"/>
            <a:r>
              <a:rPr sz="1200" b="0" i="0" strike="noStrike">
                <a:solidFill>
                  <a:srgbClr val="1A1A1E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时间步长，步长越小精度越高但计算量越大。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865308" y="2984599"/>
            <a:ext cx="647537" cy="1619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r">
              <a:defRPr/>
            </a:pPr>
            <a:r>
              <a:rPr lang="en-US" sz="1200" b="0" i="0" strike="noStrike">
                <a:solidFill>
                  <a:srgbClr val="2B4C7E">
                    <a:alpha val="85098"/>
                  </a:srgbClr>
                </a:solidFill>
                <a:latin typeface="Source Han Serif CN" panose="02020400000000000000" charset="-122"/>
                <a:ea typeface="Source Han Serif CN" panose="02020400000000000000" charset="-122"/>
                <a:cs typeface="Source Han Serif CN" panose="02020400000000000000" charset="-122"/>
              </a:rPr>
              <a:t>有限差分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457086" y="4378523"/>
            <a:ext cx="5570732" cy="2098477"/>
          </a:xfrm>
          <a:prstGeom prst="rect">
            <a:avLst/>
          </a:prstGeom>
          <a:solidFill>
            <a:srgbClr val="F1EDE5">
              <a:alpha val="100000"/>
            </a:srgbClr>
          </a:solidFill>
          <a:ln w="9525">
            <a:solidFill>
              <a:srgbClr val="D8D2C5">
                <a:alpha val="10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AutoShape 19"/>
          <p:cNvSpPr/>
          <p:nvPr/>
        </p:nvSpPr>
        <p:spPr>
          <a:xfrm>
            <a:off x="457086" y="4378523"/>
            <a:ext cx="5570732" cy="9525"/>
          </a:xfrm>
          <a:prstGeom prst="line">
            <a:avLst/>
          </a:prstGeom>
          <a:ln w="28575">
            <a:solidFill>
              <a:srgbClr val="2B4C7E">
                <a:alpha val="10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Box 20"/>
          <p:cNvSpPr txBox="1"/>
          <p:nvPr/>
        </p:nvSpPr>
        <p:spPr>
          <a:xfrm>
            <a:off x="676106" y="5077421"/>
            <a:ext cx="222740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1A1A1E">
                    <a:alpha val="45098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03</a:t>
            </a:r>
            <a:endParaRPr lang="en-US" sz="1100"/>
          </a:p>
        </p:txBody>
      </p:sp>
      <p:sp>
        <p:nvSpPr>
          <p:cNvPr id="21" name="TextBox 21"/>
          <p:cNvSpPr txBox="1"/>
          <p:nvPr/>
        </p:nvSpPr>
        <p:spPr>
          <a:xfrm>
            <a:off x="1032162" y="5096471"/>
            <a:ext cx="3805328" cy="679846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200" b="0" i="0" strike="noStrike">
                <a:solidFill>
                  <a:srgbClr val="1A1A1E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离散化使连续微分方程转化为代数方程组，计算机可以</a:t>
            </a:r>
            <a:endParaRPr lang="en-US" sz="1100"/>
          </a:p>
          <a:p>
            <a:pPr algn="l"/>
            <a:r>
              <a:rPr sz="1200" b="0" i="0" strike="noStrike">
                <a:solidFill>
                  <a:srgbClr val="1A1A1E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逐步求解，这是</a:t>
            </a:r>
            <a:r>
              <a:rPr sz="1200" b="1" i="0" strike="noStrike">
                <a:solidFill>
                  <a:srgbClr val="1A1A1E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数值分析连接现实系统与计算结果</a:t>
            </a:r>
            <a:r>
              <a:rPr sz="1200" b="0" i="0" strike="noStrike">
                <a:solidFill>
                  <a:srgbClr val="1A1A1E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的核</a:t>
            </a:r>
          </a:p>
          <a:p>
            <a:pPr algn="l"/>
            <a:r>
              <a:rPr sz="1200" b="0" i="0" strike="noStrike">
                <a:solidFill>
                  <a:srgbClr val="1A1A1E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心桥梁。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008898" y="5086946"/>
            <a:ext cx="799899" cy="1619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r">
              <a:defRPr/>
            </a:pPr>
            <a:r>
              <a:rPr lang="en-US" sz="1200" b="0" i="0" strike="noStrike">
                <a:solidFill>
                  <a:srgbClr val="2B4C7E">
                    <a:alpha val="85098"/>
                  </a:srgbClr>
                </a:solidFill>
                <a:latin typeface="Source Han Serif CN" panose="02020400000000000000" charset="-122"/>
                <a:ea typeface="Source Han Serif CN" panose="02020400000000000000" charset="-122"/>
                <a:cs typeface="Source Han Serif CN" panose="02020400000000000000" charset="-122"/>
              </a:rPr>
              <a:t>代数方程组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161134" y="4378523"/>
            <a:ext cx="5570732" cy="2098477"/>
          </a:xfrm>
          <a:prstGeom prst="rect">
            <a:avLst/>
          </a:prstGeom>
          <a:solidFill>
            <a:srgbClr val="F1EDE5">
              <a:alpha val="100000"/>
            </a:srgbClr>
          </a:solidFill>
          <a:ln w="9525">
            <a:solidFill>
              <a:srgbClr val="D8D2C5">
                <a:alpha val="10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AutoShape 24"/>
          <p:cNvSpPr/>
          <p:nvPr/>
        </p:nvSpPr>
        <p:spPr>
          <a:xfrm>
            <a:off x="6161134" y="4378523"/>
            <a:ext cx="5570732" cy="9525"/>
          </a:xfrm>
          <a:prstGeom prst="line">
            <a:avLst/>
          </a:prstGeom>
          <a:ln w="28575">
            <a:solidFill>
              <a:srgbClr val="2B4C7E">
                <a:alpha val="10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Box 25"/>
          <p:cNvSpPr txBox="1"/>
          <p:nvPr/>
        </p:nvSpPr>
        <p:spPr>
          <a:xfrm>
            <a:off x="6380155" y="5077421"/>
            <a:ext cx="222740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1A1A1E">
                    <a:alpha val="45098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04</a:t>
            </a:r>
            <a:endParaRPr lang="en-US" sz="1100"/>
          </a:p>
        </p:txBody>
      </p:sp>
      <p:sp>
        <p:nvSpPr>
          <p:cNvPr id="26" name="TextBox 26"/>
          <p:cNvSpPr txBox="1"/>
          <p:nvPr/>
        </p:nvSpPr>
        <p:spPr>
          <a:xfrm>
            <a:off x="6736211" y="5096471"/>
            <a:ext cx="3991168" cy="679846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200" b="0" i="0" strike="noStrike">
                <a:solidFill>
                  <a:srgbClr val="1A1A1E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完整流程：</a:t>
            </a:r>
            <a:r>
              <a:rPr sz="1200" b="1" i="0" strike="noStrike">
                <a:solidFill>
                  <a:srgbClr val="1A1A1E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现实系统 → 数学模型 → 离散化 → 数值计算 →</a:t>
            </a:r>
            <a:endParaRPr lang="en-US" sz="1100"/>
          </a:p>
          <a:p>
            <a:pPr algn="l"/>
            <a:r>
              <a:rPr sz="1200" b="1" i="0" strike="noStrike">
                <a:solidFill>
                  <a:srgbClr val="1A1A1E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结果验证</a:t>
            </a:r>
            <a:r>
              <a:rPr sz="1200" b="0" i="0" strike="noStrike">
                <a:solidFill>
                  <a:srgbClr val="1A1A1E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，这条路径适用于绝大多数无法解析求解的建模</a:t>
            </a:r>
          </a:p>
          <a:p>
            <a:pPr algn="l"/>
            <a:r>
              <a:rPr sz="1200" b="0" i="0" strike="noStrike">
                <a:solidFill>
                  <a:srgbClr val="1A1A1E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问题。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865308" y="5086946"/>
            <a:ext cx="647537" cy="1619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r">
              <a:defRPr/>
            </a:pPr>
            <a:r>
              <a:rPr lang="en-US" sz="1200" b="0" i="0" strike="noStrike">
                <a:solidFill>
                  <a:srgbClr val="2B4C7E">
                    <a:alpha val="85098"/>
                  </a:srgbClr>
                </a:solidFill>
                <a:latin typeface="Source Han Serif CN" panose="02020400000000000000" charset="-122"/>
                <a:ea typeface="Source Han Serif CN" panose="02020400000000000000" charset="-122"/>
                <a:cs typeface="Source Han Serif CN" panose="02020400000000000000" charset="-122"/>
              </a:rPr>
              <a:t>完整流程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1B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Box 3"/>
          <p:cNvSpPr txBox="1"/>
          <p:nvPr/>
        </p:nvSpPr>
        <p:spPr>
          <a:xfrm>
            <a:off x="3020158" y="1997572"/>
            <a:ext cx="6148636" cy="2000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ctr" anchorCtr="1"/>
          <a:lstStyle/>
          <a:p>
            <a:pPr algn="ctr">
              <a:defRPr/>
            </a:pPr>
            <a:r>
              <a:rPr lang="en-US" sz="1000" b="0" i="0" strike="noStrike">
                <a:solidFill>
                  <a:srgbClr val="FAF7F2">
                    <a:alpha val="45098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Chapter 04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2435856" y="2464297"/>
            <a:ext cx="7317240" cy="754261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1"/>
          <a:lstStyle/>
          <a:p>
            <a:pPr algn="ctr">
              <a:defRPr/>
            </a:pPr>
            <a:r>
              <a:rPr lang="en-US" sz="5400" b="1" i="0" strike="noStrike">
                <a:solidFill>
                  <a:srgbClr val="FAF7F2">
                    <a:alpha val="100000"/>
                  </a:srgbClr>
                </a:solidFill>
                <a:latin typeface="Source Han Serif CN" panose="02020400000000000000" charset="-122"/>
                <a:ea typeface="Source Han Serif CN" panose="02020400000000000000" charset="-122"/>
                <a:cs typeface="Source Han Serif CN" panose="02020400000000000000" charset="-122"/>
              </a:rPr>
              <a:t>检验与表达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865933" y="3485257"/>
            <a:ext cx="457086" cy="9525"/>
          </a:xfrm>
          <a:prstGeom prst="rect">
            <a:avLst/>
          </a:prstGeom>
          <a:solidFill>
            <a:srgbClr val="B8432F">
              <a:alpha val="70196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Box 6"/>
          <p:cNvSpPr txBox="1"/>
          <p:nvPr/>
        </p:nvSpPr>
        <p:spPr>
          <a:xfrm>
            <a:off x="2847263" y="3761482"/>
            <a:ext cx="6494426" cy="3143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ctr" anchorCtr="1"/>
          <a:lstStyle/>
          <a:p>
            <a:pPr algn="ctr">
              <a:defRPr/>
            </a:pPr>
            <a:r>
              <a:rPr lang="en-US" sz="1500" b="0" i="0" strike="noStrike">
                <a:solidFill>
                  <a:srgbClr val="FAF7F2">
                    <a:alpha val="70196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模型验证与论文写作</a:t>
            </a:r>
            <a:endParaRPr lang="en-US" sz="1100"/>
          </a:p>
        </p:txBody>
      </p:sp>
      <p:sp>
        <p:nvSpPr>
          <p:cNvPr id="7" name="TextBox 7"/>
          <p:cNvSpPr txBox="1"/>
          <p:nvPr/>
        </p:nvSpPr>
        <p:spPr>
          <a:xfrm>
            <a:off x="1942614" y="4342507"/>
            <a:ext cx="8303724" cy="517923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ctr" anchorCtr="1"/>
          <a:lstStyle/>
          <a:p>
            <a:pPr algn="ctr">
              <a:defRPr/>
            </a:pPr>
            <a:r>
              <a:rPr lang="en-US" sz="1200" b="0" i="0" strike="noStrike">
                <a:solidFill>
                  <a:srgbClr val="FAF7F2">
                    <a:alpha val="4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三重验证确保模型可靠，敏感性分析测试结论稳健，标准论文结构让评委一目了</a:t>
            </a:r>
            <a:endParaRPr lang="en-US" sz="1100"/>
          </a:p>
          <a:p>
            <a:pPr algn="ctr"/>
            <a:r>
              <a:rPr sz="1200" b="0" i="0" strike="noStrike">
                <a:solidFill>
                  <a:srgbClr val="FAF7F2">
                    <a:alpha val="4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然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7F2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Box 3"/>
          <p:cNvSpPr txBox="1"/>
          <p:nvPr/>
        </p:nvSpPr>
        <p:spPr>
          <a:xfrm>
            <a:off x="457086" y="476250"/>
            <a:ext cx="11274781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1A1A1A">
                    <a:alpha val="54901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Validation Framework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457086" y="752475"/>
            <a:ext cx="11274781" cy="4286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3000" b="1" i="0" strike="noStrike">
                <a:solidFill>
                  <a:srgbClr val="1A1A1A">
                    <a:alpha val="100000"/>
                  </a:srgbClr>
                </a:solidFill>
                <a:latin typeface="Source Han Serif CN" panose="02020400000000000000" charset="-122"/>
                <a:ea typeface="Source Han Serif CN" panose="02020400000000000000" charset="-122"/>
                <a:cs typeface="Source Han Serif CN" panose="02020400000000000000" charset="-122"/>
              </a:rPr>
              <a:t>模型三重验证：算完不等于做完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457086" y="1333500"/>
            <a:ext cx="9522" cy="649486"/>
          </a:xfrm>
          <a:prstGeom prst="line">
            <a:avLst/>
          </a:prstGeom>
          <a:ln w="9525">
            <a:solidFill>
              <a:srgbClr val="C0392B">
                <a:alpha val="7803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Box 6"/>
          <p:cNvSpPr txBox="1"/>
          <p:nvPr/>
        </p:nvSpPr>
        <p:spPr>
          <a:xfrm>
            <a:off x="580880" y="1371600"/>
            <a:ext cx="11608072" cy="562868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600" b="0" i="1" strike="noStrike">
                <a:solidFill>
                  <a:srgbClr val="1A1A1A">
                    <a:alpha val="78039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可靠的数学模型必须通过三重验证：量纲一致性检查确保公式逻辑正确，极端情况检验模型在边界条件下的行为合理性，</a:t>
            </a:r>
            <a:endParaRPr lang="en-US" sz="1100"/>
          </a:p>
          <a:p>
            <a:pPr algn="l"/>
            <a:r>
              <a:rPr sz="1600" b="0" i="1" strike="noStrike">
                <a:solidFill>
                  <a:srgbClr val="1A1A1A">
                    <a:alpha val="78039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真实数据验证评估预测精度。三重验证层层递进，是从"会算"到"真懂"的关键跨越。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57086" y="2192536"/>
            <a:ext cx="11274781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1A1A1A">
                    <a:alpha val="50196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01 · 逻辑验证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57086" y="2435423"/>
            <a:ext cx="11274781" cy="844897"/>
          </a:xfrm>
          <a:prstGeom prst="rect">
            <a:avLst/>
          </a:prstGeom>
          <a:solidFill>
            <a:srgbClr val="F0ECE4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AutoShape 9"/>
          <p:cNvSpPr/>
          <p:nvPr/>
        </p:nvSpPr>
        <p:spPr>
          <a:xfrm>
            <a:off x="457086" y="2435423"/>
            <a:ext cx="11274781" cy="9525"/>
          </a:xfrm>
          <a:prstGeom prst="line">
            <a:avLst/>
          </a:prstGeom>
          <a:ln w="19050">
            <a:solidFill>
              <a:srgbClr val="C0392B">
                <a:alpha val="10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Box 10"/>
          <p:cNvSpPr txBox="1"/>
          <p:nvPr/>
        </p:nvSpPr>
        <p:spPr>
          <a:xfrm>
            <a:off x="628493" y="2777877"/>
            <a:ext cx="10931966" cy="1619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200" b="1" i="0" strike="noStrike">
                <a:solidFill>
                  <a:srgbClr val="1A1A1A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量纲检查：</a:t>
            </a:r>
            <a:r>
              <a:rPr sz="1200" b="0" i="0" strike="noStrike">
                <a:solidFill>
                  <a:srgbClr val="1A1A1A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验证方程两边单位一致性，如等待时间公式结果必须为分钟，若出现面积或速度单位则模型存在根本错误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57086" y="3375571"/>
            <a:ext cx="11274781" cy="835372"/>
          </a:xfrm>
          <a:prstGeom prst="rect">
            <a:avLst/>
          </a:prstGeom>
          <a:solidFill>
            <a:srgbClr val="F0ECE4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AutoShape 12"/>
          <p:cNvSpPr/>
          <p:nvPr/>
        </p:nvSpPr>
        <p:spPr>
          <a:xfrm>
            <a:off x="457086" y="3375571"/>
            <a:ext cx="11274781" cy="9525"/>
          </a:xfrm>
          <a:prstGeom prst="line">
            <a:avLst/>
          </a:prstGeom>
          <a:ln w="9525">
            <a:solidFill>
              <a:srgbClr val="D8D2C5">
                <a:alpha val="10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Box 13"/>
          <p:cNvSpPr txBox="1"/>
          <p:nvPr/>
        </p:nvSpPr>
        <p:spPr>
          <a:xfrm>
            <a:off x="628493" y="3708499"/>
            <a:ext cx="10931966" cy="1619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200" b="1" i="0" strike="noStrike">
                <a:solidFill>
                  <a:srgbClr val="1A1A1A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极端情况检验：</a:t>
            </a:r>
            <a:r>
              <a:rPr sz="1200" b="0" i="0" strike="noStrike">
                <a:solidFill>
                  <a:srgbClr val="1A1A1A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测试参数趋向边界时的模型行为，如学生数→0 时等待时间应→0，窗口数→∞ 时应趋近单个服务时间</a:t>
            </a:r>
            <a:endParaRPr lang="en-US" sz="1100"/>
          </a:p>
        </p:txBody>
      </p:sp>
      <p:sp>
        <p:nvSpPr>
          <p:cNvPr id="14" name="TextBox 14"/>
          <p:cNvSpPr txBox="1"/>
          <p:nvPr/>
        </p:nvSpPr>
        <p:spPr>
          <a:xfrm>
            <a:off x="457086" y="4382393"/>
            <a:ext cx="11274781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1A1A1A">
                    <a:alpha val="50196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02 · 实证验证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457086" y="4625280"/>
            <a:ext cx="11274781" cy="844897"/>
          </a:xfrm>
          <a:prstGeom prst="rect">
            <a:avLst/>
          </a:prstGeom>
          <a:solidFill>
            <a:srgbClr val="F0ECE4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AutoShape 16"/>
          <p:cNvSpPr/>
          <p:nvPr/>
        </p:nvSpPr>
        <p:spPr>
          <a:xfrm>
            <a:off x="457086" y="4625280"/>
            <a:ext cx="11274781" cy="9525"/>
          </a:xfrm>
          <a:prstGeom prst="line">
            <a:avLst/>
          </a:prstGeom>
          <a:ln w="19050">
            <a:solidFill>
              <a:srgbClr val="C0392B">
                <a:alpha val="10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Box 17"/>
          <p:cNvSpPr txBox="1"/>
          <p:nvPr/>
        </p:nvSpPr>
        <p:spPr>
          <a:xfrm>
            <a:off x="628493" y="4967735"/>
            <a:ext cx="10931966" cy="1619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200" b="1" i="0" strike="noStrike">
                <a:solidFill>
                  <a:srgbClr val="1A1A1A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真实数据验证：</a:t>
            </a:r>
            <a:r>
              <a:rPr sz="1200" b="0" i="0" strike="noStrike">
                <a:solidFill>
                  <a:srgbClr val="1A1A1A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将模型预测值（如平均等待 6.2 分钟）与实地测量值（6.5 分钟）对比，计算相对误差约 4.8%，在置信区间内则通过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457086" y="5565428"/>
            <a:ext cx="11274781" cy="835372"/>
          </a:xfrm>
          <a:prstGeom prst="rect">
            <a:avLst/>
          </a:prstGeom>
          <a:solidFill>
            <a:srgbClr val="F0ECE4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AutoShape 19"/>
          <p:cNvSpPr/>
          <p:nvPr/>
        </p:nvSpPr>
        <p:spPr>
          <a:xfrm>
            <a:off x="457086" y="5565428"/>
            <a:ext cx="11274781" cy="9525"/>
          </a:xfrm>
          <a:prstGeom prst="line">
            <a:avLst/>
          </a:prstGeom>
          <a:ln w="9525">
            <a:solidFill>
              <a:srgbClr val="D8D2C5">
                <a:alpha val="10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Box 20"/>
          <p:cNvSpPr txBox="1"/>
          <p:nvPr/>
        </p:nvSpPr>
        <p:spPr>
          <a:xfrm>
            <a:off x="628493" y="5898356"/>
            <a:ext cx="10931966" cy="1619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200" b="0" i="0" strike="noStrike">
                <a:solidFill>
                  <a:srgbClr val="1A1A1A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Validation 是建模从"纸面推导"走向"解决现实问题"的分水岭，HiMCM 评审明确要求讨论模型的 </a:t>
            </a:r>
            <a:r>
              <a:rPr sz="1200" b="1" i="0" strike="noStrike">
                <a:solidFill>
                  <a:srgbClr val="1A1A1A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strengths</a:t>
            </a:r>
            <a:r>
              <a:rPr sz="1200" b="0" i="0" strike="noStrike">
                <a:solidFill>
                  <a:srgbClr val="1A1A1A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 与 </a:t>
            </a:r>
            <a:r>
              <a:rPr sz="1200" b="1" i="0" strike="noStrike">
                <a:solidFill>
                  <a:srgbClr val="1A1A1A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weaknesses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7F2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Box 3"/>
          <p:cNvSpPr txBox="1"/>
          <p:nvPr/>
        </p:nvSpPr>
        <p:spPr>
          <a:xfrm>
            <a:off x="457086" y="476250"/>
            <a:ext cx="11274781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1A1A1E">
                    <a:alpha val="50196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SENSITIVITY ANALYSIS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457086" y="733425"/>
            <a:ext cx="11274781" cy="4286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3000" b="1" i="0" strike="noStrike">
                <a:solidFill>
                  <a:srgbClr val="1A1A1E">
                    <a:alpha val="100000"/>
                  </a:srgbClr>
                </a:solidFill>
                <a:latin typeface="Source Han Serif CN" panose="02020400000000000000" charset="-122"/>
                <a:ea typeface="Source Han Serif CN" panose="02020400000000000000" charset="-122"/>
                <a:cs typeface="Source Han Serif CN" panose="02020400000000000000" charset="-122"/>
              </a:rPr>
              <a:t>敏感性分析：我的答案到底有多脆弱？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457086" y="1295400"/>
            <a:ext cx="9522" cy="324743"/>
          </a:xfrm>
          <a:prstGeom prst="line">
            <a:avLst/>
          </a:prstGeom>
          <a:ln w="9525">
            <a:solidFill>
              <a:srgbClr val="2C5F8A">
                <a:alpha val="7803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Box 6"/>
          <p:cNvSpPr txBox="1"/>
          <p:nvPr/>
        </p:nvSpPr>
        <p:spPr>
          <a:xfrm>
            <a:off x="580880" y="1333500"/>
            <a:ext cx="11150986" cy="2381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600" b="0" i="1" strike="noStrike">
                <a:solidFill>
                  <a:srgbClr val="1A1A1E">
                    <a:alpha val="78039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一个好的模型不仅要"算得准"，更要在参数扰动下保持结论稳健。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57086" y="1753493"/>
            <a:ext cx="4551812" cy="1492002"/>
          </a:xfrm>
          <a:prstGeom prst="rect">
            <a:avLst/>
          </a:prstGeom>
          <a:solidFill>
            <a:srgbClr val="F1EDE5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AutoShape 8"/>
          <p:cNvSpPr/>
          <p:nvPr/>
        </p:nvSpPr>
        <p:spPr>
          <a:xfrm>
            <a:off x="457086" y="1753493"/>
            <a:ext cx="4551812" cy="9525"/>
          </a:xfrm>
          <a:prstGeom prst="line">
            <a:avLst/>
          </a:prstGeom>
          <a:ln w="19050">
            <a:solidFill>
              <a:srgbClr val="2C5F8A">
                <a:alpha val="10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Box 9"/>
          <p:cNvSpPr txBox="1"/>
          <p:nvPr/>
        </p:nvSpPr>
        <p:spPr>
          <a:xfrm>
            <a:off x="628493" y="2183309"/>
            <a:ext cx="4380404" cy="63430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200" b="1" i="0" strike="noStrike">
                <a:solidFill>
                  <a:srgbClr val="1A1A1E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最优解验证：</a:t>
            </a:r>
            <a:r>
              <a:rPr sz="1200" b="0" i="0" strike="noStrike">
                <a:solidFill>
                  <a:srgbClr val="1A1A1E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食堂最优窗口数 k=7，但当学生数量 +10%、服</a:t>
            </a:r>
            <a:endParaRPr lang="en-US" sz="1100"/>
          </a:p>
          <a:p>
            <a:pPr algn="l"/>
            <a:r>
              <a:rPr sz="1200" b="0" i="0" strike="noStrike">
                <a:solidFill>
                  <a:srgbClr val="1A1A1E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务时间 +5%、高峰提前 5 分钟后，最优解是否仍为 7？若变为</a:t>
            </a:r>
          </a:p>
          <a:p>
            <a:pPr algn="l"/>
            <a:r>
              <a:rPr sz="1200" b="0" i="0" strike="noStrike">
                <a:solidFill>
                  <a:srgbClr val="1A1A1E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9 则模型敏感。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457086" y="3340745"/>
            <a:ext cx="4551812" cy="1482477"/>
          </a:xfrm>
          <a:prstGeom prst="rect">
            <a:avLst/>
          </a:prstGeom>
          <a:solidFill>
            <a:srgbClr val="F1EDE5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AutoShape 11"/>
          <p:cNvSpPr/>
          <p:nvPr/>
        </p:nvSpPr>
        <p:spPr>
          <a:xfrm>
            <a:off x="457086" y="3340745"/>
            <a:ext cx="4551812" cy="9525"/>
          </a:xfrm>
          <a:prstGeom prst="line">
            <a:avLst/>
          </a:prstGeom>
          <a:ln w="9525">
            <a:solidFill>
              <a:srgbClr val="D8D2C5">
                <a:alpha val="10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Box 12"/>
          <p:cNvSpPr txBox="1"/>
          <p:nvPr/>
        </p:nvSpPr>
        <p:spPr>
          <a:xfrm>
            <a:off x="628493" y="3879056"/>
            <a:ext cx="4380404" cy="398116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200" b="1" i="0" strike="noStrike">
                <a:solidFill>
                  <a:srgbClr val="1A1A1E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边际递减：</a:t>
            </a:r>
            <a:r>
              <a:rPr sz="1200" b="0" i="0" strike="noStrike">
                <a:solidFill>
                  <a:srgbClr val="1A1A1E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等待时间 T(k) 随窗口数增加而递减，但增速放缓，</a:t>
            </a:r>
            <a:endParaRPr lang="en-US" sz="1100"/>
          </a:p>
          <a:p>
            <a:pPr algn="l"/>
            <a:r>
              <a:rPr sz="1200" b="0" i="0" strike="noStrike">
                <a:solidFill>
                  <a:srgbClr val="1A1A1E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第 7 个窗口的改善远大于第 10 个窗口。</a:t>
            </a:r>
          </a:p>
        </p:txBody>
      </p:sp>
      <p:sp>
        <p:nvSpPr>
          <p:cNvPr id="13" name="AutoShape 13"/>
          <p:cNvSpPr/>
          <p:nvPr/>
        </p:nvSpPr>
        <p:spPr>
          <a:xfrm>
            <a:off x="457086" y="4918473"/>
            <a:ext cx="4551812" cy="1482477"/>
          </a:xfrm>
          <a:prstGeom prst="rect">
            <a:avLst/>
          </a:prstGeom>
          <a:solidFill>
            <a:srgbClr val="F1EDE5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AutoShape 14"/>
          <p:cNvSpPr/>
          <p:nvPr/>
        </p:nvSpPr>
        <p:spPr>
          <a:xfrm>
            <a:off x="457086" y="4918473"/>
            <a:ext cx="4551812" cy="9525"/>
          </a:xfrm>
          <a:prstGeom prst="line">
            <a:avLst/>
          </a:prstGeom>
          <a:ln w="9525">
            <a:solidFill>
              <a:srgbClr val="D8D2C5">
                <a:alpha val="10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Box 15"/>
          <p:cNvSpPr txBox="1"/>
          <p:nvPr/>
        </p:nvSpPr>
        <p:spPr>
          <a:xfrm>
            <a:off x="628493" y="5456784"/>
            <a:ext cx="4380404" cy="398116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200" b="1" i="0" strike="noStrike">
                <a:solidFill>
                  <a:srgbClr val="1A1A1E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鲁棒性标准：</a:t>
            </a:r>
            <a:r>
              <a:rPr sz="1200" b="0" i="0" strike="noStrike">
                <a:solidFill>
                  <a:srgbClr val="1A1A1E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参数扰动 ±10% 后最优解不变则模型可信，剧烈</a:t>
            </a:r>
            <a:endParaRPr lang="en-US" sz="1100"/>
          </a:p>
          <a:p>
            <a:pPr algn="l"/>
            <a:r>
              <a:rPr sz="1200" b="0" i="0" strike="noStrike">
                <a:solidFill>
                  <a:srgbClr val="1A1A1E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波动则需重新评估假设或增加弹性设计。</a:t>
            </a:r>
          </a:p>
        </p:txBody>
      </p:sp>
      <p:sp>
        <p:nvSpPr>
          <p:cNvPr id="16" name="AutoShape 16"/>
          <p:cNvSpPr/>
          <p:nvPr/>
        </p:nvSpPr>
        <p:spPr>
          <a:xfrm>
            <a:off x="5351711" y="1753493"/>
            <a:ext cx="6380155" cy="4647307"/>
          </a:xfrm>
          <a:prstGeom prst="rect">
            <a:avLst/>
          </a:prstGeom>
          <a:solidFill>
            <a:srgbClr val="F1EDE5">
              <a:alpha val="100000"/>
            </a:srgbClr>
          </a:solidFill>
          <a:ln w="9525">
            <a:solidFill>
              <a:srgbClr val="D8D2C5">
                <a:alpha val="10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AutoShape 17"/>
          <p:cNvSpPr/>
          <p:nvPr/>
        </p:nvSpPr>
        <p:spPr>
          <a:xfrm>
            <a:off x="5351711" y="1753493"/>
            <a:ext cx="6380155" cy="9525"/>
          </a:xfrm>
          <a:prstGeom prst="line">
            <a:avLst/>
          </a:prstGeom>
          <a:ln w="28575">
            <a:solidFill>
              <a:srgbClr val="2C5F8A">
                <a:alpha val="10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Box 18"/>
          <p:cNvSpPr txBox="1"/>
          <p:nvPr/>
        </p:nvSpPr>
        <p:spPr>
          <a:xfrm>
            <a:off x="6516820" y="2010668"/>
            <a:ext cx="4049940" cy="2857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ctr" anchorCtr="1"/>
          <a:lstStyle/>
          <a:p>
            <a:pPr algn="ctr">
              <a:defRPr/>
            </a:pPr>
            <a:r>
              <a:rPr lang="en-US" sz="1500" b="1" i="0" strike="noStrike">
                <a:solidFill>
                  <a:srgbClr val="1A1A1E">
                    <a:alpha val="100000"/>
                  </a:srgbClr>
                </a:solidFill>
                <a:latin typeface="Source Han Serif CN" panose="02020400000000000000" charset="-122"/>
                <a:ea typeface="Source Han Serif CN" panose="02020400000000000000" charset="-122"/>
                <a:cs typeface="Source Han Serif CN" panose="02020400000000000000" charset="-122"/>
              </a:rPr>
              <a:t>等待时间 vs 窗口数量 T(k)</a:t>
            </a:r>
            <a:endParaRPr lang="en-US" sz="1100"/>
          </a:p>
        </p:txBody>
      </p:sp>
      <p:graphicFrame>
        <p:nvGraphicFramePr>
          <p:cNvPr id="19" name="Chart 19"/>
          <p:cNvGraphicFramePr>
            <a:graphicFrameLocks noGrp="1"/>
          </p:cNvGraphicFramePr>
          <p:nvPr/>
        </p:nvGraphicFramePr>
        <p:xfrm>
          <a:off x="5589777" y="2410718"/>
          <a:ext cx="5904023" cy="348525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13421" y="5991225"/>
            <a:ext cx="4456735" cy="1714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ctr" anchorCtr="1"/>
          <a:lstStyle/>
          <a:p>
            <a:pPr algn="ctr">
              <a:defRPr/>
            </a:pPr>
            <a:r>
              <a:rPr lang="en-US" sz="900" b="0" i="0" strike="noStrike">
                <a:solidFill>
                  <a:srgbClr val="1A1A1E">
                    <a:alpha val="50196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窗口数从 4 增至 7 时等待时间急剧下降，超过 7 后改善趋缓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7F2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Box 3"/>
          <p:cNvSpPr txBox="1"/>
          <p:nvPr/>
        </p:nvSpPr>
        <p:spPr>
          <a:xfrm>
            <a:off x="457086" y="476250"/>
            <a:ext cx="11274781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1A1A1A">
                    <a:alpha val="54901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Paper Structure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457086" y="752475"/>
            <a:ext cx="11274781" cy="4286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3000" b="1" i="0" strike="noStrike">
                <a:solidFill>
                  <a:srgbClr val="1A1A1A">
                    <a:alpha val="100000"/>
                  </a:srgbClr>
                </a:solidFill>
                <a:latin typeface="Source Han Serif CN" panose="02020400000000000000" charset="-122"/>
                <a:ea typeface="Source Han Serif CN" panose="02020400000000000000" charset="-122"/>
                <a:cs typeface="Source Han Serif CN" panose="02020400000000000000" charset="-122"/>
              </a:rPr>
              <a:t>HiMCM 标准论文结构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457086" y="1295400"/>
            <a:ext cx="9522" cy="649486"/>
          </a:xfrm>
          <a:prstGeom prst="line">
            <a:avLst/>
          </a:prstGeom>
          <a:ln w="9525">
            <a:solidFill>
              <a:srgbClr val="C45C3C">
                <a:alpha val="7803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Box 6"/>
          <p:cNvSpPr txBox="1"/>
          <p:nvPr/>
        </p:nvSpPr>
        <p:spPr>
          <a:xfrm>
            <a:off x="580880" y="1333500"/>
            <a:ext cx="11608072" cy="562868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600" b="0" i="1" strike="noStrike">
                <a:solidFill>
                  <a:srgbClr val="1A1A1A">
                    <a:alpha val="78039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数学建模竞赛论文遵循标准化结构，与 COMAP 评审标准完全对齐。论文不是模板填空，而是建模思维的自然展开——从</a:t>
            </a:r>
            <a:endParaRPr lang="en-US" sz="1100"/>
          </a:p>
          <a:p>
            <a:pPr algn="l"/>
            <a:r>
              <a:rPr sz="1600" b="0" i="1" strike="noStrike">
                <a:solidFill>
                  <a:srgbClr val="1A1A1A">
                    <a:alpha val="78039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摘要到结论，每个部分都对应建模闭环中的一个关键环节，确保逻辑严谨、表达清晰。</a:t>
            </a:r>
          </a:p>
        </p:txBody>
      </p:sp>
      <p:sp>
        <p:nvSpPr>
          <p:cNvPr id="7" name="AutoShape 7"/>
          <p:cNvSpPr/>
          <p:nvPr/>
        </p:nvSpPr>
        <p:spPr>
          <a:xfrm>
            <a:off x="457086" y="2378273"/>
            <a:ext cx="5485028" cy="9525"/>
          </a:xfrm>
          <a:prstGeom prst="line">
            <a:avLst/>
          </a:prstGeom>
          <a:ln w="9525">
            <a:solidFill>
              <a:srgbClr val="D8D2C5">
                <a:alpha val="45098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Box 8"/>
          <p:cNvSpPr txBox="1"/>
          <p:nvPr/>
        </p:nvSpPr>
        <p:spPr>
          <a:xfrm>
            <a:off x="457086" y="2135386"/>
            <a:ext cx="5485028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1A1A1A">
                    <a:alpha val="45098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基础框架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57086" y="2483048"/>
            <a:ext cx="2685378" cy="1901726"/>
          </a:xfrm>
          <a:prstGeom prst="rect">
            <a:avLst/>
          </a:prstGeom>
          <a:solidFill>
            <a:srgbClr val="F1EDE5">
              <a:alpha val="100000"/>
            </a:srgbClr>
          </a:solidFill>
          <a:ln w="9525">
            <a:solidFill>
              <a:srgbClr val="D8D2C5">
                <a:alpha val="10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AutoShape 10"/>
          <p:cNvSpPr/>
          <p:nvPr/>
        </p:nvSpPr>
        <p:spPr>
          <a:xfrm>
            <a:off x="457086" y="2483048"/>
            <a:ext cx="2685378" cy="9525"/>
          </a:xfrm>
          <a:prstGeom prst="line">
            <a:avLst/>
          </a:prstGeom>
          <a:ln w="28575">
            <a:solidFill>
              <a:srgbClr val="C45C3C">
                <a:alpha val="10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Box 11"/>
          <p:cNvSpPr txBox="1"/>
          <p:nvPr/>
        </p:nvSpPr>
        <p:spPr>
          <a:xfrm>
            <a:off x="599925" y="3018384"/>
            <a:ext cx="2399701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1A1A1A">
                    <a:alpha val="45098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01</a:t>
            </a:r>
            <a:endParaRPr lang="en-US" sz="1100"/>
          </a:p>
        </p:txBody>
      </p:sp>
      <p:sp>
        <p:nvSpPr>
          <p:cNvPr id="12" name="TextBox 12"/>
          <p:cNvSpPr txBox="1"/>
          <p:nvPr/>
        </p:nvSpPr>
        <p:spPr>
          <a:xfrm>
            <a:off x="599925" y="3251746"/>
            <a:ext cx="2542539" cy="604838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100" b="0" i="0" strike="noStrike">
                <a:solidFill>
                  <a:srgbClr val="1A1A1A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Summary 四句话结构：明确问题、方</a:t>
            </a:r>
            <a:endParaRPr lang="en-US" sz="1100"/>
          </a:p>
          <a:p>
            <a:pPr algn="l"/>
            <a:r>
              <a:rPr sz="1100" b="0" i="0" strike="noStrike">
                <a:solidFill>
                  <a:srgbClr val="1A1A1A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法、关键数值结果、最终建议，避免</a:t>
            </a:r>
          </a:p>
          <a:p>
            <a:pPr algn="l"/>
            <a:r>
              <a:rPr sz="1100" b="0" i="0" strike="noStrike">
                <a:solidFill>
                  <a:srgbClr val="1A1A1A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写成 Introduction 缩写或泛泛而谈</a:t>
            </a:r>
          </a:p>
        </p:txBody>
      </p:sp>
      <p:sp>
        <p:nvSpPr>
          <p:cNvPr id="13" name="AutoShape 13"/>
          <p:cNvSpPr/>
          <p:nvPr/>
        </p:nvSpPr>
        <p:spPr>
          <a:xfrm>
            <a:off x="3256736" y="2483048"/>
            <a:ext cx="2685378" cy="1901726"/>
          </a:xfrm>
          <a:prstGeom prst="rect">
            <a:avLst/>
          </a:prstGeom>
          <a:solidFill>
            <a:srgbClr val="F1EDE5">
              <a:alpha val="100000"/>
            </a:srgbClr>
          </a:solidFill>
          <a:ln w="9525">
            <a:solidFill>
              <a:srgbClr val="D8D2C5">
                <a:alpha val="10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AutoShape 14"/>
          <p:cNvSpPr/>
          <p:nvPr/>
        </p:nvSpPr>
        <p:spPr>
          <a:xfrm>
            <a:off x="3256736" y="2483048"/>
            <a:ext cx="2685378" cy="9525"/>
          </a:xfrm>
          <a:prstGeom prst="line">
            <a:avLst/>
          </a:prstGeom>
          <a:ln w="28575">
            <a:solidFill>
              <a:srgbClr val="C45C3C">
                <a:alpha val="10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Box 15"/>
          <p:cNvSpPr txBox="1"/>
          <p:nvPr/>
        </p:nvSpPr>
        <p:spPr>
          <a:xfrm>
            <a:off x="3399575" y="3018384"/>
            <a:ext cx="2399701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1A1A1A">
                    <a:alpha val="45098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02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>
            <a:off x="3399575" y="3251746"/>
            <a:ext cx="2542539" cy="604838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100" b="0" i="0" strike="noStrike">
                <a:solidFill>
                  <a:srgbClr val="1A1A1A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Assumptions &amp; Justifications：不仅列</a:t>
            </a:r>
            <a:endParaRPr lang="en-US" sz="1100"/>
          </a:p>
          <a:p>
            <a:pPr algn="l"/>
            <a:r>
              <a:rPr sz="1100" b="0" i="0" strike="noStrike">
                <a:solidFill>
                  <a:srgbClr val="1A1A1A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出简化假设，还需论证其合理性，需</a:t>
            </a:r>
          </a:p>
          <a:p>
            <a:pPr algn="l"/>
            <a:r>
              <a:rPr sz="1100" b="0" i="0" strike="noStrike">
                <a:solidFill>
                  <a:srgbClr val="1A1A1A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配合实地数据支撑</a:t>
            </a:r>
          </a:p>
        </p:txBody>
      </p:sp>
      <p:sp>
        <p:nvSpPr>
          <p:cNvPr id="17" name="AutoShape 17"/>
          <p:cNvSpPr/>
          <p:nvPr/>
        </p:nvSpPr>
        <p:spPr>
          <a:xfrm>
            <a:off x="457086" y="4499074"/>
            <a:ext cx="2685378" cy="1901726"/>
          </a:xfrm>
          <a:prstGeom prst="rect">
            <a:avLst/>
          </a:prstGeom>
          <a:solidFill>
            <a:srgbClr val="F1EDE5">
              <a:alpha val="100000"/>
            </a:srgbClr>
          </a:solidFill>
          <a:ln w="9525">
            <a:solidFill>
              <a:srgbClr val="D8D2C5">
                <a:alpha val="10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AutoShape 18"/>
          <p:cNvSpPr/>
          <p:nvPr/>
        </p:nvSpPr>
        <p:spPr>
          <a:xfrm>
            <a:off x="457086" y="4499074"/>
            <a:ext cx="2685378" cy="9525"/>
          </a:xfrm>
          <a:prstGeom prst="line">
            <a:avLst/>
          </a:prstGeom>
          <a:ln w="28575">
            <a:solidFill>
              <a:srgbClr val="C45C3C">
                <a:alpha val="10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Box 19"/>
          <p:cNvSpPr txBox="1"/>
          <p:nvPr/>
        </p:nvSpPr>
        <p:spPr>
          <a:xfrm>
            <a:off x="599925" y="5034410"/>
            <a:ext cx="2399701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1A1A1A">
                    <a:alpha val="45098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03</a:t>
            </a:r>
            <a:endParaRPr lang="en-US" sz="1100"/>
          </a:p>
        </p:txBody>
      </p:sp>
      <p:sp>
        <p:nvSpPr>
          <p:cNvPr id="20" name="TextBox 20"/>
          <p:cNvSpPr txBox="1"/>
          <p:nvPr/>
        </p:nvSpPr>
        <p:spPr>
          <a:xfrm>
            <a:off x="599925" y="5267772"/>
            <a:ext cx="2542539" cy="604838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100" b="0" i="0" strike="noStrike">
                <a:solidFill>
                  <a:srgbClr val="1A1A1A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Model Development 分层递进：先建</a:t>
            </a:r>
            <a:endParaRPr lang="en-US" sz="1100"/>
          </a:p>
          <a:p>
            <a:pPr algn="l"/>
            <a:r>
              <a:rPr sz="1100" b="0" i="0" strike="noStrike">
                <a:solidFill>
                  <a:srgbClr val="1A1A1A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简化模型抓住主要矛盾，再逐步增加</a:t>
            </a:r>
          </a:p>
          <a:p>
            <a:pPr algn="l"/>
            <a:r>
              <a:rPr sz="1100" b="0" i="0" strike="noStrike">
                <a:solidFill>
                  <a:srgbClr val="1A1A1A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复杂度，最后说明数值求解方法</a:t>
            </a:r>
          </a:p>
        </p:txBody>
      </p:sp>
      <p:sp>
        <p:nvSpPr>
          <p:cNvPr id="21" name="AutoShape 21"/>
          <p:cNvSpPr/>
          <p:nvPr/>
        </p:nvSpPr>
        <p:spPr>
          <a:xfrm>
            <a:off x="3256736" y="4499074"/>
            <a:ext cx="2685378" cy="1901726"/>
          </a:xfrm>
          <a:prstGeom prst="rect">
            <a:avLst/>
          </a:prstGeom>
          <a:solidFill>
            <a:srgbClr val="F1EDE5">
              <a:alpha val="100000"/>
            </a:srgbClr>
          </a:solidFill>
          <a:ln w="9525">
            <a:solidFill>
              <a:srgbClr val="D8D2C5">
                <a:alpha val="10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AutoShape 22"/>
          <p:cNvSpPr/>
          <p:nvPr/>
        </p:nvSpPr>
        <p:spPr>
          <a:xfrm>
            <a:off x="3256736" y="4499074"/>
            <a:ext cx="2685378" cy="9525"/>
          </a:xfrm>
          <a:prstGeom prst="line">
            <a:avLst/>
          </a:prstGeom>
          <a:ln w="28575">
            <a:solidFill>
              <a:srgbClr val="C45C3C">
                <a:alpha val="10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Box 23"/>
          <p:cNvSpPr txBox="1"/>
          <p:nvPr/>
        </p:nvSpPr>
        <p:spPr>
          <a:xfrm>
            <a:off x="3399575" y="5034410"/>
            <a:ext cx="2399701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1A1A1A">
                    <a:alpha val="45098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04</a:t>
            </a:r>
            <a:endParaRPr lang="en-US" sz="1100"/>
          </a:p>
        </p:txBody>
      </p:sp>
      <p:sp>
        <p:nvSpPr>
          <p:cNvPr id="24" name="TextBox 24"/>
          <p:cNvSpPr txBox="1"/>
          <p:nvPr/>
        </p:nvSpPr>
        <p:spPr>
          <a:xfrm>
            <a:off x="3399575" y="5267772"/>
            <a:ext cx="2542539" cy="604838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100" b="0" i="0" strike="noStrike">
                <a:solidFill>
                  <a:srgbClr val="1A1A1A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Notation 符号表：统一全文记号，每</a:t>
            </a:r>
            <a:endParaRPr lang="en-US" sz="1100"/>
          </a:p>
          <a:p>
            <a:pPr algn="l"/>
            <a:r>
              <a:rPr sz="1100" b="0" i="0" strike="noStrike">
                <a:solidFill>
                  <a:srgbClr val="1A1A1A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个符号标注含义、量纲和说明，放在</a:t>
            </a:r>
          </a:p>
          <a:p>
            <a:pPr algn="l"/>
            <a:r>
              <a:rPr sz="1100" b="0" i="0" strike="noStrike">
                <a:solidFill>
                  <a:srgbClr val="1A1A1A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建模页之前避免后文重复解释</a:t>
            </a:r>
          </a:p>
        </p:txBody>
      </p:sp>
      <p:sp>
        <p:nvSpPr>
          <p:cNvPr id="25" name="AutoShape 25"/>
          <p:cNvSpPr/>
          <p:nvPr/>
        </p:nvSpPr>
        <p:spPr>
          <a:xfrm>
            <a:off x="6246838" y="2378273"/>
            <a:ext cx="5485028" cy="9525"/>
          </a:xfrm>
          <a:prstGeom prst="line">
            <a:avLst/>
          </a:prstGeom>
          <a:ln w="9525">
            <a:solidFill>
              <a:srgbClr val="D8D2C5">
                <a:alpha val="45098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Box 26"/>
          <p:cNvSpPr txBox="1"/>
          <p:nvPr/>
        </p:nvSpPr>
        <p:spPr>
          <a:xfrm>
            <a:off x="6246838" y="2135386"/>
            <a:ext cx="5485028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1A1A1A">
                    <a:alpha val="45098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验证与结论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6246838" y="2483048"/>
            <a:ext cx="5485028" cy="1229766"/>
          </a:xfrm>
          <a:prstGeom prst="rect">
            <a:avLst/>
          </a:prstGeom>
          <a:solidFill>
            <a:srgbClr val="F1EDE5">
              <a:alpha val="100000"/>
            </a:srgbClr>
          </a:solidFill>
          <a:ln w="9525">
            <a:solidFill>
              <a:srgbClr val="D8D2C5">
                <a:alpha val="10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AutoShape 28"/>
          <p:cNvSpPr/>
          <p:nvPr/>
        </p:nvSpPr>
        <p:spPr>
          <a:xfrm>
            <a:off x="6246838" y="2483048"/>
            <a:ext cx="5485028" cy="9525"/>
          </a:xfrm>
          <a:prstGeom prst="line">
            <a:avLst/>
          </a:prstGeom>
          <a:ln w="28575">
            <a:solidFill>
              <a:srgbClr val="C45C3C">
                <a:alpha val="10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Box 29"/>
          <p:cNvSpPr txBox="1"/>
          <p:nvPr/>
        </p:nvSpPr>
        <p:spPr>
          <a:xfrm>
            <a:off x="6427767" y="2793058"/>
            <a:ext cx="5123169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1A1A1A">
                    <a:alpha val="45098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05</a:t>
            </a:r>
            <a:endParaRPr lang="en-US" sz="1100"/>
          </a:p>
        </p:txBody>
      </p:sp>
      <p:sp>
        <p:nvSpPr>
          <p:cNvPr id="30" name="TextBox 30"/>
          <p:cNvSpPr txBox="1"/>
          <p:nvPr/>
        </p:nvSpPr>
        <p:spPr>
          <a:xfrm>
            <a:off x="6427767" y="3026420"/>
            <a:ext cx="5304099" cy="383381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100" b="0" i="0" strike="noStrike">
                <a:solidFill>
                  <a:srgbClr val="1A1A1A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Validation &amp; Sensitivity：展示模型预测与真实数据对比，用图表呈现参数变化对</a:t>
            </a:r>
            <a:endParaRPr lang="en-US" sz="1100"/>
          </a:p>
          <a:p>
            <a:pPr algn="l"/>
            <a:r>
              <a:rPr sz="1100" b="0" i="0" strike="noStrike">
                <a:solidFill>
                  <a:srgbClr val="1A1A1A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结果的影响程度，证明模型稳健性</a:t>
            </a:r>
          </a:p>
        </p:txBody>
      </p:sp>
      <p:sp>
        <p:nvSpPr>
          <p:cNvPr id="31" name="AutoShape 31"/>
          <p:cNvSpPr/>
          <p:nvPr/>
        </p:nvSpPr>
        <p:spPr>
          <a:xfrm>
            <a:off x="6246838" y="3827116"/>
            <a:ext cx="5485028" cy="1229766"/>
          </a:xfrm>
          <a:prstGeom prst="rect">
            <a:avLst/>
          </a:prstGeom>
          <a:solidFill>
            <a:srgbClr val="F1EDE5">
              <a:alpha val="100000"/>
            </a:srgbClr>
          </a:solidFill>
          <a:ln w="9525">
            <a:solidFill>
              <a:srgbClr val="D8D2C5">
                <a:alpha val="10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AutoShape 32"/>
          <p:cNvSpPr/>
          <p:nvPr/>
        </p:nvSpPr>
        <p:spPr>
          <a:xfrm>
            <a:off x="6246838" y="3827116"/>
            <a:ext cx="5485028" cy="9525"/>
          </a:xfrm>
          <a:prstGeom prst="line">
            <a:avLst/>
          </a:prstGeom>
          <a:ln w="28575">
            <a:solidFill>
              <a:srgbClr val="C45C3C">
                <a:alpha val="10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Box 33"/>
          <p:cNvSpPr txBox="1"/>
          <p:nvPr/>
        </p:nvSpPr>
        <p:spPr>
          <a:xfrm>
            <a:off x="6427767" y="4247853"/>
            <a:ext cx="5123169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1A1A1A">
                    <a:alpha val="45098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06</a:t>
            </a:r>
            <a:endParaRPr lang="en-US" sz="1100"/>
          </a:p>
        </p:txBody>
      </p:sp>
      <p:sp>
        <p:nvSpPr>
          <p:cNvPr id="34" name="TextBox 34"/>
          <p:cNvSpPr txBox="1"/>
          <p:nvPr/>
        </p:nvSpPr>
        <p:spPr>
          <a:xfrm>
            <a:off x="6427767" y="4481215"/>
            <a:ext cx="5123169" cy="1619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100" b="0" i="0" strike="noStrike">
                <a:solidFill>
                  <a:srgbClr val="1A1A1A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Strengths &amp; Weaknesses：诚实讨论模型的优势与局限，展现批判性思维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6246838" y="5171182"/>
            <a:ext cx="5485028" cy="1229766"/>
          </a:xfrm>
          <a:prstGeom prst="rect">
            <a:avLst/>
          </a:prstGeom>
          <a:solidFill>
            <a:srgbClr val="F1EDE5">
              <a:alpha val="100000"/>
            </a:srgbClr>
          </a:solidFill>
          <a:ln w="9525">
            <a:solidFill>
              <a:srgbClr val="D8D2C5">
                <a:alpha val="10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AutoShape 36"/>
          <p:cNvSpPr/>
          <p:nvPr/>
        </p:nvSpPr>
        <p:spPr>
          <a:xfrm>
            <a:off x="6246838" y="5171182"/>
            <a:ext cx="5485028" cy="9525"/>
          </a:xfrm>
          <a:prstGeom prst="line">
            <a:avLst/>
          </a:prstGeom>
          <a:ln w="28575">
            <a:solidFill>
              <a:srgbClr val="C45C3C">
                <a:alpha val="10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TextBox 37"/>
          <p:cNvSpPr txBox="1"/>
          <p:nvPr/>
        </p:nvSpPr>
        <p:spPr>
          <a:xfrm>
            <a:off x="6427767" y="5481190"/>
            <a:ext cx="5123169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1A1A1A">
                    <a:alpha val="45098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07</a:t>
            </a:r>
            <a:endParaRPr lang="en-US" sz="1100"/>
          </a:p>
        </p:txBody>
      </p:sp>
      <p:sp>
        <p:nvSpPr>
          <p:cNvPr id="38" name="TextBox 38"/>
          <p:cNvSpPr txBox="1"/>
          <p:nvPr/>
        </p:nvSpPr>
        <p:spPr>
          <a:xfrm>
            <a:off x="6427767" y="5714553"/>
            <a:ext cx="5304099" cy="383381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100" b="0" i="0" strike="noStrike">
                <a:solidFill>
                  <a:srgbClr val="1A1A1A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Conclusion / Recommendation：给出明确可执行的建议，并注明结论的适用条件</a:t>
            </a:r>
            <a:endParaRPr lang="en-US" sz="1100"/>
          </a:p>
          <a:p>
            <a:pPr algn="l"/>
            <a:r>
              <a:rPr sz="1100" b="0" i="0" strike="noStrike">
                <a:solidFill>
                  <a:srgbClr val="1A1A1A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和风险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5E5E5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AutoShap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7F2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Box 4"/>
          <p:cNvSpPr txBox="1"/>
          <p:nvPr/>
        </p:nvSpPr>
        <p:spPr>
          <a:xfrm>
            <a:off x="457086" y="476250"/>
            <a:ext cx="11274781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1A1A1A">
                    <a:alpha val="6000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Writing Methodology</a:t>
            </a:r>
            <a:endParaRPr lang="en-US" sz="1100"/>
          </a:p>
        </p:txBody>
      </p:sp>
      <p:sp>
        <p:nvSpPr>
          <p:cNvPr id="5" name="TextBox 5"/>
          <p:cNvSpPr txBox="1"/>
          <p:nvPr/>
        </p:nvSpPr>
        <p:spPr>
          <a:xfrm>
            <a:off x="457086" y="771525"/>
            <a:ext cx="11274781" cy="4286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3000" b="1" i="0" strike="noStrike">
                <a:solidFill>
                  <a:srgbClr val="1A1A1A">
                    <a:alpha val="100000"/>
                  </a:srgbClr>
                </a:solidFill>
                <a:latin typeface="Source Han Serif CN" panose="02020400000000000000" charset="-122"/>
                <a:ea typeface="Source Han Serif CN" panose="02020400000000000000" charset="-122"/>
                <a:cs typeface="Source Han Serif CN" panose="02020400000000000000" charset="-122"/>
              </a:rPr>
              <a:t>摘要四句话与建模闭环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57086" y="1390650"/>
            <a:ext cx="9522" cy="649486"/>
          </a:xfrm>
          <a:prstGeom prst="line">
            <a:avLst/>
          </a:prstGeom>
          <a:ln w="9525">
            <a:solidFill>
              <a:srgbClr val="B84C38">
                <a:alpha val="7803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Box 7"/>
          <p:cNvSpPr txBox="1"/>
          <p:nvPr/>
        </p:nvSpPr>
        <p:spPr>
          <a:xfrm>
            <a:off x="580880" y="1428750"/>
            <a:ext cx="11608072" cy="562868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600" b="0" i="1" strike="noStrike">
                <a:solidFill>
                  <a:srgbClr val="1A1A1A">
                    <a:alpha val="78039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摘要不是 Introduction 的缩写，而是一张"论文成绩单"，用四句话概括问题、方法、结果和建议。数学建模本质上是一个</a:t>
            </a:r>
            <a:endParaRPr lang="en-US" sz="1100"/>
          </a:p>
          <a:p>
            <a:pPr algn="l"/>
            <a:r>
              <a:rPr sz="1600" b="0" i="1" strike="noStrike">
                <a:solidFill>
                  <a:srgbClr val="1A1A1A">
                    <a:alpha val="78039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从现实出发最终回归现实的闭环——如果数学结果不能回答原始问题，模型就没有完成。模型不是终点，现实才是终点。</a:t>
            </a:r>
          </a:p>
        </p:txBody>
      </p:sp>
      <p:sp>
        <p:nvSpPr>
          <p:cNvPr id="8" name="AutoShape 8"/>
          <p:cNvSpPr/>
          <p:nvPr/>
        </p:nvSpPr>
        <p:spPr>
          <a:xfrm>
            <a:off x="457086" y="2249686"/>
            <a:ext cx="5523120" cy="4151114"/>
          </a:xfrm>
          <a:prstGeom prst="rect">
            <a:avLst/>
          </a:prstGeom>
          <a:solidFill>
            <a:srgbClr val="F0EBE3">
              <a:alpha val="100000"/>
            </a:srgbClr>
          </a:solidFill>
          <a:ln w="9525">
            <a:solidFill>
              <a:srgbClr val="D8D0C4">
                <a:alpha val="10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AutoShape 9"/>
          <p:cNvSpPr/>
          <p:nvPr/>
        </p:nvSpPr>
        <p:spPr>
          <a:xfrm>
            <a:off x="457086" y="2249686"/>
            <a:ext cx="5523120" cy="9525"/>
          </a:xfrm>
          <a:prstGeom prst="line">
            <a:avLst/>
          </a:prstGeom>
          <a:ln w="28575">
            <a:solidFill>
              <a:srgbClr val="B84C38">
                <a:alpha val="10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Box 10"/>
          <p:cNvSpPr txBox="1"/>
          <p:nvPr/>
        </p:nvSpPr>
        <p:spPr>
          <a:xfrm>
            <a:off x="695151" y="2487811"/>
            <a:ext cx="5046988" cy="2476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800" b="1" i="0" strike="noStrike">
                <a:solidFill>
                  <a:srgbClr val="1A1A1A">
                    <a:alpha val="100000"/>
                  </a:srgbClr>
                </a:solidFill>
                <a:latin typeface="Source Han Serif CN" panose="02020400000000000000" charset="-122"/>
                <a:ea typeface="Source Han Serif CN" panose="02020400000000000000" charset="-122"/>
                <a:cs typeface="Source Han Serif CN" panose="02020400000000000000" charset="-122"/>
              </a:rPr>
              <a:t>摘要四句话模板</a:t>
            </a:r>
            <a:endParaRPr lang="en-US" sz="1100"/>
          </a:p>
        </p:txBody>
      </p:sp>
      <p:sp>
        <p:nvSpPr>
          <p:cNvPr id="11" name="TextBox 11"/>
          <p:cNvSpPr txBox="1"/>
          <p:nvPr/>
        </p:nvSpPr>
        <p:spPr>
          <a:xfrm>
            <a:off x="695151" y="3011686"/>
            <a:ext cx="166348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1A1A1A">
                    <a:alpha val="4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01</a:t>
            </a:r>
            <a:endParaRPr lang="en-US" sz="1100"/>
          </a:p>
        </p:txBody>
      </p:sp>
      <p:sp>
        <p:nvSpPr>
          <p:cNvPr id="12" name="TextBox 12"/>
          <p:cNvSpPr txBox="1"/>
          <p:nvPr/>
        </p:nvSpPr>
        <p:spPr>
          <a:xfrm>
            <a:off x="928158" y="3021211"/>
            <a:ext cx="4520119" cy="1619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200" b="1" i="0" strike="noStrike">
                <a:solidFill>
                  <a:srgbClr val="1A1A1A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We investigated...</a:t>
            </a:r>
            <a:r>
              <a:rPr sz="1200" b="0" i="0" strike="noStrike">
                <a:solidFill>
                  <a:srgbClr val="1A1A1A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 明确研究对象与目标，如"高中食堂最优窗口数"</a:t>
            </a:r>
            <a:endParaRPr lang="en-US" sz="1100"/>
          </a:p>
        </p:txBody>
      </p:sp>
      <p:sp>
        <p:nvSpPr>
          <p:cNvPr id="13" name="TextBox 13"/>
          <p:cNvSpPr txBox="1"/>
          <p:nvPr/>
        </p:nvSpPr>
        <p:spPr>
          <a:xfrm>
            <a:off x="695151" y="3548807"/>
            <a:ext cx="166348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1A1A1A">
                    <a:alpha val="4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02</a:t>
            </a:r>
            <a:endParaRPr lang="en-US" sz="1100"/>
          </a:p>
        </p:txBody>
      </p:sp>
      <p:sp>
        <p:nvSpPr>
          <p:cNvPr id="14" name="TextBox 14"/>
          <p:cNvSpPr txBox="1"/>
          <p:nvPr/>
        </p:nvSpPr>
        <p:spPr>
          <a:xfrm>
            <a:off x="928158" y="3558332"/>
            <a:ext cx="4841657" cy="1619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200" b="1" i="0" strike="noStrike">
                <a:solidFill>
                  <a:srgbClr val="1A1A1A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We developed...</a:t>
            </a:r>
            <a:r>
              <a:rPr sz="1200" b="0" i="0" strike="noStrike">
                <a:solidFill>
                  <a:srgbClr val="1A1A1A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 简述核心模型与方法，如"排队论模型结合敏感性分析"</a:t>
            </a:r>
            <a:endParaRPr lang="en-US" sz="1100"/>
          </a:p>
        </p:txBody>
      </p:sp>
      <p:sp>
        <p:nvSpPr>
          <p:cNvPr id="15" name="TextBox 15"/>
          <p:cNvSpPr txBox="1"/>
          <p:nvPr/>
        </p:nvSpPr>
        <p:spPr>
          <a:xfrm>
            <a:off x="695151" y="4085928"/>
            <a:ext cx="166348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1A1A1A">
                    <a:alpha val="4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03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>
            <a:off x="928158" y="4095453"/>
            <a:ext cx="4824546" cy="413296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200" b="1" i="0" strike="noStrike">
                <a:solidFill>
                  <a:srgbClr val="1A1A1A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The model predicts...</a:t>
            </a:r>
            <a:r>
              <a:rPr sz="1200" b="0" i="0" strike="noStrike">
                <a:solidFill>
                  <a:srgbClr val="1A1A1A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 给出最关键的具体数值，如"7 个窗口降至 6.3 分</a:t>
            </a:r>
            <a:endParaRPr lang="en-US" sz="1100"/>
          </a:p>
          <a:p>
            <a:pPr algn="l"/>
            <a:r>
              <a:rPr sz="1200" b="0" i="0" strike="noStrike">
                <a:solidFill>
                  <a:srgbClr val="1A1A1A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钟"</a:t>
            </a:r>
          </a:p>
        </p:txBody>
      </p:sp>
      <p:sp>
        <p:nvSpPr>
          <p:cNvPr id="17" name="AutoShape 17"/>
          <p:cNvSpPr/>
          <p:nvPr/>
        </p:nvSpPr>
        <p:spPr>
          <a:xfrm>
            <a:off x="6208747" y="2249686"/>
            <a:ext cx="5523120" cy="4151114"/>
          </a:xfrm>
          <a:prstGeom prst="rect">
            <a:avLst/>
          </a:prstGeom>
          <a:solidFill>
            <a:srgbClr val="F0EBE3">
              <a:alpha val="100000"/>
            </a:srgbClr>
          </a:solidFill>
          <a:ln w="9525">
            <a:solidFill>
              <a:srgbClr val="D8D0C4">
                <a:alpha val="10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AutoShape 18"/>
          <p:cNvSpPr/>
          <p:nvPr/>
        </p:nvSpPr>
        <p:spPr>
          <a:xfrm>
            <a:off x="6208747" y="2249686"/>
            <a:ext cx="5523120" cy="9525"/>
          </a:xfrm>
          <a:prstGeom prst="line">
            <a:avLst/>
          </a:prstGeom>
          <a:ln w="28575">
            <a:solidFill>
              <a:srgbClr val="B84C38">
                <a:alpha val="10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Box 19"/>
          <p:cNvSpPr txBox="1"/>
          <p:nvPr/>
        </p:nvSpPr>
        <p:spPr>
          <a:xfrm>
            <a:off x="6446813" y="2487811"/>
            <a:ext cx="5046988" cy="2476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800" b="1" i="0" strike="noStrike">
                <a:solidFill>
                  <a:srgbClr val="1A1A1A">
                    <a:alpha val="100000"/>
                  </a:srgbClr>
                </a:solidFill>
                <a:latin typeface="Source Han Serif CN" panose="02020400000000000000" charset="-122"/>
                <a:ea typeface="Source Han Serif CN" panose="02020400000000000000" charset="-122"/>
                <a:cs typeface="Source Han Serif CN" panose="02020400000000000000" charset="-122"/>
              </a:rPr>
              <a:t>建模闭环流程</a:t>
            </a:r>
            <a:endParaRPr lang="en-US" sz="1100"/>
          </a:p>
        </p:txBody>
      </p:sp>
      <p:sp>
        <p:nvSpPr>
          <p:cNvPr id="20" name="TextBox 20"/>
          <p:cNvSpPr txBox="1"/>
          <p:nvPr/>
        </p:nvSpPr>
        <p:spPr>
          <a:xfrm>
            <a:off x="6446813" y="3030736"/>
            <a:ext cx="166348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1A1A1A">
                    <a:alpha val="4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01</a:t>
            </a:r>
            <a:endParaRPr lang="en-US" sz="1100"/>
          </a:p>
        </p:txBody>
      </p:sp>
      <p:sp>
        <p:nvSpPr>
          <p:cNvPr id="21" name="TextBox 21"/>
          <p:cNvSpPr txBox="1"/>
          <p:nvPr/>
        </p:nvSpPr>
        <p:spPr>
          <a:xfrm>
            <a:off x="6679819" y="3040261"/>
            <a:ext cx="4837640" cy="413296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200" b="0" i="0" strike="noStrike">
                <a:solidFill>
                  <a:srgbClr val="1A1A1A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从现实问题出发 → 任务拆解 → 变量与假设 → 数学模型 → 数值计算 →</a:t>
            </a:r>
            <a:endParaRPr lang="en-US" sz="1100"/>
          </a:p>
          <a:p>
            <a:pPr algn="l"/>
            <a:r>
              <a:rPr sz="1200" b="0" i="0" strike="noStrike">
                <a:solidFill>
                  <a:srgbClr val="1A1A1A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结果 → Validation → Sensitivity → 现实结论 → Recommendation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446813" y="3857328"/>
            <a:ext cx="166348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1A1A1A">
                    <a:alpha val="4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02</a:t>
            </a:r>
            <a:endParaRPr lang="en-US" sz="1100"/>
          </a:p>
        </p:txBody>
      </p:sp>
      <p:sp>
        <p:nvSpPr>
          <p:cNvPr id="23" name="TextBox 23"/>
          <p:cNvSpPr txBox="1"/>
          <p:nvPr/>
        </p:nvSpPr>
        <p:spPr>
          <a:xfrm>
            <a:off x="6679819" y="3866853"/>
            <a:ext cx="4813982" cy="413296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200" b="1" i="0" strike="noStrike">
                <a:solidFill>
                  <a:srgbClr val="1A1A1A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闭环检验标准：</a:t>
            </a:r>
            <a:r>
              <a:rPr sz="1200" b="0" i="0" strike="noStrike">
                <a:solidFill>
                  <a:srgbClr val="1A1A1A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最终数学结果能直接回答最初的现实问题，且通过验证</a:t>
            </a:r>
            <a:endParaRPr lang="en-US" sz="1100"/>
          </a:p>
          <a:p>
            <a:pPr algn="l"/>
            <a:r>
              <a:rPr sz="1200" b="0" i="0" strike="noStrike">
                <a:solidFill>
                  <a:srgbClr val="1A1A1A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与敏感性测试，则建模闭环完成；否则需返回修正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7F2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Box 3"/>
          <p:cNvSpPr txBox="1"/>
          <p:nvPr/>
        </p:nvSpPr>
        <p:spPr>
          <a:xfrm>
            <a:off x="457086" y="476250"/>
            <a:ext cx="11274781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1A1A1B">
                    <a:alpha val="50196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Case Study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457086" y="733425"/>
            <a:ext cx="11274781" cy="4286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3000" b="1" i="0" strike="noStrike">
                <a:solidFill>
                  <a:srgbClr val="1A1A1B">
                    <a:alpha val="100000"/>
                  </a:srgbClr>
                </a:solidFill>
                <a:latin typeface="Source Han Serif CN" panose="02020400000000000000" charset="-122"/>
                <a:ea typeface="Source Han Serif CN" panose="02020400000000000000" charset="-122"/>
                <a:cs typeface="Source Han Serif CN" panose="02020400000000000000" charset="-122"/>
              </a:rPr>
              <a:t>校园 Mini Case：食堂窗口优化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457086" y="1276350"/>
            <a:ext cx="9522" cy="324743"/>
          </a:xfrm>
          <a:prstGeom prst="line">
            <a:avLst/>
          </a:prstGeom>
          <a:ln w="9525">
            <a:solidFill>
              <a:srgbClr val="B84C35">
                <a:alpha val="7803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Box 6"/>
          <p:cNvSpPr txBox="1"/>
          <p:nvPr/>
        </p:nvSpPr>
        <p:spPr>
          <a:xfrm>
            <a:off x="580880" y="1314450"/>
            <a:ext cx="11150986" cy="2381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600" b="0" i="1" strike="noStrike">
                <a:solidFill>
                  <a:srgbClr val="1A1A1B">
                    <a:alpha val="78039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一个 5 分钟的小案例串起全课所有知识点：从决策变量识别到敏感性分析，证明数学建模就在我们身边。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57086" y="1772543"/>
            <a:ext cx="3605799" cy="4628257"/>
          </a:xfrm>
          <a:prstGeom prst="rect">
            <a:avLst/>
          </a:prstGeom>
          <a:solidFill>
            <a:srgbClr val="F0EBE2">
              <a:alpha val="100000"/>
            </a:srgbClr>
          </a:solidFill>
          <a:ln w="9525">
            <a:solidFill>
              <a:srgbClr val="D8D0C3">
                <a:alpha val="10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AutoShape 8"/>
          <p:cNvSpPr/>
          <p:nvPr/>
        </p:nvSpPr>
        <p:spPr>
          <a:xfrm>
            <a:off x="457086" y="1772543"/>
            <a:ext cx="3605799" cy="9525"/>
          </a:xfrm>
          <a:prstGeom prst="line">
            <a:avLst/>
          </a:prstGeom>
          <a:ln w="28575">
            <a:solidFill>
              <a:srgbClr val="B84C35">
                <a:alpha val="10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AutoShape 9"/>
          <p:cNvSpPr/>
          <p:nvPr/>
        </p:nvSpPr>
        <p:spPr>
          <a:xfrm>
            <a:off x="657061" y="1991618"/>
            <a:ext cx="361860" cy="36195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508" y="7583"/>
                </a:moveTo>
                <a:cubicBezTo>
                  <a:pt x="286" y="7203"/>
                  <a:pt x="117" y="6804"/>
                  <a:pt x="0" y="6384"/>
                </a:cubicBezTo>
                <a:cubicBezTo>
                  <a:pt x="256" y="6253"/>
                  <a:pt x="461" y="6064"/>
                  <a:pt x="617" y="5816"/>
                </a:cubicBezTo>
                <a:cubicBezTo>
                  <a:pt x="772" y="5568"/>
                  <a:pt x="850" y="5296"/>
                  <a:pt x="850" y="5000"/>
                </a:cubicBezTo>
                <a:cubicBezTo>
                  <a:pt x="850" y="4704"/>
                  <a:pt x="772" y="4432"/>
                  <a:pt x="617" y="4184"/>
                </a:cubicBezTo>
                <a:cubicBezTo>
                  <a:pt x="461" y="3936"/>
                  <a:pt x="256" y="3746"/>
                  <a:pt x="0" y="3616"/>
                </a:cubicBezTo>
                <a:cubicBezTo>
                  <a:pt x="242" y="2754"/>
                  <a:pt x="674" y="2007"/>
                  <a:pt x="1296" y="1374"/>
                </a:cubicBezTo>
                <a:cubicBezTo>
                  <a:pt x="1538" y="1532"/>
                  <a:pt x="1806" y="1617"/>
                  <a:pt x="2100" y="1627"/>
                </a:cubicBezTo>
                <a:cubicBezTo>
                  <a:pt x="2394" y="1637"/>
                  <a:pt x="2669" y="1568"/>
                  <a:pt x="2925" y="1420"/>
                </a:cubicBezTo>
                <a:cubicBezTo>
                  <a:pt x="3180" y="1272"/>
                  <a:pt x="3377" y="1069"/>
                  <a:pt x="3516" y="811"/>
                </a:cubicBezTo>
                <a:cubicBezTo>
                  <a:pt x="3654" y="553"/>
                  <a:pt x="3716" y="282"/>
                  <a:pt x="3703" y="0"/>
                </a:cubicBezTo>
                <a:cubicBezTo>
                  <a:pt x="4567" y="-227"/>
                  <a:pt x="5431" y="-227"/>
                  <a:pt x="6295" y="0"/>
                </a:cubicBezTo>
                <a:cubicBezTo>
                  <a:pt x="6281" y="282"/>
                  <a:pt x="6344" y="553"/>
                  <a:pt x="6482" y="811"/>
                </a:cubicBezTo>
                <a:cubicBezTo>
                  <a:pt x="6620" y="1069"/>
                  <a:pt x="6817" y="1272"/>
                  <a:pt x="7073" y="1420"/>
                </a:cubicBezTo>
                <a:cubicBezTo>
                  <a:pt x="7329" y="1568"/>
                  <a:pt x="7604" y="1637"/>
                  <a:pt x="7898" y="1627"/>
                </a:cubicBezTo>
                <a:cubicBezTo>
                  <a:pt x="8192" y="1617"/>
                  <a:pt x="8460" y="1532"/>
                  <a:pt x="8702" y="1374"/>
                </a:cubicBezTo>
                <a:cubicBezTo>
                  <a:pt x="9006" y="1690"/>
                  <a:pt x="9268" y="2038"/>
                  <a:pt x="9490" y="2417"/>
                </a:cubicBezTo>
                <a:cubicBezTo>
                  <a:pt x="9711" y="2796"/>
                  <a:pt x="9880" y="3196"/>
                  <a:pt x="9998" y="3616"/>
                </a:cubicBezTo>
                <a:cubicBezTo>
                  <a:pt x="9742" y="3746"/>
                  <a:pt x="9536" y="3936"/>
                  <a:pt x="9381" y="4184"/>
                </a:cubicBezTo>
                <a:cubicBezTo>
                  <a:pt x="9225" y="4432"/>
                  <a:pt x="9148" y="4704"/>
                  <a:pt x="9148" y="5000"/>
                </a:cubicBezTo>
                <a:cubicBezTo>
                  <a:pt x="9148" y="5296"/>
                  <a:pt x="9225" y="5568"/>
                  <a:pt x="9381" y="5816"/>
                </a:cubicBezTo>
                <a:cubicBezTo>
                  <a:pt x="9536" y="6064"/>
                  <a:pt x="9742" y="6253"/>
                  <a:pt x="9998" y="6384"/>
                </a:cubicBezTo>
                <a:cubicBezTo>
                  <a:pt x="9756" y="7245"/>
                  <a:pt x="9324" y="7992"/>
                  <a:pt x="8702" y="8626"/>
                </a:cubicBezTo>
                <a:cubicBezTo>
                  <a:pt x="8460" y="8467"/>
                  <a:pt x="8192" y="8383"/>
                  <a:pt x="7898" y="8373"/>
                </a:cubicBezTo>
                <a:cubicBezTo>
                  <a:pt x="7604" y="8362"/>
                  <a:pt x="7329" y="8431"/>
                  <a:pt x="7073" y="8580"/>
                </a:cubicBezTo>
                <a:cubicBezTo>
                  <a:pt x="6817" y="8728"/>
                  <a:pt x="6620" y="8931"/>
                  <a:pt x="6482" y="9189"/>
                </a:cubicBezTo>
                <a:cubicBezTo>
                  <a:pt x="6344" y="9447"/>
                  <a:pt x="6281" y="9717"/>
                  <a:pt x="6295" y="10000"/>
                </a:cubicBezTo>
                <a:cubicBezTo>
                  <a:pt x="5431" y="10227"/>
                  <a:pt x="4567" y="10227"/>
                  <a:pt x="3703" y="10000"/>
                </a:cubicBezTo>
                <a:cubicBezTo>
                  <a:pt x="3716" y="9717"/>
                  <a:pt x="3654" y="9447"/>
                  <a:pt x="3516" y="9189"/>
                </a:cubicBezTo>
                <a:cubicBezTo>
                  <a:pt x="3377" y="8931"/>
                  <a:pt x="3180" y="8728"/>
                  <a:pt x="2925" y="8580"/>
                </a:cubicBezTo>
                <a:cubicBezTo>
                  <a:pt x="2669" y="8431"/>
                  <a:pt x="2394" y="8362"/>
                  <a:pt x="2100" y="8373"/>
                </a:cubicBezTo>
                <a:cubicBezTo>
                  <a:pt x="1806" y="8383"/>
                  <a:pt x="1538" y="8467"/>
                  <a:pt x="1296" y="8626"/>
                </a:cubicBezTo>
                <a:cubicBezTo>
                  <a:pt x="992" y="8309"/>
                  <a:pt x="729" y="7961"/>
                  <a:pt x="508" y="7583"/>
                </a:cubicBezTo>
                <a:moveTo>
                  <a:pt x="3443" y="7686"/>
                </a:moveTo>
                <a:cubicBezTo>
                  <a:pt x="3719" y="7844"/>
                  <a:pt x="3958" y="8047"/>
                  <a:pt x="4159" y="8295"/>
                </a:cubicBezTo>
                <a:cubicBezTo>
                  <a:pt x="4359" y="8543"/>
                  <a:pt x="4511" y="8815"/>
                  <a:pt x="4615" y="9112"/>
                </a:cubicBezTo>
                <a:cubicBezTo>
                  <a:pt x="4871" y="9139"/>
                  <a:pt x="5127" y="9139"/>
                  <a:pt x="5383" y="9112"/>
                </a:cubicBezTo>
                <a:cubicBezTo>
                  <a:pt x="5486" y="8815"/>
                  <a:pt x="5636" y="8543"/>
                  <a:pt x="5834" y="8295"/>
                </a:cubicBezTo>
                <a:cubicBezTo>
                  <a:pt x="6030" y="8047"/>
                  <a:pt x="6269" y="7843"/>
                  <a:pt x="6550" y="7681"/>
                </a:cubicBezTo>
                <a:cubicBezTo>
                  <a:pt x="6830" y="7519"/>
                  <a:pt x="7129" y="7414"/>
                  <a:pt x="7447" y="7366"/>
                </a:cubicBezTo>
                <a:cubicBezTo>
                  <a:pt x="7765" y="7317"/>
                  <a:pt x="8076" y="7327"/>
                  <a:pt x="8380" y="7397"/>
                </a:cubicBezTo>
                <a:cubicBezTo>
                  <a:pt x="8532" y="7183"/>
                  <a:pt x="8663" y="6959"/>
                  <a:pt x="8774" y="6725"/>
                </a:cubicBezTo>
                <a:cubicBezTo>
                  <a:pt x="8560" y="6491"/>
                  <a:pt x="8396" y="6226"/>
                  <a:pt x="8282" y="5930"/>
                </a:cubicBezTo>
                <a:cubicBezTo>
                  <a:pt x="8167" y="5634"/>
                  <a:pt x="8110" y="5324"/>
                  <a:pt x="8110" y="5000"/>
                </a:cubicBezTo>
                <a:cubicBezTo>
                  <a:pt x="8110" y="4676"/>
                  <a:pt x="8167" y="4366"/>
                  <a:pt x="8282" y="4070"/>
                </a:cubicBezTo>
                <a:cubicBezTo>
                  <a:pt x="8396" y="3774"/>
                  <a:pt x="8560" y="3509"/>
                  <a:pt x="8774" y="3275"/>
                </a:cubicBezTo>
                <a:cubicBezTo>
                  <a:pt x="8718" y="3157"/>
                  <a:pt x="8658" y="3044"/>
                  <a:pt x="8593" y="2934"/>
                </a:cubicBezTo>
                <a:cubicBezTo>
                  <a:pt x="8527" y="2824"/>
                  <a:pt x="8456" y="2713"/>
                  <a:pt x="8380" y="2603"/>
                </a:cubicBezTo>
                <a:cubicBezTo>
                  <a:pt x="8076" y="2672"/>
                  <a:pt x="7765" y="2682"/>
                  <a:pt x="7447" y="2634"/>
                </a:cubicBezTo>
                <a:cubicBezTo>
                  <a:pt x="7129" y="2586"/>
                  <a:pt x="6831" y="2481"/>
                  <a:pt x="6555" y="2319"/>
                </a:cubicBezTo>
                <a:cubicBezTo>
                  <a:pt x="6278" y="2157"/>
                  <a:pt x="6039" y="1952"/>
                  <a:pt x="5839" y="1705"/>
                </a:cubicBezTo>
                <a:cubicBezTo>
                  <a:pt x="5638" y="1457"/>
                  <a:pt x="5486" y="1184"/>
                  <a:pt x="5383" y="888"/>
                </a:cubicBezTo>
                <a:cubicBezTo>
                  <a:pt x="5127" y="860"/>
                  <a:pt x="4871" y="860"/>
                  <a:pt x="4615" y="888"/>
                </a:cubicBezTo>
                <a:cubicBezTo>
                  <a:pt x="4511" y="1184"/>
                  <a:pt x="4361" y="1457"/>
                  <a:pt x="4164" y="1705"/>
                </a:cubicBezTo>
                <a:cubicBezTo>
                  <a:pt x="3967" y="1952"/>
                  <a:pt x="3727" y="2157"/>
                  <a:pt x="3443" y="2319"/>
                </a:cubicBezTo>
                <a:cubicBezTo>
                  <a:pt x="3159" y="2481"/>
                  <a:pt x="2860" y="2586"/>
                  <a:pt x="2546" y="2634"/>
                </a:cubicBezTo>
                <a:cubicBezTo>
                  <a:pt x="2231" y="2682"/>
                  <a:pt x="1922" y="2672"/>
                  <a:pt x="1618" y="2603"/>
                </a:cubicBezTo>
                <a:cubicBezTo>
                  <a:pt x="1466" y="2817"/>
                  <a:pt x="1334" y="3041"/>
                  <a:pt x="1224" y="3275"/>
                </a:cubicBezTo>
                <a:cubicBezTo>
                  <a:pt x="1438" y="3509"/>
                  <a:pt x="1602" y="3774"/>
                  <a:pt x="1716" y="4070"/>
                </a:cubicBezTo>
                <a:cubicBezTo>
                  <a:pt x="1830" y="4366"/>
                  <a:pt x="1888" y="4676"/>
                  <a:pt x="1888" y="5000"/>
                </a:cubicBezTo>
                <a:cubicBezTo>
                  <a:pt x="1888" y="5324"/>
                  <a:pt x="1830" y="5634"/>
                  <a:pt x="1716" y="5930"/>
                </a:cubicBezTo>
                <a:cubicBezTo>
                  <a:pt x="1602" y="6226"/>
                  <a:pt x="1438" y="6491"/>
                  <a:pt x="1224" y="6725"/>
                </a:cubicBezTo>
                <a:cubicBezTo>
                  <a:pt x="1279" y="6842"/>
                  <a:pt x="1339" y="6956"/>
                  <a:pt x="1405" y="7066"/>
                </a:cubicBezTo>
                <a:cubicBezTo>
                  <a:pt x="1471" y="7176"/>
                  <a:pt x="1542" y="7286"/>
                  <a:pt x="1618" y="7397"/>
                </a:cubicBezTo>
                <a:cubicBezTo>
                  <a:pt x="1922" y="7327"/>
                  <a:pt x="2233" y="7317"/>
                  <a:pt x="2551" y="7366"/>
                </a:cubicBezTo>
                <a:cubicBezTo>
                  <a:pt x="2869" y="7414"/>
                  <a:pt x="3166" y="7520"/>
                  <a:pt x="3443" y="7686"/>
                </a:cubicBezTo>
                <a:moveTo>
                  <a:pt x="4999" y="6550"/>
                </a:moveTo>
                <a:cubicBezTo>
                  <a:pt x="4715" y="6550"/>
                  <a:pt x="4454" y="6481"/>
                  <a:pt x="4216" y="6343"/>
                </a:cubicBezTo>
                <a:cubicBezTo>
                  <a:pt x="3977" y="6205"/>
                  <a:pt x="3789" y="6017"/>
                  <a:pt x="3651" y="5780"/>
                </a:cubicBezTo>
                <a:cubicBezTo>
                  <a:pt x="3512" y="5542"/>
                  <a:pt x="3443" y="5282"/>
                  <a:pt x="3443" y="5000"/>
                </a:cubicBezTo>
                <a:cubicBezTo>
                  <a:pt x="3443" y="4717"/>
                  <a:pt x="3512" y="4457"/>
                  <a:pt x="3651" y="4220"/>
                </a:cubicBezTo>
                <a:cubicBezTo>
                  <a:pt x="3789" y="3982"/>
                  <a:pt x="3977" y="3795"/>
                  <a:pt x="4216" y="3657"/>
                </a:cubicBezTo>
                <a:cubicBezTo>
                  <a:pt x="4454" y="3519"/>
                  <a:pt x="4715" y="3450"/>
                  <a:pt x="4999" y="3450"/>
                </a:cubicBezTo>
                <a:cubicBezTo>
                  <a:pt x="5282" y="3450"/>
                  <a:pt x="5543" y="3519"/>
                  <a:pt x="5782" y="3657"/>
                </a:cubicBezTo>
                <a:cubicBezTo>
                  <a:pt x="6020" y="3795"/>
                  <a:pt x="6209" y="3982"/>
                  <a:pt x="6347" y="4220"/>
                </a:cubicBezTo>
                <a:cubicBezTo>
                  <a:pt x="6485" y="4457"/>
                  <a:pt x="6555" y="4717"/>
                  <a:pt x="6555" y="5000"/>
                </a:cubicBezTo>
                <a:cubicBezTo>
                  <a:pt x="6555" y="5282"/>
                  <a:pt x="6485" y="5542"/>
                  <a:pt x="6347" y="5780"/>
                </a:cubicBezTo>
                <a:cubicBezTo>
                  <a:pt x="6209" y="6017"/>
                  <a:pt x="6020" y="6205"/>
                  <a:pt x="5782" y="6343"/>
                </a:cubicBezTo>
                <a:cubicBezTo>
                  <a:pt x="5543" y="6481"/>
                  <a:pt x="5282" y="6550"/>
                  <a:pt x="4999" y="6550"/>
                </a:cubicBezTo>
                <a:moveTo>
                  <a:pt x="4999" y="5517"/>
                </a:moveTo>
                <a:cubicBezTo>
                  <a:pt x="5144" y="5517"/>
                  <a:pt x="5267" y="5467"/>
                  <a:pt x="5367" y="5367"/>
                </a:cubicBezTo>
                <a:cubicBezTo>
                  <a:pt x="5467" y="5267"/>
                  <a:pt x="5518" y="5144"/>
                  <a:pt x="5518" y="5000"/>
                </a:cubicBezTo>
                <a:cubicBezTo>
                  <a:pt x="5518" y="4855"/>
                  <a:pt x="5467" y="4733"/>
                  <a:pt x="5367" y="4633"/>
                </a:cubicBezTo>
                <a:cubicBezTo>
                  <a:pt x="5267" y="4533"/>
                  <a:pt x="5144" y="4483"/>
                  <a:pt x="4999" y="4483"/>
                </a:cubicBezTo>
                <a:cubicBezTo>
                  <a:pt x="4853" y="4483"/>
                  <a:pt x="4731" y="4533"/>
                  <a:pt x="4631" y="4633"/>
                </a:cubicBezTo>
                <a:cubicBezTo>
                  <a:pt x="4530" y="4733"/>
                  <a:pt x="4480" y="4855"/>
                  <a:pt x="4480" y="5000"/>
                </a:cubicBezTo>
                <a:cubicBezTo>
                  <a:pt x="4480" y="5144"/>
                  <a:pt x="4530" y="5267"/>
                  <a:pt x="4631" y="5367"/>
                </a:cubicBezTo>
                <a:cubicBezTo>
                  <a:pt x="4731" y="5467"/>
                  <a:pt x="4853" y="5517"/>
                  <a:pt x="4999" y="5517"/>
                </a:cubicBezTo>
              </a:path>
            </a:pathLst>
          </a:custGeom>
          <a:solidFill>
            <a:srgbClr val="B84C35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Box 10"/>
          <p:cNvSpPr txBox="1"/>
          <p:nvPr/>
        </p:nvSpPr>
        <p:spPr>
          <a:xfrm>
            <a:off x="657061" y="2458343"/>
            <a:ext cx="3205850" cy="2381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600" b="0" i="0" strike="noStrike">
                <a:solidFill>
                  <a:srgbClr val="1A1A1B">
                    <a:alpha val="100000"/>
                  </a:srgbClr>
                </a:solidFill>
                <a:latin typeface="Source Han Serif CN" panose="02020400000000000000" charset="-122"/>
                <a:ea typeface="Source Han Serif CN" panose="02020400000000000000" charset="-122"/>
                <a:cs typeface="Source Han Serif CN" panose="02020400000000000000" charset="-122"/>
              </a:rPr>
              <a:t>问题与参数</a:t>
            </a:r>
            <a:endParaRPr lang="en-US" sz="1100"/>
          </a:p>
        </p:txBody>
      </p:sp>
      <p:sp>
        <p:nvSpPr>
          <p:cNvPr id="11" name="TextBox 11"/>
          <p:cNvSpPr txBox="1"/>
          <p:nvPr/>
        </p:nvSpPr>
        <p:spPr>
          <a:xfrm>
            <a:off x="657061" y="2834580"/>
            <a:ext cx="3405824" cy="965598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000" b="0" i="0" strike="noStrike">
                <a:solidFill>
                  <a:srgbClr val="1A1A1B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决策变量 k=窗口数（最多 10 个），到达率 λ=30 人/分</a:t>
            </a:r>
            <a:endParaRPr lang="en-US" sz="1100"/>
          </a:p>
          <a:p>
            <a:pPr algn="l"/>
            <a:r>
              <a:rPr sz="1000" b="0" i="0" strike="noStrike">
                <a:solidFill>
                  <a:srgbClr val="1A1A1B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钟，单窗口服务率 μ=5 人/分钟。目标为最小化总成本</a:t>
            </a:r>
          </a:p>
          <a:p>
            <a:pPr algn="l"/>
            <a:r>
              <a:rPr sz="1000" b="0" i="0" strike="noStrike">
                <a:solidFill>
                  <a:srgbClr val="1A1A1B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（运营+等待成本），典型 optimize 问题。通过建立排</a:t>
            </a:r>
          </a:p>
          <a:p>
            <a:pPr algn="l"/>
            <a:r>
              <a:rPr sz="1000" b="0" i="0" strike="noStrike">
                <a:solidFill>
                  <a:srgbClr val="1A1A1B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队模型，将实际运营问题转化为可求解的数学优化问</a:t>
            </a:r>
          </a:p>
          <a:p>
            <a:pPr algn="l"/>
            <a:r>
              <a:rPr sz="1000" b="0" i="0" strike="noStrike">
                <a:solidFill>
                  <a:srgbClr val="1A1A1B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题。</a:t>
            </a:r>
          </a:p>
        </p:txBody>
      </p:sp>
      <p:sp>
        <p:nvSpPr>
          <p:cNvPr id="12" name="AutoShape 12"/>
          <p:cNvSpPr/>
          <p:nvPr/>
        </p:nvSpPr>
        <p:spPr>
          <a:xfrm>
            <a:off x="657061" y="5924550"/>
            <a:ext cx="3205850" cy="9525"/>
          </a:xfrm>
          <a:prstGeom prst="line">
            <a:avLst/>
          </a:prstGeom>
          <a:ln w="9525">
            <a:solidFill>
              <a:srgbClr val="D8D0C3">
                <a:alpha val="10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Box 13"/>
          <p:cNvSpPr txBox="1"/>
          <p:nvPr/>
        </p:nvSpPr>
        <p:spPr>
          <a:xfrm>
            <a:off x="657061" y="6048375"/>
            <a:ext cx="3205850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B84C35">
                    <a:alpha val="10000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λ=30 · μ=5 · k≤10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291428" y="1772543"/>
            <a:ext cx="3605948" cy="4628257"/>
          </a:xfrm>
          <a:prstGeom prst="rect">
            <a:avLst/>
          </a:prstGeom>
          <a:solidFill>
            <a:srgbClr val="F0EBE2">
              <a:alpha val="100000"/>
            </a:srgbClr>
          </a:solidFill>
          <a:ln w="9525">
            <a:solidFill>
              <a:srgbClr val="D8D0C3">
                <a:alpha val="10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AutoShape 15"/>
          <p:cNvSpPr/>
          <p:nvPr/>
        </p:nvSpPr>
        <p:spPr>
          <a:xfrm>
            <a:off x="4291428" y="1772543"/>
            <a:ext cx="3605948" cy="9525"/>
          </a:xfrm>
          <a:prstGeom prst="line">
            <a:avLst/>
          </a:prstGeom>
          <a:ln w="28575">
            <a:solidFill>
              <a:srgbClr val="B84C35">
                <a:alpha val="10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AutoShape 16"/>
          <p:cNvSpPr/>
          <p:nvPr/>
        </p:nvSpPr>
        <p:spPr>
          <a:xfrm>
            <a:off x="4491403" y="1991618"/>
            <a:ext cx="361860" cy="36195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9998" y="8333"/>
                </a:moveTo>
                <a:lnTo>
                  <a:pt x="9089" y="8333"/>
                </a:lnTo>
                <a:lnTo>
                  <a:pt x="9089" y="10000"/>
                </a:lnTo>
                <a:lnTo>
                  <a:pt x="8180" y="10000"/>
                </a:lnTo>
                <a:lnTo>
                  <a:pt x="8180" y="8333"/>
                </a:lnTo>
                <a:lnTo>
                  <a:pt x="7271" y="8333"/>
                </a:lnTo>
                <a:lnTo>
                  <a:pt x="7271" y="7222"/>
                </a:lnTo>
                <a:lnTo>
                  <a:pt x="9998" y="7222"/>
                </a:lnTo>
                <a:lnTo>
                  <a:pt x="9998" y="8333"/>
                </a:lnTo>
                <a:moveTo>
                  <a:pt x="2727" y="8333"/>
                </a:moveTo>
                <a:lnTo>
                  <a:pt x="1818" y="8333"/>
                </a:lnTo>
                <a:lnTo>
                  <a:pt x="1818" y="10000"/>
                </a:lnTo>
                <a:lnTo>
                  <a:pt x="909" y="10000"/>
                </a:lnTo>
                <a:lnTo>
                  <a:pt x="909" y="8333"/>
                </a:lnTo>
                <a:lnTo>
                  <a:pt x="0" y="8333"/>
                </a:lnTo>
                <a:lnTo>
                  <a:pt x="0" y="7222"/>
                </a:lnTo>
                <a:lnTo>
                  <a:pt x="2727" y="7222"/>
                </a:lnTo>
                <a:lnTo>
                  <a:pt x="2727" y="8333"/>
                </a:lnTo>
                <a:moveTo>
                  <a:pt x="3636" y="1667"/>
                </a:moveTo>
                <a:lnTo>
                  <a:pt x="4545" y="1667"/>
                </a:lnTo>
                <a:lnTo>
                  <a:pt x="4545" y="0"/>
                </a:lnTo>
                <a:lnTo>
                  <a:pt x="5453" y="0"/>
                </a:lnTo>
                <a:lnTo>
                  <a:pt x="5453" y="1667"/>
                </a:lnTo>
                <a:lnTo>
                  <a:pt x="6362" y="1667"/>
                </a:lnTo>
                <a:lnTo>
                  <a:pt x="6362" y="2778"/>
                </a:lnTo>
                <a:lnTo>
                  <a:pt x="3636" y="2778"/>
                </a:lnTo>
                <a:lnTo>
                  <a:pt x="3636" y="1667"/>
                </a:lnTo>
                <a:moveTo>
                  <a:pt x="4545" y="10000"/>
                </a:moveTo>
                <a:lnTo>
                  <a:pt x="4545" y="3889"/>
                </a:lnTo>
                <a:lnTo>
                  <a:pt x="5453" y="3889"/>
                </a:lnTo>
                <a:lnTo>
                  <a:pt x="5453" y="10000"/>
                </a:lnTo>
                <a:lnTo>
                  <a:pt x="4545" y="10000"/>
                </a:lnTo>
                <a:moveTo>
                  <a:pt x="1818" y="6111"/>
                </a:moveTo>
                <a:lnTo>
                  <a:pt x="909" y="6111"/>
                </a:lnTo>
                <a:lnTo>
                  <a:pt x="909" y="0"/>
                </a:lnTo>
                <a:lnTo>
                  <a:pt x="1818" y="0"/>
                </a:lnTo>
                <a:lnTo>
                  <a:pt x="1818" y="6111"/>
                </a:lnTo>
                <a:moveTo>
                  <a:pt x="9089" y="6111"/>
                </a:moveTo>
                <a:lnTo>
                  <a:pt x="8180" y="6111"/>
                </a:lnTo>
                <a:lnTo>
                  <a:pt x="8180" y="0"/>
                </a:lnTo>
                <a:lnTo>
                  <a:pt x="9089" y="0"/>
                </a:lnTo>
              </a:path>
            </a:pathLst>
          </a:custGeom>
          <a:solidFill>
            <a:srgbClr val="B84C35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Box 17"/>
          <p:cNvSpPr txBox="1"/>
          <p:nvPr/>
        </p:nvSpPr>
        <p:spPr>
          <a:xfrm>
            <a:off x="4491403" y="2458343"/>
            <a:ext cx="3205998" cy="2381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600" b="0" i="0" strike="noStrike">
                <a:solidFill>
                  <a:srgbClr val="1A1A1B">
                    <a:alpha val="100000"/>
                  </a:srgbClr>
                </a:solidFill>
                <a:latin typeface="Source Han Serif CN" panose="02020400000000000000" charset="-122"/>
                <a:ea typeface="Source Han Serif CN" panose="02020400000000000000" charset="-122"/>
                <a:cs typeface="Source Han Serif CN" panose="02020400000000000000" charset="-122"/>
              </a:rPr>
              <a:t>求解与优化</a:t>
            </a:r>
            <a:endParaRPr lang="en-US" sz="1100"/>
          </a:p>
        </p:txBody>
      </p:sp>
      <p:sp>
        <p:nvSpPr>
          <p:cNvPr id="18" name="TextBox 18"/>
          <p:cNvSpPr txBox="1"/>
          <p:nvPr/>
        </p:nvSpPr>
        <p:spPr>
          <a:xfrm>
            <a:off x="4491403" y="2834580"/>
            <a:ext cx="3405972" cy="759916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000" b="0" i="0" strike="noStrike">
                <a:solidFill>
                  <a:srgbClr val="1A1A1B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排队稳定性要求 5k&gt;30，即 k&gt;6，最少 7 个窗口。k=10</a:t>
            </a:r>
            <a:endParaRPr lang="en-US" sz="1100"/>
          </a:p>
          <a:p>
            <a:pPr algn="l"/>
            <a:r>
              <a:rPr sz="1000" b="0" i="0" strike="noStrike">
                <a:solidFill>
                  <a:srgbClr val="1A1A1B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虽最小化等待但人力成本高，总成本函数</a:t>
            </a:r>
          </a:p>
          <a:p>
            <a:pPr algn="l"/>
            <a:r>
              <a:rPr sz="1000" b="0" i="0" strike="noStrike">
                <a:solidFill>
                  <a:srgbClr val="1A1A1B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C(k)=c₁·k+c₂·L(k) 解得最优 k 在 7-9 之间。权衡服务效</a:t>
            </a:r>
          </a:p>
          <a:p>
            <a:pPr algn="l"/>
            <a:r>
              <a:rPr sz="1000" b="0" i="0" strike="noStrike">
                <a:solidFill>
                  <a:srgbClr val="1A1A1B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率与运营成本，找到帕累托最优解区间。</a:t>
            </a:r>
          </a:p>
        </p:txBody>
      </p:sp>
      <p:sp>
        <p:nvSpPr>
          <p:cNvPr id="19" name="AutoShape 19"/>
          <p:cNvSpPr/>
          <p:nvPr/>
        </p:nvSpPr>
        <p:spPr>
          <a:xfrm>
            <a:off x="4491403" y="5924550"/>
            <a:ext cx="3205998" cy="9525"/>
          </a:xfrm>
          <a:prstGeom prst="line">
            <a:avLst/>
          </a:prstGeom>
          <a:ln w="9525">
            <a:solidFill>
              <a:srgbClr val="D8D0C3">
                <a:alpha val="10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Box 20"/>
          <p:cNvSpPr txBox="1"/>
          <p:nvPr/>
        </p:nvSpPr>
        <p:spPr>
          <a:xfrm>
            <a:off x="4491403" y="6048375"/>
            <a:ext cx="3205998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B84C35">
                    <a:alpha val="10000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最优 k ∈ [7, 9]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8125918" y="1772543"/>
            <a:ext cx="3605799" cy="4628257"/>
          </a:xfrm>
          <a:prstGeom prst="rect">
            <a:avLst/>
          </a:prstGeom>
          <a:solidFill>
            <a:srgbClr val="F0EBE2">
              <a:alpha val="100000"/>
            </a:srgbClr>
          </a:solidFill>
          <a:ln w="9525">
            <a:solidFill>
              <a:srgbClr val="D8D0C3">
                <a:alpha val="10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AutoShape 22"/>
          <p:cNvSpPr/>
          <p:nvPr/>
        </p:nvSpPr>
        <p:spPr>
          <a:xfrm>
            <a:off x="8125918" y="1772543"/>
            <a:ext cx="3605799" cy="9525"/>
          </a:xfrm>
          <a:prstGeom prst="line">
            <a:avLst/>
          </a:prstGeom>
          <a:ln w="28575">
            <a:solidFill>
              <a:srgbClr val="B84C35">
                <a:alpha val="10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AutoShape 23"/>
          <p:cNvSpPr/>
          <p:nvPr/>
        </p:nvSpPr>
        <p:spPr>
          <a:xfrm>
            <a:off x="8325894" y="1991618"/>
            <a:ext cx="361860" cy="36195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0" y="0"/>
                </a:moveTo>
                <a:lnTo>
                  <a:pt x="1068" y="0"/>
                </a:lnTo>
                <a:lnTo>
                  <a:pt x="1068" y="8889"/>
                </a:lnTo>
                <a:lnTo>
                  <a:pt x="9613" y="8889"/>
                </a:lnTo>
                <a:lnTo>
                  <a:pt x="9613" y="10000"/>
                </a:lnTo>
                <a:lnTo>
                  <a:pt x="0" y="10000"/>
                </a:lnTo>
                <a:lnTo>
                  <a:pt x="0" y="0"/>
                </a:lnTo>
                <a:moveTo>
                  <a:pt x="6943" y="4211"/>
                </a:moveTo>
                <a:lnTo>
                  <a:pt x="9240" y="1833"/>
                </a:lnTo>
                <a:lnTo>
                  <a:pt x="9998" y="2611"/>
                </a:lnTo>
                <a:lnTo>
                  <a:pt x="6943" y="5789"/>
                </a:lnTo>
                <a:lnTo>
                  <a:pt x="5341" y="4122"/>
                </a:lnTo>
                <a:lnTo>
                  <a:pt x="3055" y="6500"/>
                </a:lnTo>
                <a:lnTo>
                  <a:pt x="2297" y="5722"/>
                </a:lnTo>
                <a:lnTo>
                  <a:pt x="5341" y="2544"/>
                </a:lnTo>
              </a:path>
            </a:pathLst>
          </a:custGeom>
          <a:solidFill>
            <a:srgbClr val="B84C35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Box 24"/>
          <p:cNvSpPr txBox="1"/>
          <p:nvPr/>
        </p:nvSpPr>
        <p:spPr>
          <a:xfrm>
            <a:off x="8325894" y="2458343"/>
            <a:ext cx="3205850" cy="2381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600" b="0" i="0" strike="noStrike">
                <a:solidFill>
                  <a:srgbClr val="1A1A1B">
                    <a:alpha val="100000"/>
                  </a:srgbClr>
                </a:solidFill>
                <a:latin typeface="Source Han Serif CN" panose="02020400000000000000" charset="-122"/>
                <a:ea typeface="Source Han Serif CN" panose="02020400000000000000" charset="-122"/>
                <a:cs typeface="Source Han Serif CN" panose="02020400000000000000" charset="-122"/>
              </a:rPr>
              <a:t>敏感性检验</a:t>
            </a:r>
            <a:endParaRPr lang="en-US" sz="1100"/>
          </a:p>
        </p:txBody>
      </p:sp>
      <p:sp>
        <p:nvSpPr>
          <p:cNvPr id="25" name="TextBox 25"/>
          <p:cNvSpPr txBox="1"/>
          <p:nvPr/>
        </p:nvSpPr>
        <p:spPr>
          <a:xfrm>
            <a:off x="8325894" y="2834580"/>
            <a:ext cx="3405824" cy="759916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000" b="0" i="0" strike="noStrike">
                <a:solidFill>
                  <a:srgbClr val="1A1A1B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到达率增 10% 至 33 人/分钟，最优解可能从 k=7 变为</a:t>
            </a:r>
            <a:endParaRPr lang="en-US" sz="1100"/>
          </a:p>
          <a:p>
            <a:pPr algn="l"/>
            <a:r>
              <a:rPr sz="1000" b="0" i="0" strike="noStrike">
                <a:solidFill>
                  <a:srgbClr val="1A1A1B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k=8；服务率提升 20% 则可能允许 k=6。建议弹性调</a:t>
            </a:r>
          </a:p>
          <a:p>
            <a:pPr algn="l"/>
            <a:r>
              <a:rPr sz="1000" b="0" i="0" strike="noStrike">
                <a:solidFill>
                  <a:srgbClr val="1A1A1B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度：高峰 7 窗口、平峰 5 窗口。模型参数微小变化对</a:t>
            </a:r>
          </a:p>
          <a:p>
            <a:pPr algn="l"/>
            <a:r>
              <a:rPr sz="1000" b="0" i="0" strike="noStrike">
                <a:solidFill>
                  <a:srgbClr val="1A1A1B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决策的影响分析，体现鲁棒性设计思想。</a:t>
            </a:r>
          </a:p>
        </p:txBody>
      </p:sp>
      <p:sp>
        <p:nvSpPr>
          <p:cNvPr id="26" name="AutoShape 26"/>
          <p:cNvSpPr/>
          <p:nvPr/>
        </p:nvSpPr>
        <p:spPr>
          <a:xfrm>
            <a:off x="8325894" y="5924550"/>
            <a:ext cx="3205850" cy="9525"/>
          </a:xfrm>
          <a:prstGeom prst="line">
            <a:avLst/>
          </a:prstGeom>
          <a:ln w="9525">
            <a:solidFill>
              <a:srgbClr val="D8D0C3">
                <a:alpha val="10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Box 27"/>
          <p:cNvSpPr txBox="1"/>
          <p:nvPr/>
        </p:nvSpPr>
        <p:spPr>
          <a:xfrm>
            <a:off x="8325894" y="6048375"/>
            <a:ext cx="3205850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B84C35">
                    <a:alpha val="10000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弹性调度 · 动态响应</a:t>
            </a:r>
            <a:endParaRPr lang="en-US" sz="11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1B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Box 3"/>
          <p:cNvSpPr txBox="1"/>
          <p:nvPr/>
        </p:nvSpPr>
        <p:spPr>
          <a:xfrm>
            <a:off x="5789306" y="1690836"/>
            <a:ext cx="6399646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FAF7F2">
                    <a:alpha val="50196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CLOSING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1714072" y="2186136"/>
            <a:ext cx="8760809" cy="1279923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ctr" anchorCtr="1"/>
          <a:lstStyle/>
          <a:p>
            <a:pPr algn="ctr">
              <a:defRPr/>
            </a:pPr>
            <a:r>
              <a:rPr lang="en-US" sz="4200" b="1" i="0" strike="noStrike">
                <a:solidFill>
                  <a:srgbClr val="FAF7F2">
                    <a:alpha val="100000"/>
                  </a:srgbClr>
                </a:solidFill>
                <a:latin typeface="Source Han Serif CN" panose="02020400000000000000" charset="-122"/>
                <a:ea typeface="Source Han Serif CN" panose="02020400000000000000" charset="-122"/>
                <a:cs typeface="Source Han Serif CN" panose="02020400000000000000" charset="-122"/>
              </a:rPr>
              <a:t>数学不是抽象的符号，</a:t>
            </a:r>
            <a:endParaRPr lang="en-US" sz="1100"/>
          </a:p>
          <a:p>
            <a:pPr algn="ctr"/>
            <a:r>
              <a:rPr sz="4200" b="1" i="0" strike="noStrike">
                <a:solidFill>
                  <a:srgbClr val="FAF7F2">
                    <a:alpha val="100000"/>
                  </a:srgbClr>
                </a:solidFill>
                <a:latin typeface="Source Han Serif CN" panose="02020400000000000000" charset="-122"/>
                <a:ea typeface="Source Han Serif CN" panose="02020400000000000000" charset="-122"/>
                <a:cs typeface="Source Han Serif CN" panose="02020400000000000000" charset="-122"/>
              </a:rPr>
              <a:t>而是理解现实的语言</a:t>
            </a:r>
          </a:p>
        </p:txBody>
      </p:sp>
      <p:sp>
        <p:nvSpPr>
          <p:cNvPr id="5" name="AutoShape 5"/>
          <p:cNvSpPr/>
          <p:nvPr/>
        </p:nvSpPr>
        <p:spPr>
          <a:xfrm>
            <a:off x="5808797" y="3923259"/>
            <a:ext cx="571358" cy="19050"/>
          </a:xfrm>
          <a:prstGeom prst="rect">
            <a:avLst/>
          </a:prstGeom>
          <a:solidFill>
            <a:srgbClr val="B5453A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Box 6"/>
          <p:cNvSpPr txBox="1"/>
          <p:nvPr/>
        </p:nvSpPr>
        <p:spPr>
          <a:xfrm>
            <a:off x="1895001" y="4209009"/>
            <a:ext cx="8398949" cy="29140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ctr" anchorCtr="1"/>
          <a:lstStyle/>
          <a:p>
            <a:pPr algn="ctr">
              <a:defRPr/>
            </a:pPr>
            <a:r>
              <a:rPr lang="en-US" sz="1300" b="0" i="0" strike="noStrike">
                <a:solidFill>
                  <a:srgbClr val="FAF7F2">
                    <a:alpha val="70196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从校园问题出发，用数学模型思考 · 课件与代码将发至社团群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588363" y="4995714"/>
            <a:ext cx="152362" cy="15240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500" y="0"/>
                </a:moveTo>
                <a:lnTo>
                  <a:pt x="9498" y="0"/>
                </a:lnTo>
                <a:cubicBezTo>
                  <a:pt x="9638" y="0"/>
                  <a:pt x="9756" y="53"/>
                  <a:pt x="9853" y="161"/>
                </a:cubicBezTo>
                <a:cubicBezTo>
                  <a:pt x="9949" y="268"/>
                  <a:pt x="9998" y="400"/>
                  <a:pt x="9998" y="556"/>
                </a:cubicBezTo>
                <a:lnTo>
                  <a:pt x="9998" y="9444"/>
                </a:lnTo>
                <a:cubicBezTo>
                  <a:pt x="9998" y="9600"/>
                  <a:pt x="9949" y="9731"/>
                  <a:pt x="9853" y="9839"/>
                </a:cubicBezTo>
                <a:cubicBezTo>
                  <a:pt x="9756" y="9946"/>
                  <a:pt x="9638" y="10000"/>
                  <a:pt x="9498" y="10000"/>
                </a:cubicBezTo>
                <a:lnTo>
                  <a:pt x="500" y="10000"/>
                </a:lnTo>
                <a:cubicBezTo>
                  <a:pt x="360" y="10000"/>
                  <a:pt x="241" y="9946"/>
                  <a:pt x="145" y="9839"/>
                </a:cubicBezTo>
                <a:cubicBezTo>
                  <a:pt x="48" y="9731"/>
                  <a:pt x="0" y="9600"/>
                  <a:pt x="0" y="9444"/>
                </a:cubicBezTo>
                <a:lnTo>
                  <a:pt x="0" y="556"/>
                </a:lnTo>
                <a:cubicBezTo>
                  <a:pt x="0" y="400"/>
                  <a:pt x="48" y="268"/>
                  <a:pt x="145" y="161"/>
                </a:cubicBezTo>
                <a:cubicBezTo>
                  <a:pt x="241" y="53"/>
                  <a:pt x="360" y="0"/>
                  <a:pt x="500" y="0"/>
                </a:cubicBezTo>
                <a:moveTo>
                  <a:pt x="8998" y="8889"/>
                </a:moveTo>
                <a:lnTo>
                  <a:pt x="8998" y="2356"/>
                </a:lnTo>
                <a:lnTo>
                  <a:pt x="5039" y="6300"/>
                </a:lnTo>
                <a:lnTo>
                  <a:pt x="1000" y="2344"/>
                </a:lnTo>
                <a:lnTo>
                  <a:pt x="1000" y="8889"/>
                </a:lnTo>
                <a:lnTo>
                  <a:pt x="8998" y="8889"/>
                </a:lnTo>
                <a:moveTo>
                  <a:pt x="8748" y="1111"/>
                </a:moveTo>
                <a:lnTo>
                  <a:pt x="1260" y="1111"/>
                </a:lnTo>
                <a:lnTo>
                  <a:pt x="5029" y="4811"/>
                </a:lnTo>
              </a:path>
            </a:pathLst>
          </a:custGeom>
          <a:solidFill>
            <a:srgbClr val="FAF7F2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Box 8"/>
          <p:cNvSpPr txBox="1"/>
          <p:nvPr/>
        </p:nvSpPr>
        <p:spPr>
          <a:xfrm>
            <a:off x="5819064" y="4998095"/>
            <a:ext cx="793204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FAF7F2">
                    <a:alpha val="10000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THANK YOU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2617</Words>
  <Application>Microsoft Macintosh PowerPoint</Application>
  <PresentationFormat>宽屏</PresentationFormat>
  <Paragraphs>366</Paragraphs>
  <Slides>20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7" baseType="lpstr">
      <vt:lpstr>Source Han Serif CN</vt:lpstr>
      <vt:lpstr>Arial</vt:lpstr>
      <vt:lpstr>FZYaYiHei GB18030L2 R</vt:lpstr>
      <vt:lpstr>Calibri</vt:lpstr>
      <vt:lpstr>Inter</vt:lpstr>
      <vt:lpstr>FZShuSong-Z01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</cp:revision>
  <dcterms:created xsi:type="dcterms:W3CDTF">2006-08-16T00:00:00Z</dcterms:created>
  <dcterms:modified xsi:type="dcterms:W3CDTF">2026-10-13T00:12:16Z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E9F86719E2C44477914DC1858F8B4BD9_12</vt:lpwstr>
  </property>
  <property fmtid="{D5CDD505-2E9C-101B-9397-08002B2CF9AE}" pid="3" name="KSOProductBuildVer">
    <vt:lpwstr>2052-12.1.0.28505</vt:lpwstr>
  </property>
</Properties>
</file>